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Astra</c:v>
                </c:pt>
              </c:strCache>
            </c:strRef>
          </c:tx>
          <c:spPr>
            <a:solidFill>
              <a:srgbClr val="123451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Data'!$A$2:$A$4</c:f>
              <c:strCache>
                <c:ptCount val="3"/>
                <c:pt idx="0">
                  <c:v>Spatial Task</c:v>
                </c:pt>
                <c:pt idx="1">
                  <c:v>Spatial Swap</c:v>
                </c:pt>
                <c:pt idx="2">
                  <c:v>Long Swap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787.4</c:v>
                </c:pt>
                <c:pt idx="1">
                  <c:v>586.9</c:v>
                </c:pt>
                <c:pt idx="2">
                  <c:v>973.7</c:v>
                </c:pt>
              </c:numCache>
            </c:numRef>
          </c:val>
        </c:ser>
        <c:ser>
          <c:idx val="1"/>
          <c:order val="1"/>
          <c:tx>
            <c:strRef>
              <c:f>'Chart Data'!$D$1</c:f>
              <c:strCache>
                <c:ptCount val="1"/>
                <c:pt idx="0">
                  <c:v>Sol</c:v>
                </c:pt>
              </c:strCache>
            </c:strRef>
          </c:tx>
          <c:spPr>
            <a:solidFill>
              <a:srgbClr val="078B98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Data'!$C$2:$C$4</c:f>
              <c:strCache>
                <c:ptCount val="3"/>
                <c:pt idx="0">
                  <c:v>Spatial Task</c:v>
                </c:pt>
                <c:pt idx="1">
                  <c:v>Spatial Swap</c:v>
                </c:pt>
                <c:pt idx="2">
                  <c:v>Long Swap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1248.6</c:v>
                </c:pt>
                <c:pt idx="1">
                  <c:v>943.7</c:v>
                </c:pt>
                <c:pt idx="2">
                  <c:v>1630.1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E1E7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00" b="0" i="0" u="none" strike="noStrike" kern="1200" baseline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800"/>
          <c:min val="0"/>
        </c:scaling>
        <c:delete val="0"/>
        <c:axPos val="l"/>
        <c:majorGridlines>
          <c:spPr>
            <a:ln w="9525">
              <a:solidFill>
                <a:srgbClr val="D4E1E7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00" b="0" i="0" u="none" strike="noStrike" kern="1200" baseline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50112"/>
        <c:crosses val="autoZero"/>
        <c:crossBetween val="between"/>
        <c:majorUnit val="600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700" b="0" i="0" u="none" strike="noStrike" kern="1200" baseline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f88271e-6f19-4a56-9fb9-04f2729a9f8d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episode占比</c:v>
                </c:pt>
              </c:strCache>
            </c:strRef>
          </c:tx>
          <c:spPr>
            <a:solidFill>
              <a:srgbClr val="123451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4D86AD"/>
              </a:solidFill>
            </c:spPr>
          </c:dPt>
          <c:dPt>
            <c:idx val="1"/>
            <c:invertIfNegative val="0"/>
            <c:bubble3D val="0"/>
            <c:spPr>
              <a:solidFill>
                <a:srgbClr val="9AB6C9"/>
              </a:solidFill>
            </c:spPr>
          </c:dPt>
          <c:dPt>
            <c:idx val="2"/>
            <c:invertIfNegative val="0"/>
            <c:bubble3D val="0"/>
            <c:spPr>
              <a:solidFill>
                <a:srgbClr val="718CA1"/>
              </a:solidFill>
            </c:spPr>
          </c:dPt>
          <c:dPt>
            <c:idx val="3"/>
            <c:invertIfNegative val="0"/>
            <c:bubble3D val="0"/>
            <c:spPr>
              <a:solidFill>
                <a:srgbClr val="078B98"/>
              </a:solidFill>
            </c:spPr>
          </c:dPt>
          <c:dPt>
            <c:idx val="4"/>
            <c:invertIfNegative val="0"/>
            <c:bubble3D val="0"/>
            <c:spPr>
              <a:solidFill>
                <a:srgbClr val="B6C8D4"/>
              </a:solidFill>
            </c:spPr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Data'!$A$2:$A$6</c:f>
              <c:strCache>
                <c:ptCount val="5"/>
                <c:pt idx="0">
                  <c:v>非π动作</c:v>
                </c:pt>
                <c:pt idx="1">
                  <c:v>π原语</c:v>
                </c:pt>
                <c:pt idx="2">
                  <c:v>工具附加</c:v>
                </c:pt>
                <c:pt idx="3">
                  <c:v>SDK非工具</c:v>
                </c:pt>
                <c:pt idx="4">
                  <c:v>SDK外壳</c:v>
                </c:pt>
              </c:strCache>
            </c:strRef>
          </c:cat>
          <c:val>
            <c:numRef>
              <c:f>'Chart Data'!$B$2:$B$6</c:f>
              <c:numCache>
                <c:formatCode>0.0%</c:formatCode>
                <c:ptCount val="5"/>
                <c:pt idx="0">
                  <c:v>0.367</c:v>
                </c:pt>
                <c:pt idx="1">
                  <c:v>0.076</c:v>
                </c:pt>
                <c:pt idx="2">
                  <c:v>0.101</c:v>
                </c:pt>
                <c:pt idx="3">
                  <c:v>0.433</c:v>
                </c:pt>
                <c:pt idx="4">
                  <c:v>0.023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E1E7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00" b="0" i="0" u="none" strike="noStrike" kern="1200" baseline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w="9525">
              <a:solidFill>
                <a:srgbClr val="D4E1E7"/>
              </a:solidFill>
              <a:prstDash val="solid"/>
              <a:round/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00" b="0" i="0" u="none" strike="noStrike" kern="1200" baseline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320cf063-4776-4c78-8e54-aac8d72f500a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TTFT</c:v>
                </c:pt>
              </c:strCache>
            </c:strRef>
          </c:tx>
          <c:spPr>
            <a:solidFill>
              <a:srgbClr val="4D86AD"/>
            </a:solidFill>
          </c:spPr>
          <c:invertIfNegative val="0"/>
          <c:dLbls>
            <c:delete val="1"/>
          </c:dLbls>
          <c:cat>
            <c:numRef>
              <c:f>'Chart Data'!$A$2:$A$16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'Chart Data'!$B$2:$B$16</c:f>
              <c:numCache>
                <c:formatCode>0"s"</c:formatCode>
                <c:ptCount val="15"/>
                <c:pt idx="0">
                  <c:v>0.68</c:v>
                </c:pt>
                <c:pt idx="1">
                  <c:v>0.84</c:v>
                </c:pt>
                <c:pt idx="2">
                  <c:v>0.72</c:v>
                </c:pt>
                <c:pt idx="3">
                  <c:v>1.05</c:v>
                </c:pt>
                <c:pt idx="4">
                  <c:v>0.82</c:v>
                </c:pt>
                <c:pt idx="5">
                  <c:v>0.93</c:v>
                </c:pt>
                <c:pt idx="6">
                  <c:v>0.94</c:v>
                </c:pt>
                <c:pt idx="7">
                  <c:v>1.37</c:v>
                </c:pt>
                <c:pt idx="8">
                  <c:v>2.95</c:v>
                </c:pt>
                <c:pt idx="9">
                  <c:v>1.07</c:v>
                </c:pt>
                <c:pt idx="10">
                  <c:v>3.73</c:v>
                </c:pt>
                <c:pt idx="11">
                  <c:v>3.73</c:v>
                </c:pt>
                <c:pt idx="12">
                  <c:v>2.33</c:v>
                </c:pt>
                <c:pt idx="13">
                  <c:v>3.89</c:v>
                </c:pt>
                <c:pt idx="14">
                  <c:v>2.21</c:v>
                </c:pt>
              </c:numCache>
            </c:numRef>
          </c:val>
        </c:ser>
        <c:ser>
          <c:idx val="1"/>
          <c:order val="1"/>
          <c:tx>
            <c:strRef>
              <c:f>'Chart Data'!$D$1</c:f>
              <c:strCache>
                <c:ptCount val="1"/>
                <c:pt idx="0">
                  <c:v>可见thinking</c:v>
                </c:pt>
              </c:strCache>
            </c:strRef>
          </c:tx>
          <c:spPr>
            <a:solidFill>
              <a:srgbClr val="078B98"/>
            </a:solidFill>
          </c:spPr>
          <c:invertIfNegative val="0"/>
          <c:dLbls>
            <c:delete val="1"/>
          </c:dLbls>
          <c:cat>
            <c:numRef>
              <c:f>'Chart Data'!$C$2:$C$16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'Chart Data'!$D$2:$D$16</c:f>
              <c:numCache>
                <c:formatCode>0"s"</c:formatCode>
                <c:ptCount val="15"/>
                <c:pt idx="0">
                  <c:v>0.6</c:v>
                </c:pt>
                <c:pt idx="1">
                  <c:v>1.24</c:v>
                </c:pt>
                <c:pt idx="2">
                  <c:v>2.12</c:v>
                </c:pt>
                <c:pt idx="3">
                  <c:v>1.28</c:v>
                </c:pt>
                <c:pt idx="4">
                  <c:v>1.46</c:v>
                </c:pt>
                <c:pt idx="5">
                  <c:v>0.55</c:v>
                </c:pt>
                <c:pt idx="6">
                  <c:v>0</c:v>
                </c:pt>
                <c:pt idx="7">
                  <c:v>0.27</c:v>
                </c:pt>
                <c:pt idx="8">
                  <c:v>6.56</c:v>
                </c:pt>
                <c:pt idx="9">
                  <c:v>4.93</c:v>
                </c:pt>
                <c:pt idx="10">
                  <c:v>19.96</c:v>
                </c:pt>
                <c:pt idx="11">
                  <c:v>2</c:v>
                </c:pt>
                <c:pt idx="12">
                  <c:v>2.38</c:v>
                </c:pt>
                <c:pt idx="13">
                  <c:v>3.69</c:v>
                </c:pt>
                <c:pt idx="14">
                  <c:v>0.11</c:v>
                </c:pt>
              </c:numCache>
            </c:numRef>
          </c:val>
        </c:ser>
        <c:ser>
          <c:idx val="2"/>
          <c:order val="2"/>
          <c:tx>
            <c:strRef>
              <c:f>'Chart Data'!$F$1</c:f>
              <c:strCache>
                <c:ptCount val="1"/>
                <c:pt idx="0">
                  <c:v>正文／工具decode</c:v>
                </c:pt>
              </c:strCache>
            </c:strRef>
          </c:tx>
          <c:spPr>
            <a:solidFill>
              <a:srgbClr val="123451"/>
            </a:solidFill>
          </c:spPr>
          <c:invertIfNegative val="0"/>
          <c:dLbls>
            <c:delete val="1"/>
          </c:dLbls>
          <c:cat>
            <c:numRef>
              <c:f>'Chart Data'!$E$2:$E$16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'Chart Data'!$F$2:$F$16</c:f>
              <c:numCache>
                <c:formatCode>0"s"</c:formatCode>
                <c:ptCount val="15"/>
                <c:pt idx="0">
                  <c:v>0.5</c:v>
                </c:pt>
                <c:pt idx="1">
                  <c:v>0.51</c:v>
                </c:pt>
                <c:pt idx="2">
                  <c:v>0.65</c:v>
                </c:pt>
                <c:pt idx="3">
                  <c:v>1.22</c:v>
                </c:pt>
                <c:pt idx="4">
                  <c:v>0.49</c:v>
                </c:pt>
                <c:pt idx="5">
                  <c:v>0.27</c:v>
                </c:pt>
                <c:pt idx="6">
                  <c:v>0.44</c:v>
                </c:pt>
                <c:pt idx="7">
                  <c:v>0.22</c:v>
                </c:pt>
                <c:pt idx="8">
                  <c:v>1.44</c:v>
                </c:pt>
                <c:pt idx="9">
                  <c:v>0.75</c:v>
                </c:pt>
                <c:pt idx="10">
                  <c:v>0.86</c:v>
                </c:pt>
                <c:pt idx="11">
                  <c:v>0.91</c:v>
                </c:pt>
                <c:pt idx="12">
                  <c:v>0.56</c:v>
                </c:pt>
                <c:pt idx="13">
                  <c:v>8.94</c:v>
                </c:pt>
                <c:pt idx="14">
                  <c:v>1.44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E1E7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00" b="0" i="0" u="none" strike="noStrike" kern="1200" baseline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D4E1E7"/>
              </a:solidFill>
              <a:prstDash val="solid"/>
              <a:round/>
            </a:ln>
          </c:spPr>
        </c:majorGridlines>
        <c:numFmt formatCode="0&quot;s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00" b="0" i="0" u="none" strike="noStrike" kern="1200" baseline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50112"/>
        <c:crosses val="autoZero"/>
        <c:crossBetween val="between"/>
        <c:majorUnit val="5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700" b="0" i="0" u="none" strike="noStrike" kern="1200" baseline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1ad3dfb-d4ee-40b5-9aa8-11326aa63c03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累计窗口/s</c:v>
                </c:pt>
              </c:strCache>
            </c:strRef>
          </c:tx>
          <c:spPr>
            <a:solidFill>
              <a:srgbClr val="078B98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B6C8D4"/>
              </a:solidFill>
            </c:spPr>
          </c:dPt>
          <c:dPt>
            <c:idx val="1"/>
            <c:invertIfNegative val="0"/>
            <c:bubble3D val="0"/>
            <c:spPr>
              <a:solidFill>
                <a:srgbClr val="4D86AD"/>
              </a:solidFill>
            </c:spPr>
          </c:dPt>
          <c:dPt>
            <c:idx val="2"/>
            <c:invertIfNegative val="0"/>
            <c:bubble3D val="0"/>
            <c:spPr>
              <a:solidFill>
                <a:srgbClr val="718CA1"/>
              </a:solidFill>
            </c:spPr>
          </c:dPt>
          <c:dPt>
            <c:idx val="3"/>
            <c:invertIfNegative val="0"/>
            <c:bubble3D val="0"/>
            <c:spPr>
              <a:solidFill>
                <a:srgbClr val="078B98"/>
              </a:solidFill>
            </c:spPr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Data'!$A$2:$A$5</c:f>
              <c:strCache>
                <c:ptCount val="4"/>
                <c:pt idx="0">
                  <c:v>准备</c:v>
                </c:pt>
                <c:pt idx="1">
                  <c:v>至响应头</c:v>
                </c:pt>
                <c:pt idx="2">
                  <c:v>头至首输出</c:v>
                </c:pt>
                <c:pt idx="3">
                  <c:v>首输出后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5.11</c:v>
                </c:pt>
                <c:pt idx="1">
                  <c:v>9.789</c:v>
                </c:pt>
                <c:pt idx="2">
                  <c:v>6.837</c:v>
                </c:pt>
                <c:pt idx="3">
                  <c:v>88.796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E1E7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00" b="0" i="0" u="none" strike="noStrike" kern="1200" baseline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4E1E7"/>
              </a:solidFill>
              <a:prstDash val="solid"/>
              <a:round/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00" b="0" i="0" u="none" strike="noStrike" kern="1200" baseline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f2b90f79-6991-41c6-8269-d05a42575ce3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完整请求降幅（条件）</c:v>
                </c:pt>
              </c:strCache>
            </c:strRef>
          </c:tx>
          <c:spPr>
            <a:solidFill>
              <a:srgbClr val="078B98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Data'!$A$2:$A$4</c:f>
              <c:strCache>
                <c:ptCount val="3"/>
                <c:pt idx="0">
                  <c:v>think占25%</c:v>
                </c:pt>
                <c:pt idx="1">
                  <c:v>think占50%</c:v>
                </c:pt>
                <c:pt idx="2">
                  <c:v>think占75%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0.174</c:v>
                </c:pt>
                <c:pt idx="1">
                  <c:v>0.348</c:v>
                </c:pt>
                <c:pt idx="2">
                  <c:v>0.522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E1E7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00" b="0" i="0" u="none" strike="noStrike" kern="1200" baseline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w="9525">
              <a:solidFill>
                <a:srgbClr val="D4E1E7"/>
              </a:solidFill>
              <a:prstDash val="solid"/>
              <a:round/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00" b="0" i="0" u="none" strike="noStrike" kern="1200" baseline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84e2231c-c111-4546-9778-9afadd12e7b3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逐页讲稿｜第1页：具身智能推理性能评估</a:t>
            </a:r>
          </a:p>
          <a:p>
            <a:r>
              <a:t/>
            </a:r>
          </a:p>
          <a:p>
            <a:r>
              <a:t>今天主要汇报两件事：已有实验告诉我们，时间花在哪里；接下来有哪些值得比较的优化办法。比较有一个共同前提，就是任务完成质量基本不降，不能因为更早失败，就说任务变快了。</a:t>
            </a:r>
          </a:p>
          <a:p>
            <a:r>
              <a:t/>
            </a:r>
          </a:p>
          <a:p>
            <a:r>
              <a:t>这次把几组已有实验放在一起看。正式评测给出整体表现，深度计时和专项实验帮助解释具体开销。我们还没有选定哪条路线最好，先把完整任务时间、单次等待和调用轮数串起来，再讨论可以改什么，以及怎样验证。</a:t>
            </a:r>
          </a:p>
          <a:p>
            <a:r>
              <a:t/>
            </a:r>
          </a:p>
          <a:p>
            <a:r>
              <a:t>口径提醒（不朗读）</a:t>
            </a:r>
          </a:p>
          <a:p>
            <a:r>
              <a:t>• 本页实验数字属于E3报告重述，未新增远程实跑；源码接口E1与MT反馈E4另列。</a:t>
            </a:r>
          </a:p>
          <a:p>
            <a:r>
              <a:t>• 质量基本不降是比较约束，不表示现有实验已经证明所有优化非劣。</a:t>
            </a:r>
          </a:p>
          <a:p>
            <a:r>
              <a:t>• 不把候选路线讲成已经选定或已验证收益。</a:t>
            </a:r>
          </a:p>
          <a:p>
            <a:r>
              <a:t/>
            </a:r>
          </a:p>
          <a:p>
            <a:r>
              <a:t>来源与原始计时说明（不朗读）</a:t>
            </a:r>
          </a:p>
          <a:p>
            <a:r>
              <a:t>embodied-ai/weeks/2026_0928-1004_RPent双脑对照与回馈/2026-10-01-RPent-Codex双模型120集结果.md，v1.0。</a:t>
            </a:r>
          </a:p>
          <a:p>
            <a:r>
              <a:t>embodied-ai/weeks/2026_1005-1011_RPent推理性能分析/2026-10-08-RPent-120集推理耗时与优化报告.html，v2.0，总账与问题01/02。</a:t>
            </a:r>
          </a:p>
          <a:p>
            <a:r>
              <a:t>embodied-ai/weeks/2026_1012-1018_RPent多模型性能分析/ds-report/RPent-DeepSeek-两场景性能审计.html，v1.5，思考档位、逐请求阶段与ds_t2_par。</a:t>
            </a:r>
          </a:p>
          <a:p>
            <a:r>
              <a:t>2026-10-14 用户转述 MT 最新实验反馈：low think 阶段指标4.6s降至1.4s。E4，尚缺模型、配置、样本、均值/中位数、时钟边界与成功结果。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逐页讲稿｜第2页：指标与计时边界</a:t>
            </a:r>
          </a:p>
          <a:p>
            <a:r>
              <a:t/>
            </a:r>
          </a:p>
          <a:p>
            <a:r>
              <a:t>先统一怎么看时间。同步执行时，一项任务的总时间，可以近似拆成初始化时间，加上请求次数乘以每次完整等待，再加上执行和恢复时间。所以，单次请求变快，不一定让整项任务变快；如果判断变差，多抓几次、多恢复几轮，收益就可能被抵消。</a:t>
            </a:r>
          </a:p>
          <a:p>
            <a:r>
              <a:t/>
            </a:r>
          </a:p>
          <a:p>
            <a:r>
              <a:t>这里说的完整等待，是从约定起点到结果真正可用，重试和重连也要算进去。TTFT只回答第一个输出事件什么时候到，并不代表完整动作已经生成，更不能直接当成服务端的纯prefill时间。可见thinking窗口也不等于全部隐藏推理。</a:t>
            </a:r>
          </a:p>
          <a:p>
            <a:r>
              <a:t/>
            </a:r>
          </a:p>
          <a:p>
            <a:r>
              <a:t>最后，这些计时阶段有包含关系，父级和子级不能重复相加。异步运行时还要看关键路径。接下来所有数据，都按这个口径读：先看任务结果，再看完整请求、轮数和总耗时。</a:t>
            </a:r>
          </a:p>
          <a:p>
            <a:r>
              <a:t/>
            </a:r>
          </a:p>
          <a:p>
            <a:r>
              <a:t>口径提醒（不朗读）</a:t>
            </a:r>
          </a:p>
          <a:p>
            <a:r>
              <a:t>• 公式是串行近似；N按逻辑请求计数，其完整等待含全部attempt。已有episode是否含预加载、屏障，按各来源边界披露。</a:t>
            </a:r>
          </a:p>
          <a:p>
            <a:r>
              <a:t>• TTFT按各来源区分首SSE事件、首非空可见输出；不统一解释成纯prefill。</a:t>
            </a:r>
          </a:p>
          <a:p>
            <a:r>
              <a:t>• TPOT必须保留token分母和聚合方法；客户端窗口不代表服务端kernel时间。</a:t>
            </a:r>
          </a:p>
          <a:p>
            <a:r>
              <a:t>• 本页定义与方法为E3。</a:t>
            </a:r>
          </a:p>
          <a:p>
            <a:r>
              <a:t/>
            </a:r>
          </a:p>
          <a:p>
            <a:r>
              <a:t>来源与原始计时说明（不朗读）</a:t>
            </a:r>
          </a:p>
          <a:p>
            <a:r>
              <a:t>embodied-ai/weeks/2026_1005-1011_RPent推理性能分析/2026-10-08-RPent-120集推理耗时与优化报告.html，v2.0，总账与问题01/02。</a:t>
            </a:r>
          </a:p>
          <a:p>
            <a:r>
              <a:t>embodied-ai/weeks/2026_1005-1011_RPent推理性能分析/deep-report/RPent-两场景深度计时报告.html，8集明细、本地子阶段与计时边界。</a:t>
            </a:r>
          </a:p>
          <a:p>
            <a:r>
              <a:t>embodied-ai/weeks/2026_1012-1018_RPent多模型性能分析/ds-report/RPent-DeepSeek-两场景性能审计.html，v1.5，思考档位、逐请求阶段与ds_t2_par。</a:t>
            </a:r>
          </a:p>
          <a:p>
            <a:r>
              <a:t>指标设计：同一请求需统一request_id、观测时间、发送、首SSE、首非空输出、首正文/工具与结束时间，区分可见reasoning和hidden reasoning。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逐页讲稿｜第3页：实验总览：各集合回答不同问题</a:t>
            </a:r>
          </a:p>
          <a:p>
            <a:r>
              <a:t/>
            </a:r>
          </a:p>
          <a:p>
            <a:r>
              <a:t>这几组实验各自回答不同的问题。GPT-as-Policy看三条路线的单轮成本；bowl看同一组场景下的任务完成和档位变化。RPent的一百二十集提供整体时间账本，独立八集再往下拆本地阶段；DeepSeek补充请求窗口、输出和长尾。</a:t>
            </a:r>
          </a:p>
          <a:p>
            <a:r>
              <a:t/>
            </a:r>
          </a:p>
          <a:p>
            <a:r>
              <a:t>它们的任务、样本和接入方式不同，所以不能拼成一个速度排行榜，也不能看作连续升级的同一组实验。下面先用前两个项目建立直观认识，再把重点放到RPent和DeepSeek。</a:t>
            </a:r>
          </a:p>
          <a:p>
            <a:r>
              <a:t/>
            </a:r>
          </a:p>
          <a:p>
            <a:r>
              <a:t>口径提醒（不朗读）</a:t>
            </a:r>
          </a:p>
          <a:p>
            <a:r>
              <a:t>• GPT-as-Policy为9回合；本页bowl指9/23四配置各5seed补测，原四批属于另一集合。</a:t>
            </a:r>
          </a:p>
          <a:p>
            <a:r>
              <a:t>• RPent正式120集与独立8集不得合并为同一统计分母。DeepSeek各单局独立，不增加或混并样本。</a:t>
            </a:r>
          </a:p>
          <a:p>
            <a:r>
              <a:t>• 本页为E3既有报告汇总，不声称新实验。</a:t>
            </a:r>
          </a:p>
          <a:p>
            <a:r>
              <a:t/>
            </a:r>
          </a:p>
          <a:p>
            <a:r>
              <a:t>来源与原始计时说明（不朗读）</a:t>
            </a:r>
          </a:p>
          <a:p>
            <a:r>
              <a:t>GPT-as-Policy-repro/data/decision_v2_20260922/index.html，v1.9，2026-09-29，§5–§8及九回合汇总。审查摘录：experiment_evidence.md §1。</a:t>
            </a:r>
          </a:p>
          <a:p>
            <a:r>
              <a:t>embodied-ai/weeks/2026_0914-0920_GPT6Astra评测复现/2026-09-16-bowl-eval-v1四模型总结报告.html，v1.2，§3.6。同seed补测：embodied-ai/weeks/2026_0921-0927_同机仿真与云边验证/2026-09-23-GPT6-Sol-bowl五次与Astra同seed对照.md，v1.1。</a:t>
            </a:r>
          </a:p>
          <a:p>
            <a:r>
              <a:t>embodied-ai/weeks/2026_0928-1004_RPent双脑对照与回馈/2026-10-01-RPent-Codex双模型120集结果.md，v1.0。</a:t>
            </a:r>
          </a:p>
          <a:p>
            <a:r>
              <a:t>embodied-ai/weeks/2026_1005-1011_RPent推理性能分析/deep-report/RPent-两场景深度计时报告.html，8集明细、本地子阶段与计时边界。</a:t>
            </a:r>
          </a:p>
          <a:p>
            <a:r>
              <a:t>embodied-ai/weeks/2026_1012-1018_RPent多模型性能分析/ds-report/RPent-DeepSeek-两场景性能审计.html，v1.5，思考档位、逐请求阶段与ds_t2_par。</a:t>
            </a:r>
          </a:p>
          <a:p>
            <a:r>
              <a:t>本地已审查脱敏摘录：rpent_evidence.md §5。源文件 ds_flash_v5_report.html（2026-10-11）与 files_api_report.html（2026-10-10），属于两个独立实验，原件不对外复制。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逐页讲稿｜第4页：GPT-as-Policy：罐子三路线</a:t>
            </a:r>
          </a:p>
          <a:p>
            <a:r>
              <a:t/>
            </a:r>
          </a:p>
          <a:p>
            <a:r>
              <a:t>先看罐子任务。Direct由大模型直接给目标，Student只跑π策略，Hybrid则先让π提出动作，再等大模型审核。表里Hybrid是五十一轮，Direct是九十七轮，但Hybrid每轮更慢。这里每条路线只有一次成功轨迹，而且Hybrid五十一轮全部放行，没有实际纠错，所以不能把轮数差说成GPT带来的收益。</a:t>
            </a:r>
          </a:p>
          <a:p>
            <a:r>
              <a:t/>
            </a:r>
          </a:p>
          <a:p>
            <a:r>
              <a:t>下面的请求分段还有一个现象：Hybrid首段输出更快，TTFT约四点四五秒，比Direct的七点三四秒短；但后续可见输出约九点六二秒，明显长于三点一六秒。最后，完整请求反而更久。</a:t>
            </a:r>
          </a:p>
          <a:p>
            <a:r>
              <a:t/>
            </a:r>
          </a:p>
          <a:p>
            <a:r>
              <a:t>因此要看完整结果什么时候可用，不能只看首个输出。Hybrid的可见输出也更多，值得验证能否精简审核回复；但精简以后判断质量是否保持，仍要实测。下一页继续看质量和耗时怎样一起比较。</a:t>
            </a:r>
          </a:p>
          <a:p>
            <a:r>
              <a:t/>
            </a:r>
          </a:p>
          <a:p>
            <a:r>
              <a:t>口径提醒（不朗读）</a:t>
            </a:r>
          </a:p>
          <a:p>
            <a:r>
              <a:t>• 所有结果E3。每格init0/n=1，π随机状态未配对，部分运行并发；不得声称Hybrid造成轮数下降或成功率提升。</a:t>
            </a:r>
          </a:p>
          <a:p>
            <a:r>
              <a:t>• Direct request/TTFT/首至末可见窗口为10.8190/7.3396/3.1554s；Hybrid为14.3735/4.4549/9.6181s。请求总时长包含子阶段和计量收尾。</a:t>
            </a:r>
          </a:p>
          <a:p>
            <a:r>
              <a:t>• 可见TPOT是逐轮窗口/(输出tokens−reasoning tokens−1)后取均值，25.55与29.06的单位为ms/token；没有独立hidden-thinking或纯prefill时钟。</a:t>
            </a:r>
          </a:p>
          <a:p>
            <a:r>
              <a:t>• π+sync与render属于整轮分项，不是可重复叠加到episode上的额外时间。</a:t>
            </a:r>
          </a:p>
          <a:p>
            <a:r>
              <a:t/>
            </a:r>
          </a:p>
          <a:p>
            <a:r>
              <a:t>来源与原始计时说明（不朗读）</a:t>
            </a:r>
          </a:p>
          <a:p>
            <a:r>
              <a:t>GPT-as-Policy-repro/data/decision_v2_20260922/index.html，v1.9，2026-09-29，§5–§8及九回合汇总。审查摘录：experiment_evidence.md §1。</a:t>
            </a:r>
          </a:p>
          <a:p>
            <a:r>
              <a:t>init0。平均整轮与episode边界不同，最终视频编码未计入。Hybrid全放行不能归因为GPT纠错。</a:t>
            </a:r>
          </a:p>
          <a:p>
            <a:r>
              <a:t>Direct请求10.8190s，TTFT7.3396s，首至末可见decode3.1554s，可见TPOT估算25.549ms/token。Hybrid14.3735/4.4549/9.6181s，29.062ms/token。无纯prefill、thinking时长或请求p50/p95。Direct总输出160.81tokens/turn，其中reasoning36.42，Hybrid总输出331.84且reasoning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逐页讲稿｜第5页：bowl：同seed的质量与整集耗时</a:t>
            </a:r>
          </a:p>
          <a:p>
            <a:r>
              <a:t/>
            </a:r>
          </a:p>
          <a:p>
            <a:r>
              <a:t>bowl这组是在相同五组初态上串行补测。Astra自动入碗五次，Sol的medium两次、ultra三次，Luna没有成功。我们先保留这些观察，不把五个样本排成普遍的能力名次。自动入碗也不等于稳定放置已经确认，部分成功录像停在两者的边界。</a:t>
            </a:r>
          </a:p>
          <a:p>
            <a:r>
              <a:t/>
            </a:r>
          </a:p>
          <a:p>
            <a:r>
              <a:t>看Sol两个档位，ultra平均轮数略少，整集时间却更长，而且成功场景并不是完全包含medium。所以，档位是否值得提高，要结合具体任务、恢复过程和完整时间判断，现在还不能定哪档更好。</a:t>
            </a:r>
          </a:p>
          <a:p>
            <a:r>
              <a:t/>
            </a:r>
          </a:p>
          <a:p>
            <a:r>
              <a:t>下方等待数据来自另一批早期实验，混有读图、工具往返和调度，不能拿来补上表的请求时延。这次同场景补测没有LLM分段，也不能用整集时间除以轮数代替。带着这个边界，接下来再看样本更多的RPent整体时间结构。</a:t>
            </a:r>
          </a:p>
          <a:p>
            <a:r>
              <a:t/>
            </a:r>
          </a:p>
          <a:p>
            <a:r>
              <a:t>口径提醒（不朗读）</a:t>
            </a:r>
          </a:p>
          <a:p>
            <a:r>
              <a:t>• 主表为9/23 seed2005–2009，每组n=5；所有数字E3。Astra/Sol自动成功轨迹审核存在stage3–4边界，Luna未盲评。</a:t>
            </a:r>
          </a:p>
          <a:p>
            <a:r>
              <a:t>• Sol medium/ultra为独立五轮；ultra新成功2005/2009，medium独有成功2007，2008共同成功，不构成逐seed单向改善。</a:t>
            </a:r>
          </a:p>
          <a:p>
            <a:r>
              <a:t>• 下表9/16代理等待27.2/约117/135/约110s；GLM/Qwen为源报告推算，GLM/DeepSeek/Qwen等待子集未独立明确。不得写纯LLM或填入9/23主表。</a:t>
            </a:r>
          </a:p>
          <a:p>
            <a:r>
              <a:t>• 9/23缺少TTFT、TPOT和thinking/decode分段及可归因API usage；不得用episode/轮数补造。</a:t>
            </a:r>
          </a:p>
          <a:p>
            <a:r>
              <a:t/>
            </a:r>
          </a:p>
          <a:p>
            <a:r>
              <a:t>来源与原始计时说明（不朗读）</a:t>
            </a:r>
          </a:p>
          <a:p>
            <a:r>
              <a:t>embodied-ai/weeks/2026_0914-0920_GPT6Astra评测复现/2026-09-16-bowl-eval-v1四模型总结报告.html，v1.2，§3.6。同seed补测：embodied-ai/weeks/2026_0921-0927_同机仿真与云边验证/2026-09-23-GPT6-Sol-bowl五次与Astra同seed对照.md，v1.1。</a:t>
            </a:r>
          </a:p>
          <a:p>
            <a:r>
              <a:t>同seed补测没有可用LLM分段，不用episode/轮数冒充请求等待。Astra/Sol成功轨迹仍有stage3–4边界。</a:t>
            </a:r>
          </a:p>
          <a:p>
            <a:r>
              <a:t>原四批：Astra27.2s占94.6%，GLM约117s推算、DS135s占99.2%、Qwen约110s推算。原§3.4仅wall列明确前5配对，其他三家等待统计子集未独立注明。不能填入9/23新组或构成请求速度排名。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逐页讲稿｜第6页：RPent 120集：整集耗时按套件比较</a:t>
            </a:r>
          </a:p>
          <a:p>
            <a:r>
              <a:t/>
            </a:r>
          </a:p>
          <a:p>
            <a:r>
              <a:t>接着看样本更完整的 RPent。这里一共一百二十集，两个模型、三个套件，每个模型在每个套件里都是二十集。Astra 总共成功五十集，Sol 成功四十九集，所以我们先把任务完成结果放在旁边，再比较耗时。</a:t>
            </a:r>
          </a:p>
          <a:p>
            <a:r>
              <a:t/>
            </a:r>
          </a:p>
          <a:p>
            <a:r>
              <a:t>在这批实验里，Astra 在三个套件上的平均整集时间都更短。例如 Spatial Swap 大约是五百八十七秒对九百四十四秒；Long Swap 大约是九百七十四秒对一千六百三十秒。中位数也能帮助我们看清比较典型的一次运行，避免只盯着均值。</a:t>
            </a:r>
          </a:p>
          <a:p>
            <a:r>
              <a:t/>
            </a:r>
          </a:p>
          <a:p>
            <a:r>
              <a:t>不过，这里比较的是实际跑完一集花了多久，包含动作轨迹、调用次数和连接等待。Sol 有一条长达五千三百多秒的轨迹，其中发生过连接中断。这个成本需要保留，但不能据此断言模型本身的计算慢了多少。后面要继续拆时间，才能知道该从哪里优化。</a:t>
            </a:r>
          </a:p>
          <a:p>
            <a:r>
              <a:t/>
            </a:r>
          </a:p>
          <a:p>
            <a:r>
              <a:t>口径提醒（不朗读）</a:t>
            </a:r>
          </a:p>
          <a:p>
            <a:r>
              <a:t>• E3：引述正式报告及其统计，非本次重新运行。</a:t>
            </a:r>
          </a:p>
          <a:p>
            <a:r>
              <a:t>• 每模型60集、每模型每套件20集；成功50/60与49/60不是质量等价证明。</a:t>
            </a:r>
          </a:p>
          <a:p>
            <a:r>
              <a:t>• 精确均值：Spatial Swap Astra586.9s/Sol943.7s；Long Swap Astra973.7s/Sol1630.1s。</a:t>
            </a:r>
          </a:p>
          <a:p>
            <a:r>
              <a:t>• Sol Long t8/s1为5348.4s，包含连接中断；不能把整集差异归为纯算力或纯API延迟。</a:t>
            </a:r>
          </a:p>
          <a:p>
            <a:r>
              <a:t/>
            </a:r>
          </a:p>
          <a:p>
            <a:r>
              <a:t>来源与原始计时说明（不朗读）</a:t>
            </a:r>
          </a:p>
          <a:p>
            <a:r>
              <a:t>embodied-ai/weeks/2026_0928-1004_RPent双脑对照与回馈/2026-10-01-RPent-Codex双模型120集结果.md，v1.0。</a:t>
            </a:r>
          </a:p>
          <a:p>
            <a:r>
              <a:t>embodied-ai/weeks/2026_1005-1011_RPent推理性能分析/2026-10-08-RPent-120集推理耗时与优化报告.html，v2.0，总账与问题01/02。</a:t>
            </a:r>
          </a:p>
          <a:p>
            <a:r>
              <a:t>均值/中位s：Spatial Task Astra787.4/676.8，Sol1248.6/811.6。Spatial Swap Astra586.9/560.0，Sol943.7/828.9。Long Swap Astra973.7/919.5，Sol1630.1/1332.8。Sol Long t8/s1为5348.4s包含连接中断，排除此集剩19集均值1434.4s仅作敏感性分析，不替代主结果。含轨迹、轮次、网络等待，不是纯算力对照。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逐页讲稿｜第7页：RPent 120集：高层等待与动作并重</a:t>
            </a:r>
          </a:p>
          <a:p>
            <a:r>
              <a:t/>
            </a:r>
          </a:p>
          <a:p>
            <a:r>
              <a:t>把这一百二十集的时间加起来，最显眼的是两部分：高层调用链路，以及动作执行。SDK 非工具时间占百分之四十三点三，两类动作原语合起来占百分之四十四点三，两个方向都值得继续检查。</a:t>
            </a:r>
          </a:p>
          <a:p>
            <a:r>
              <a:t/>
            </a:r>
          </a:p>
          <a:p>
            <a:r>
              <a:t>这里的名字容易让人误会。SDK 非工具时间包含请求、网络、重试和编排，不能整块叫作思考时间。动作时间里也有策略调用、控制、仿真、渲染和通信，不能整块叫作机器人运动，更不能全算成 π 模型推理。图里的五部分是互斥的总账，模型加载时间另外记录。</a:t>
            </a:r>
          </a:p>
          <a:p>
            <a:r>
              <a:t/>
            </a:r>
          </a:p>
          <a:p>
            <a:r>
              <a:t>这意味着，只把某个局部阶段提速，并不一定让整集同比提速。我们要同时看一次调用有多慢，以及任务总共调用了多少次。如果省下思考时间，却引入更多动作或恢复，收益可能又被吃掉。优化是否有用，最终还是要回到完整任务耗时，并且要求任务质量基本不下降。</a:t>
            </a:r>
          </a:p>
          <a:p>
            <a:r>
              <a:t/>
            </a:r>
          </a:p>
          <a:p>
            <a:r>
              <a:t>口径提醒（不朗读）</a:t>
            </a:r>
          </a:p>
          <a:p>
            <a:r>
              <a:t>• E3；五个互斥桶的分母为120集累计123408.4s，不是并行实验的日历墙钟。</a:t>
            </a:r>
          </a:p>
          <a:p>
            <a:r>
              <a:t>• 动作44.3%=非π动作36.7%+π原语7.6%，π原语不是π handler或纯前向。</a:t>
            </a:r>
          </a:p>
          <a:p>
            <a:r>
              <a:t>• SDK非工具43.3%不得称为纯thinking、prefill或服务端计算。</a:t>
            </a:r>
          </a:p>
          <a:p>
            <a:r>
              <a:t>• VLA加载约5.78h另计；不能加进五桶后继续沿用原百分比。</a:t>
            </a:r>
          </a:p>
          <a:p>
            <a:r>
              <a:t/>
            </a:r>
          </a:p>
          <a:p>
            <a:r>
              <a:t>来源与原始计时说明（不朗读）</a:t>
            </a:r>
          </a:p>
          <a:p>
            <a:r>
              <a:t>embodied-ai/weeks/2026_1005-1011_RPent推理性能分析/2026-10-08-RPent-120集推理耗时与优化报告.html，v2.0，总账与问题01/02。</a:t>
            </a:r>
          </a:p>
          <a:p>
            <a:r>
              <a:t>精确桶值：非π动作45327.6，π原语9367.1，工具附加12429.8，SDK非MCP53394.0，SDK外2889.9秒。百分比按报告保留一位。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逐页讲稿｜第8页：独立8集：渲染与π handler细分</a:t>
            </a:r>
          </a:p>
          <a:p>
            <a:r>
              <a:t/>
            </a:r>
          </a:p>
          <a:p>
            <a:r>
              <a:t>为了把动作里面的时间拆开，我们又看了一批独立的八集深度计时。这批总共成功三集，和前面的一百二十集分开解释。它最明显的结果是：已测渲染占整集百分之四十点零五，而 π handler 只占百分之一点八一。</a:t>
            </a:r>
          </a:p>
          <a:p>
            <a:r>
              <a:t/>
            </a:r>
          </a:p>
          <a:p>
            <a:r>
              <a:t>handler 也不是纯模型前向，它包含处理开销。下面的 prefix 和 denoise 是它内部的子阶段，不能再加一遍。物理步进约占百分之一点一一，也不代表全部控制工作只有这么多。</a:t>
            </a:r>
          </a:p>
          <a:p>
            <a:r>
              <a:t/>
            </a:r>
          </a:p>
          <a:p>
            <a:r>
              <a:t>这里把已测渲染扣掉，得到一个叫 T 星的比较基数。假设 handler 减半，其他部分不变，节省量占 T 星百分之一点五一；如果分母换回完整整集，就是约百分之零点九一。所以它对当前整集的影响有限。但局部控制能不能按时完成，仍要单独检查。另外，扣掉仿真渲染后的时间并不是真机耗时预测，不能拿它直接承诺上机速度。</a:t>
            </a:r>
          </a:p>
          <a:p>
            <a:r>
              <a:t/>
            </a:r>
          </a:p>
          <a:p>
            <a:r>
              <a:t>口径提醒（不朗读）</a:t>
            </a:r>
          </a:p>
          <a:p>
            <a:r>
              <a:t>• E3；独立8集总episode10965.30s，t0成功3/4、t9成功0/4，总3/8。</a:t>
            </a:r>
          </a:p>
          <a:p>
            <a:r>
              <a:t>• render4391.18s；π handler198.65s/371次；prefix96.19s与denoise86.14s嵌套于handler。</a:t>
            </a:r>
          </a:p>
          <a:p>
            <a:r>
              <a:t>• T*=10965.30−4391.18=6574.12s；handler减半约省99.33s，即T*的1.51%、完整episode的0.91%。</a:t>
            </a:r>
          </a:p>
          <a:p>
            <a:r>
              <a:t>• 上述为其他阶段不变的条件计算；T*不是纯推理时间或真机运行时间。</a:t>
            </a:r>
          </a:p>
          <a:p>
            <a:r>
              <a:t/>
            </a:r>
          </a:p>
          <a:p>
            <a:r>
              <a:t>来源与原始计时说明（不朗读）</a:t>
            </a:r>
          </a:p>
          <a:p>
            <a:r>
              <a:t>embodied-ai/weeks/2026_1005-1011_RPent推理性能分析/deep-report/RPent-两场景深度计时报告.html，8集明细、本地子阶段与计时边界。</a:t>
            </a:r>
          </a:p>
          <a:p>
            <a:r>
              <a:t>总episode10965.30s。另2个SAM OOM attempt已发生成本3205.20s，应列复现成本。π handler非纯forward，prefix含编码、mask/position、KV。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逐页讲稿｜第9页：独立8集：轮次、重试与恢复</a:t>
            </a:r>
          </a:p>
          <a:p>
            <a:r>
              <a:t/>
            </a:r>
          </a:p>
          <a:p>
            <a:r>
              <a:t>除了每一步慢不慢，还要看任务走了多少步。这八集一共有四百四十八次逻辑请求，但实际发生了四百七十三次传输尝试。也就是说，同一次决策可能要经过重试才能完成，所以逻辑轮数和请求尝试数必须分开记。</a:t>
            </a:r>
          </a:p>
          <a:p>
            <a:r>
              <a:t/>
            </a:r>
          </a:p>
          <a:p>
            <a:r>
              <a:t>表里比较突出的是 Sol 的 t0、seed1：跑了七十七轮，调用了一百一十六个 π 动作块，最后仍然失败。不过，次数多并不自动说明这些动作全都没有进展，也不能直接把恢复阶段当作可以删除的时间。</a:t>
            </a:r>
          </a:p>
          <a:p>
            <a:r>
              <a:t/>
            </a:r>
          </a:p>
          <a:p>
            <a:r>
              <a:t>例如两段恢复记录，扣掉其中的渲染以后，合起来约一百五十二秒，只占 T 星的百分之二点三一。这给我们提供了检查方向：进展判断是否及时、恢复有没有边界、什么时候需要再次调用高层。但具体能省多少，必须经过对照实验。更早停止一个本来可能成功的任务，不能算作优化；成功率、恢复能力和完整成本要一起看。</a:t>
            </a:r>
          </a:p>
          <a:p>
            <a:r>
              <a:t/>
            </a:r>
          </a:p>
          <a:p>
            <a:r>
              <a:t>口径提醒（不朗读）</a:t>
            </a:r>
          </a:p>
          <a:p>
            <a:r>
              <a:t>• E3；448逻辑请求、473传输attempt，不能将两者混为同一种轮数。</a:t>
            </a:r>
          </a:p>
          <a:p>
            <a:r>
              <a:t>• Sol t0/s1为失败轨迹，77逻辑请求、83attempt、116个π块、2176.5s。</a:t>
            </a:r>
          </a:p>
          <a:p>
            <a:r>
              <a:t>• 两段恢复扣render后合计152.01s，占T*=6574.12s的2.31%，不是完整episode的2.31%。</a:t>
            </a:r>
          </a:p>
          <a:p>
            <a:r>
              <a:t>• 恢复成本不是无损可删除成本，不能把失败早停计作速度收益。</a:t>
            </a:r>
          </a:p>
          <a:p>
            <a:r>
              <a:t/>
            </a:r>
          </a:p>
          <a:p>
            <a:r>
              <a:t>来源与原始计时说明（不朗读）</a:t>
            </a:r>
          </a:p>
          <a:p>
            <a:r>
              <a:t>embodied-ai/weeks/2026_1005-1011_RPent推理性能分析/deep-report/RPent-两场景深度计时报告.html，8集明细、本地子阶段与计时边界。</a:t>
            </a:r>
          </a:p>
          <a:p>
            <a:r>
              <a:t>448逻辑轮次，473传输attempt。Sol t0/s1恢复562.95s，含render447.54s。Sol t9/s1恢复156.22s，render119.61s。扣两段render合计152.01s，占T*2.31%。Astra t9/s0有14次移动耗满预算672.90s，但目标残差不单独证明碰撞。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逐页讲稿｜第10页：DeepSeek v5：请求指标的均值与p50</a:t>
            </a:r>
          </a:p>
          <a:p>
            <a:r>
              <a:t/>
            </a:r>
          </a:p>
          <a:p>
            <a:r>
              <a:t>再把视角缩到一次大模型请求。DeepSeek v5 这次单局用了十五轮，整集一百八十二点五秒，其中模型请求累计约九十三点六秒，占了一半左右。客户端把请求分成三个可见窗口：先等到第一个流式事件，再等到正文开始，最后等正文和工具参数输出结束。</a:t>
            </a:r>
          </a:p>
          <a:p>
            <a:r>
              <a:t/>
            </a:r>
          </a:p>
          <a:p>
            <a:r>
              <a:t>这三个窗口的均值分别大约是一点八二秒、三点一四秒和一点二八秒。完整请求平均六点二四秒，中位数只有三点五秒。这个差距说明，少数长请求会明显拉高累计等待，只报一个典型延迟会漏掉重要成本。</a:t>
            </a:r>
          </a:p>
          <a:p>
            <a:r>
              <a:t/>
            </a:r>
          </a:p>
          <a:p>
            <a:r>
              <a:t>不过，这些都是客户端看到的时间。首事件是否已经包含非空内容还没有完全确认，首输出前的等待也不能直接当作纯 prefill；可见 thinking 窗口同样不等于完整内部推理。TPOT 则是用时间和输出 token 数推出来的平均量。我们可以用它定位问题，但解释服务端到底慢在哪里，还需要更细的证据。</a:t>
            </a:r>
          </a:p>
          <a:p>
            <a:r>
              <a:t/>
            </a:r>
          </a:p>
          <a:p>
            <a:r>
              <a:t>口径提醒（不朗读）</a:t>
            </a:r>
          </a:p>
          <a:p>
            <a:r>
              <a:t>• E3；v5单局15轮、182.5s；旧逐轮表重算TTFT均值1.817s、thinking3.143s、decode1.280s、请求6.240s。</a:t>
            </a:r>
          </a:p>
          <a:p>
            <a:r>
              <a:t>• 旧v5 TTFT到首SSE chunk，首chunk是否过滤空事件未确认；three windows不是纯服务端阶段。</a:t>
            </a:r>
          </a:p>
          <a:p>
            <a:r>
              <a:t>• thinking=首chunk至首正文chunk；decode=首正文chunk至结束，均为客户端可见窗口。</a:t>
            </a:r>
          </a:p>
          <a:p>
            <a:r>
              <a:t>• 旧TPOT约4ms/token与后续同局p50=3.621ms/token定义不同，不能当作提速前后对照。</a:t>
            </a:r>
          </a:p>
          <a:p>
            <a:r>
              <a:t/>
            </a:r>
          </a:p>
          <a:p>
            <a:r>
              <a:t>来源与原始计时说明（不朗读）</a:t>
            </a:r>
          </a:p>
          <a:p>
            <a:r>
              <a:t>本地已审查脱敏摘录：rpent_evidence.md §5。源文件 ds_flash_v5_report.html（2026-10-11）与 files_api_report.html（2026-10-10），属于两个独立实验，原件不对外复制。</a:t>
            </a:r>
          </a:p>
          <a:p>
            <a:r>
              <a:t>v5单局15轮182.5s，完整请求累计约93.6s。TTFT作者定义为到首SSE chunk。thinking=首chunk到首正文chunk，decode=首正文chunk到结束。TPOT旧表约4ms为派生。后续同局ds_v5按(total−TTFT)/(output−1)得p503.621ms/token，口径不同，不直接比较。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逐页讲稿｜第11页：DeepSeek v5：15轮长尾来自不同窗口</a:t>
            </a:r>
          </a:p>
          <a:p>
            <a:r>
              <a:t/>
            </a:r>
          </a:p>
          <a:p>
            <a:r>
              <a:t>把十五轮展开以后，长尾来自哪里就更清楚了。第十一轮总共二十四点五秒，其中可见 thinking 窗口接近二十秒，返回了四千四百九十一个 reasoning token。这一轮的大头在思考输出。</a:t>
            </a:r>
          </a:p>
          <a:p>
            <a:r>
              <a:t/>
            </a:r>
          </a:p>
          <a:p>
            <a:r>
              <a:t>但第十四轮不一样。它总共十六点五秒，正文和工具输出占了八点九四秒，其他输出有两千六百八十七个 token。这一轮即使继续压缩 thinking，正文和工具参数的生成仍然会占不少时间。所以不同请求需要检查不同的成本，不能看到一个长尾，就给所有轮次套上同一种解释。</a:t>
            </a:r>
          </a:p>
          <a:p>
            <a:r>
              <a:t/>
            </a:r>
          </a:p>
          <a:p>
            <a:r>
              <a:t>还有两个边界要记住。十五轮里面包括启动时读资料、最后写记录和结束请求，并不是十五次机械臂运动。整集减去模型请求，剩下约八十八点九秒，也只能先叫工具及其他剩余时间。下一步可以比较思考预算和输出长度，但工具参数、必要记录以及任务质量都要保住，最终看完整结果是不是更早拿到。</a:t>
            </a:r>
          </a:p>
          <a:p>
            <a:r>
              <a:t/>
            </a:r>
          </a:p>
          <a:p>
            <a:r>
              <a:t>口径提醒（不朗读）</a:t>
            </a:r>
          </a:p>
          <a:p>
            <a:r>
              <a:t>• E3；r11 TTFT3.73/think19.96/decode0.86/total24.5s，reasoning4491、其他280tokens。</a:t>
            </a:r>
          </a:p>
          <a:p>
            <a:r>
              <a:t>• r14 TTFT3.89/think3.69/decode8.94/total16.5s，reasoning890、其他2687tokens。</a:t>
            </a:r>
          </a:p>
          <a:p>
            <a:r>
              <a:t>• 旧表有舍入，分项与total存在微小差异；客户端窗口不等于隐藏推理或纯服务端decode。</a:t>
            </a:r>
          </a:p>
          <a:p>
            <a:r>
              <a:t>• 182.5−93.6≈88.9s为混合剩余时间，不能全称纯工具或纯渲染；初始化和收尾仍计请求成本。</a:t>
            </a:r>
          </a:p>
          <a:p>
            <a:r>
              <a:t/>
            </a:r>
          </a:p>
          <a:p>
            <a:r>
              <a:t>来源与原始计时说明（不朗读）</a:t>
            </a:r>
          </a:p>
          <a:p>
            <a:r>
              <a:t>本地已审查脱敏摘录：rpent_evidence.md §5。源文件 ds_flash_v5_report.html（2026-10-11）与 files_api_report.html（2026-10-10），属于两个独立实验，原件不对外复制。</a:t>
            </a:r>
          </a:p>
          <a:p>
            <a:r>
              <a:t>第11轮：TTFT3.73s，thinking19.96s，decode0.86s，总24.5s，reasoning4491 tokens，其他280。第14轮：3.89/3.69/8.94s，总16.5s，reasoning890，其他2687 tokens。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逐页讲稿｜第12页：DeepSeek：payload、cache与context边界</a:t>
            </a:r>
          </a:p>
          <a:p>
            <a:r>
              <a:t/>
            </a:r>
          </a:p>
          <a:p>
            <a:r>
              <a:t>请求等待还会受到输入组织方式影响。v5 把图片从内嵌内容改成文件引用以后，转发请求体的平均大小从约三千一百三十六 KB 变成一百八十六 KB。这个变化说明传输的请求体确实小了，但新增图片仍然需要上传，不能把上传成本一起当作消失了。</a:t>
            </a:r>
          </a:p>
          <a:p>
            <a:r>
              <a:t/>
            </a:r>
          </a:p>
          <a:p>
            <a:r>
              <a:t>与此同时，输入从一万三千多个 token 增长到八万四千多个，里面反复携带了历史。缓存比例虽然很高，也不能证明长上下文没有代价。表里的服务端零点四六秒，实际上仍是客户端划出的代理区间，还没有把 prefill 和排队单独拆开。</a:t>
            </a:r>
          </a:p>
          <a:p>
            <a:r>
              <a:t/>
            </a:r>
          </a:p>
          <a:p>
            <a:r>
              <a:t>右边的冷暖探针来自另一个独立实验，不能接到 v5 后面当作优化成绩。这些结果给我们的方向是：固定内容和缓存条件，分别测请求体、图片上传和完整等待，再回到闭环任务检查。减少图片或压缩历史，只有在识别、状态记忆和任务质量基本不下降时，才算有效收益。</a:t>
            </a:r>
          </a:p>
          <a:p>
            <a:r>
              <a:t/>
            </a:r>
          </a:p>
          <a:p>
            <a:r>
              <a:t>口径提醒（不朗读）</a:t>
            </a:r>
          </a:p>
          <a:p>
            <a:r>
              <a:t>• E3；payload为v5同请求转换前后体积，不是两组端到端AB；15次均值3136.1/185.7KB，末轮10118/280KB。</a:t>
            </a:r>
          </a:p>
          <a:p>
            <a:r>
              <a:t>• KB沿用源报告，1000/1024未确认；input13094→84686tokens；cache比例均值88.5%、p5097%来自逐轮舍入比例无权重统计。</a:t>
            </a:r>
          </a:p>
          <a:p>
            <a:r>
              <a:t>• 禁裁剪、历史保留、Files API与流式转换共同变化，不可归因于单一开关。</a:t>
            </a:r>
          </a:p>
          <a:p>
            <a:r>
              <a:t>• 冷1.45s/暖约1.0s是另一Files API专项的3次探针；服务端0.46s为代理区间，不是纯prefill实测。</a:t>
            </a:r>
          </a:p>
          <a:p>
            <a:r>
              <a:t/>
            </a:r>
          </a:p>
          <a:p>
            <a:r>
              <a:t>来源与原始计时说明（不朗读）</a:t>
            </a:r>
          </a:p>
          <a:p>
            <a:r>
              <a:t>本地已审查脱敏摘录：rpent_evidence.md §5。源文件 ds_flash_v5_report.html（2026-10-11）与 files_api_report.html（2026-10-10），属于两个独立实验，原件不对外复制。</a:t>
            </a:r>
          </a:p>
          <a:p>
            <a:r>
              <a:t>embodied-ai/weeks/2026_1012-1018_RPent多模型性能分析/ds-report/RPent-DeepSeek-两场景性能审计.html，v1.5，思考档位、逐请求阶段与ds_t2_par。</a:t>
            </a:r>
          </a:p>
          <a:p>
            <a:r>
              <a:t>v5原表15次payload均值3136.1/185.7KB，r15为10118/280KB。输入13094增至84686tokens，逐请求cache命中比例均值88.5%、p5097%，是舍入比例的不加权均值。Files API冷/热3次控制探针47,742prompt tokens、3图、277KB，冷1.45s/热约1.0s。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逐页讲稿｜第13页：DeepSeek medium／none：共同成功两seed</a:t>
            </a:r>
          </a:p>
          <a:p>
            <a:r>
              <a:t/>
            </a:r>
          </a:p>
          <a:p>
            <a:r>
              <a:t>再看 thinking 档位的闭环对照。medium 和 none 各跑四集，各成功两集。只比较双方共同成功的 t0 两个 seed，整集累计从两千三百二十六点七秒降到一千八百四十八点二秒，减少百分之二十点六。</a:t>
            </a:r>
          </a:p>
          <a:p>
            <a:r>
              <a:t/>
            </a:r>
          </a:p>
          <a:p>
            <a:r>
              <a:t>但这个收益并不均匀。第一个 seed 下降约百分之三十点四，第二个只有百分之二点九；总逻辑轮数也从六十三次变成五十七次。因此，不能把全部收益解释成同一条轨迹上的思考时间缩短，输出、上下文和动作路径也在变化。</a:t>
            </a:r>
          </a:p>
          <a:p>
            <a:r>
              <a:t/>
            </a:r>
          </a:p>
          <a:p>
            <a:r>
              <a:t>这四条成功轨迹里，首输出前的等待占模型请求累计时间约百分之七十点八。注意分母是模型请求，不是整集，而且等待中包含网络等成本。medium 的 thinking 数值又是按 token 比例估算，不能当作独立阶段实测。我们可以继续比较档位，但两档成功数相同的小样本，还不足以证明关闭思考后质量不下降。</a:t>
            </a:r>
          </a:p>
          <a:p>
            <a:r>
              <a:t/>
            </a:r>
          </a:p>
          <a:p>
            <a:r>
              <a:t>口径提醒（不朗读）</a:t>
            </a:r>
          </a:p>
          <a:p>
            <a:r>
              <a:t>• E3；共同成功t0的2seed×2档=4集；每档总成功2/4，t9均失败，不能宣称质量非劣或成功率等价。</a:t>
            </a:r>
          </a:p>
          <a:p>
            <a:r>
              <a:t>• 累计episode2326.7→1848.2s，−20.6%；逻辑请求63→57；同seed并不等于同轨迹，两档system hash不完全相同。</a:t>
            </a:r>
          </a:p>
          <a:p>
            <a:r>
              <a:t>• 成功4集共120逻辑请求、121attempt；medium t0/s1为26逻辑/27attempt，含12.412s失败请求。</a:t>
            </a:r>
          </a:p>
          <a:p>
            <a:r>
              <a:t>• 70.8%=TTFT1383.998s/LLM1954.254s，不是episode占比；thinking352.550s是medium两成功集的token分摊估算。</a:t>
            </a:r>
          </a:p>
          <a:p>
            <a:r>
              <a:t/>
            </a:r>
          </a:p>
          <a:p>
            <a:r>
              <a:t>来源与原始计时说明（不朗读）</a:t>
            </a:r>
          </a:p>
          <a:p>
            <a:r>
              <a:t>embodied-ai/weeks/2026_1012-1018_RPent多模型性能分析/ds-report/RPent-DeepSeek-两场景性能审计.html，v1.5，思考档位、逐请求阶段与ds_t2_par。</a:t>
            </a:r>
          </a:p>
          <a:p>
            <a:r>
              <a:t>共同成功t0逻辑轮次63对57，medium seed1有26逻辑请求/27attempt，一次失败12.412s无TTFT。352.550s thinking只属于medium共同成功两集，按token估算。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逐页讲稿｜第14页：DeepSeek后续审计：首输出后占80.3%</a:t>
            </a:r>
          </a:p>
          <a:p>
            <a:r>
              <a:t/>
            </a:r>
          </a:p>
          <a:p>
            <a:r>
              <a:t>后续审计又给了我们一个不同的例子。这是另外一条十五次请求的轨迹，整集二百零五点三秒，模型请求累计一百一十点五三四秒。这里首输出后的窗口占请求时间百分之八十点三，首输出前只占百分之十九点七，和刚才那四条成功轨迹的结构明显不同。</a:t>
            </a:r>
          </a:p>
          <a:p>
            <a:r>
              <a:t/>
            </a:r>
          </a:p>
          <a:p>
            <a:r>
              <a:t>其中十四次请求有非零的可见 thinking 窗口，累计六十八点六六三秒，另一次为零。首输出后的剩余部分还包括正文、工具参数和传输，所以不能把这百分之八十点三全部叫作思考时间。</a:t>
            </a:r>
          </a:p>
          <a:p>
            <a:r>
              <a:t/>
            </a:r>
          </a:p>
          <a:p>
            <a:r>
              <a:t>如果仅作预算，同样缩短百分之二十，首输出后窗口大约对应十七点七六秒，首输出前对应四点三五秒。但只有落在任务关键路径上的部分，才能变成整集节省，而且还要验证输出和任务质量。这个对照说明，我们不能固定认为 DeepSeek 总是卡在 TTFT，或者总是卡在 thinking；应当先看当前任务的时间结构，再用对照实验选择改动。</a:t>
            </a:r>
          </a:p>
          <a:p>
            <a:r>
              <a:t/>
            </a:r>
          </a:p>
          <a:p>
            <a:r>
              <a:t>口径提醒（不朗读）</a:t>
            </a:r>
          </a:p>
          <a:p>
            <a:r>
              <a:t>• E3；ds_t2_par为独立1集15请求、205.3s，不能与v5的15请求182.5s合并或视为前后优化。</a:t>
            </a:r>
          </a:p>
          <a:p>
            <a:r>
              <a:t>• LLM110.534s；prep5.110+headers9.789+after_headers6.837+post-first88.796=110.532s，0.002s为报告舍入差。</a:t>
            </a:r>
          </a:p>
          <a:p>
            <a:r>
              <a:t>• TTFT21.739s占LLM19.7%；post-first88.796s占LLM80.3%，不是episode比例。</a:t>
            </a:r>
          </a:p>
          <a:p>
            <a:r>
              <a:t>• thinking为14个非零窗口+1条零值，共15条；累计68.663s，均值/p50若引用须按相应全部15条口径。</a:t>
            </a:r>
          </a:p>
          <a:p>
            <a:r>
              <a:t>• 20%预算17.76s和4.35s为其他成本不变的条件计算，非已实现整集收益；不预选优化路线。</a:t>
            </a:r>
          </a:p>
          <a:p>
            <a:r>
              <a:t/>
            </a:r>
          </a:p>
          <a:p>
            <a:r>
              <a:t>来源与原始计时说明（不朗读）</a:t>
            </a:r>
          </a:p>
          <a:p>
            <a:r>
              <a:t>embodied-ai/weeks/2026_1012-1018_RPent多模型性能分析/ds-report/RPent-DeepSeek-两场景性能审计.html，v1.5，思考档位、逐请求阶段与ds_t2_par。</a:t>
            </a:r>
          </a:p>
          <a:p>
            <a:r>
              <a:t>单集205.3s。LLM110.534s=准备5.110+请求至响应头9.789+响应头至首输出6.837+首输出至结束88.796s，舍入有0.002s差。TTFT累计21.739s，p501.270s。14个可见thinking窗口68.663s，TPOT p503.931ms/token派生。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逐页讲稿｜第15页：low think：阶段反馈与条件收益</a:t>
            </a:r>
          </a:p>
          <a:p>
            <a:r>
              <a:t/>
            </a:r>
          </a:p>
          <a:p>
            <a:r>
              <a:t>这一页看low think。它主要想解决的是，每次调用能不能少花一些推理生成时间。MT最新反馈是，这个阶段从四点六秒降到一点四秒，指标差了三点二秒，降幅约百分之六十九点六。这组最新反馈的原始样本还要补齐，具体用了什么模型、怎么计时，以及任务质量有没有变化，都要一起确认。</a:t>
            </a:r>
          </a:p>
          <a:p>
            <a:r>
              <a:t/>
            </a:r>
          </a:p>
          <a:p>
            <a:r>
              <a:t>右边的收益需要带着条件看。假设其他成本不变，think原来只占完整请求的一半，那完整请求的降幅大约是百分之三十四点八，不能直接说整个请求也快了百分之六十九点六。网络、首输出等待、正文生成和工具执行不会自动一起缩短。</a:t>
            </a:r>
          </a:p>
          <a:p>
            <a:r>
              <a:t/>
            </a:r>
          </a:p>
          <a:p>
            <a:r>
              <a:t>再往整集推，还得确认这两个数是同口径的每请求均值，请求轮数没有增加，而且节省确实落在关键路径上。所以这里把low列为候选档位，先看质量是否基本不降，再看完整请求和整集到底省了多少。</a:t>
            </a:r>
          </a:p>
          <a:p>
            <a:r>
              <a:t/>
            </a:r>
          </a:p>
          <a:p>
            <a:r>
              <a:t>口径提醒（不朗读）</a:t>
            </a:r>
          </a:p>
          <a:p>
            <a:r>
              <a:t>• MT 4.6→1.4秒为E4用户转述；下降69.6%、比值3.29倍只针对所述阶段，不代表端到端结果。</a:t>
            </a:r>
          </a:p>
          <a:p>
            <a:r>
              <a:t>• 每请求同口径均值、固定N、关键路径等条件未确认前，不用3.2秒乘轮数估算实际整集节省。</a:t>
            </a:r>
          </a:p>
          <a:p>
            <a:r>
              <a:t>• 质量基本不降是验收前提，尚未由这条阶段反馈证实；low think不保证轮数不变。</a:t>
            </a:r>
          </a:p>
          <a:p>
            <a:r>
              <a:t/>
            </a:r>
          </a:p>
          <a:p>
            <a:r>
              <a:t>来源与原始计时说明（不朗读）</a:t>
            </a:r>
          </a:p>
          <a:p>
            <a:r>
              <a:t>2026-10-14 用户转述 MT 最新实验反馈：low think 阶段指标4.6s降至1.4s。E4，尚缺模型、配置、样本、均值/中位数、时钟边界与成功结果。</a:t>
            </a:r>
          </a:p>
          <a:p>
            <a:r>
              <a:t>阶段指标差3.2s，降69.565%，比值3.2857。图为条件演算：think占完整请求比例f，其他成本不变，则完整请求降幅0.696f。仅当4.6/1.4为每请求同口径均值且固定N并处关键路径，才可乘N估算整集。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逐页讲稿｜第16页：候选优化矩阵：证据、风险与验收</a:t>
            </a:r>
          </a:p>
          <a:p>
            <a:r>
              <a:t/>
            </a:r>
          </a:p>
          <a:p>
            <a:r>
              <a:t>这里把候选放在同一张表里，是为了比较各自能省哪一段，以及会付出什么代价，现在还没有选定最优路线。low或者none主要动单次推理预算；文件引用、上下文和缓存主要动输入与重复处理；调用粒度和事件触发，则尝试减少高层往返。</a:t>
            </a:r>
          </a:p>
          <a:p>
            <a:r>
              <a:t/>
            </a:r>
          </a:p>
          <a:p>
            <a:r>
              <a:t>Jev单独列一行，是因为接口已经从源码核实，但它在RPent里有没有收益还没有验证。它接收文本状态和有限候选，做选择。评估时不能只掐选择请求的时间，还要把状态整理、候选生成、结果检查和失败回退一起算进去，也不能默认它是小模型或者能本地部署。</a:t>
            </a:r>
          </a:p>
          <a:p>
            <a:r>
              <a:t/>
            </a:r>
          </a:p>
          <a:p>
            <a:r>
              <a:t>最后一行是本地π和NPU调度，更关注动作块能不能按时接上。所有路线都要用共同的质量门槛来比较，失败、重试和恢复照常计入成本。更早失败造成的短耗时，不算我们想要的提速。</a:t>
            </a:r>
          </a:p>
          <a:p>
            <a:r>
              <a:t/>
            </a:r>
          </a:p>
          <a:p>
            <a:r>
              <a:t>口径提醒（不朗读）</a:t>
            </a:r>
          </a:p>
          <a:p>
            <a:r>
              <a:t>• Jev接口能力属于E1源码证据；接入RPent后的性能收益属于待验证方案，不能把上游结果当本地实跑。</a:t>
            </a:r>
          </a:p>
          <a:p>
            <a:r>
              <a:t>• Jev不等于已确认规模的小模型或可部署checkpoint；所审入口是外部文本有限选择接口。</a:t>
            </a:r>
          </a:p>
          <a:p>
            <a:r>
              <a:t>• 候选尚未选定，不给未经用户确认的允许质量下降阈值或固定样本量保证。</a:t>
            </a:r>
          </a:p>
          <a:p>
            <a:r>
              <a:t/>
            </a:r>
          </a:p>
          <a:p>
            <a:r>
              <a:t>来源与原始计时说明（不朗读）</a:t>
            </a:r>
          </a:p>
          <a:p>
            <a:r>
              <a:t>https://github.com/FBddcz/embodied-jev/blob/f08de2e4e20d6cd69fea9c57ac1062c3ef510f1e/src/embodied_jev/libero_supervisor.py#L101-L289</a:t>
            </a:r>
          </a:p>
          <a:p>
            <a:r>
              <a:t>https://github.com/FBddcz/embodied-jev/blob/f08de2e4e20d6cd69fea9c57ac1062c3ef510f1e/src/embodied_jev/policies.py#L277-L422</a:t>
            </a:r>
          </a:p>
          <a:p>
            <a:r>
              <a:t>https://docs.typesafe.ai/concepts/system-one</a:t>
            </a:r>
          </a:p>
          <a:p>
            <a:r>
              <a:t>https://docs.typesafe.ai/models</a:t>
            </a:r>
          </a:p>
          <a:p>
            <a:r>
              <a:t>访问2026-10-14。</a:t>
            </a:r>
          </a:p>
          <a:p>
            <a:r>
              <a:t>embodied-ai/weeks/2026_1012-1018_RPent多模型性能分析/2026-10-13-VLM-VLA双脑架构与推理优化调研.md</a:t>
            </a:r>
          </a:p>
          <a:p>
            <a:r>
              <a:t>脱敏综合审查备忘录 jev_strategy.md §5–8，方案尚未执行。</a:t>
            </a:r>
          </a:p>
          <a:p>
            <a:r>
              <a:t>embodied-ai/weeks/2026_1012-1018_RPent多模型性能分析/ds-report/RPent-DeepSeek-两场景性能审计.html，v1.5，思考档位、逐请求阶段与ds_t2_par。</a:t>
            </a:r>
          </a:p>
          <a:p>
            <a:r>
              <a:t>2026-10-14 用户转述 MT 最新实验反馈：low think 阶段指标4.6s降至1.4s。E4，尚缺模型、配置、样本、均值/中位数、时钟边界与成功结果。</a:t>
            </a:r>
          </a:p>
          <a:p>
            <a:r>
              <a:t>固定状态microbenchmark比较单次选择质量，闭环实验比较轨迹与完整成本。无预设可接受5个百分点下降。样本量由精度和检验目标决定。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逐页讲稿｜第17页：Astra／Jev／VLA：四种架构候选</a:t>
            </a:r>
          </a:p>
          <a:p>
            <a:r>
              <a:t/>
            </a:r>
          </a:p>
          <a:p>
            <a:r>
              <a:t>这一页把三件容易混在一起的事分开。low think是调整一次高层调用的推理预算；Jev是把决策变成有限候选中的选择；分层VLA则是重新安排高层何时介入、底层连续执行多久。它们可能组合，但优化的地方不同，不能都简单理解成换一个更快的模型。</a:t>
            </a:r>
          </a:p>
          <a:p>
            <a:r>
              <a:t/>
            </a:r>
          </a:p>
          <a:p>
            <a:r>
              <a:t>第一行是现有基线。RPent已经能调用π技能，也有几何工具，所以我们不是从零给它加VLA。第二行希望让Astra低频负责目标和阶段，VLA在限定范围内连续执行动作块，从而减少高层请求数和等待阻塞。代价是需要监测进展，在偏离、无进展或状态过期时及时打断和重规划，不能为了少调用而漏掉错误。</a:t>
            </a:r>
          </a:p>
          <a:p>
            <a:r>
              <a:t/>
            </a:r>
          </a:p>
          <a:p>
            <a:r>
              <a:t>第三行让Jev选择、VLA执行，但前面必须有人提供文本状态和候选动作。Jev本身不会凭空完成视觉理解，也不能假定它是小模型或已经能在本地部署。我们看过的EmbodiedJev实验链，执行端还是数值伺服，并不是RPent这条学习型VLA链，所以现有结果不能直接搬过来。</a:t>
            </a:r>
          </a:p>
          <a:p>
            <a:r>
              <a:t/>
            </a:r>
          </a:p>
          <a:p>
            <a:r>
              <a:t>第四行把三者都放进来：Astra负责感知和规划，Jev选候选，VLA执行。这里最需要防止的是，Astra每轮仍然先生成候选，然后再串行等Jev，这样可能额外增加一次等待。能否抵消这次新增等待，要看它有没有替代原来昂贵的决策，或者减少错误、后续轮次和恢复。比较规则、Astra和Jev时，要固定同一批状态和候选，保持安全约束、触发条件和回退预算一致；之后再进闭环，看轮数、恢复和整集成本。不能只比较选择接口的响应快慢。</a:t>
            </a:r>
          </a:p>
          <a:p>
            <a:r>
              <a:t/>
            </a:r>
          </a:p>
          <a:p>
            <a:r>
              <a:t>口径提醒（不朗读）</a:t>
            </a:r>
          </a:p>
          <a:p>
            <a:r>
              <a:t>• RPent已有π技能；讨论对象是职责、调用频率、动作粒度及异步协作的优化，不称VLA尚未落地。</a:t>
            </a:r>
          </a:p>
          <a:p>
            <a:r>
              <a:t>• Jev为文本状态加有限候选选择；状态/候选生产、验证和回退均计完整成本。不可假定小模型、本地部署或自主视觉动作能力。</a:t>
            </a:r>
          </a:p>
          <a:p>
            <a:r>
              <a:t>• EmbodiedJev的LIBERO v2数值伺服与RPent学习型VLA是不同实验链；上游成绩不能直接证明RPent收益。</a:t>
            </a:r>
          </a:p>
          <a:p>
            <a:r>
              <a:t>• 固定状态的选择器对照需共享状态、候选、确定性安全约束、触发条件和回退预算；闭环后轨迹会分叉，需另计质量与全链路成本。</a:t>
            </a:r>
          </a:p>
          <a:p>
            <a:r>
              <a:t>• Astra每轮候选生成后再串行Jev可能加等待；四种架构均为待受控验证的候选，不预选赢家。</a:t>
            </a:r>
          </a:p>
          <a:p>
            <a:r>
              <a:t/>
            </a:r>
          </a:p>
          <a:p>
            <a:r>
              <a:t>来源与原始计时说明（不朗读）</a:t>
            </a:r>
          </a:p>
          <a:p>
            <a:r>
              <a:t>https://github.com/FBddcz/embodied-jev/blob/f08de2e4e20d6cd69fea9c57ac1062c3ef510f1e/src/embodied_jev/libero_supervisor.py#L101-L289</a:t>
            </a:r>
          </a:p>
          <a:p>
            <a:r>
              <a:t>https://github.com/FBddcz/embodied-jev/blob/f08de2e4e20d6cd69fea9c57ac1062c3ef510f1e/src/embodied_jev/policies.py#L277-L422</a:t>
            </a:r>
          </a:p>
          <a:p>
            <a:r>
              <a:t>https://docs.typesafe.ai/concepts/system-one</a:t>
            </a:r>
          </a:p>
          <a:p>
            <a:r>
              <a:t>https://docs.typesafe.ai/models</a:t>
            </a:r>
          </a:p>
          <a:p>
            <a:r>
              <a:t>访问2026-10-14。</a:t>
            </a:r>
          </a:p>
          <a:p>
            <a:r>
              <a:t>https://github.com/FBddcz/embodied-jev/blob/f08de2e4e20d6cd69fea9c57ac1062c3ef510f1e/docs/results/libero-vision/RESULTS.md#L1-L43</a:t>
            </a:r>
          </a:p>
          <a:p>
            <a:r>
              <a:t>embodied-ai/weeks/2026_1012-1018_RPent多模型性能分析/2026-10-13-VLM-VLA双脑架构与推理优化调研.md</a:t>
            </a:r>
          </a:p>
          <a:p>
            <a:r>
              <a:t>脱敏综合审查备忘录 jev_strategy.md §5–8，方案尚未执行。</a:t>
            </a:r>
          </a:p>
          <a:p>
            <a:r>
              <a:t>Jev是外部text state+有限候选选择器，所审入口没有可部署权重。EmbodiedJev为集成工作台。LIBERO v2当前执行器是数值伺服，不是学习型VLA。Astra承担视觉、子目标、歧义和重规划；VLA接收图像、状态和指令生成动作块；确定性gate检查前提、预算、版本与动作边界。固定状态比较规则/Astra/Jev时共享候选、触发与确定性安全约束，仅替换选择器。所有候选整体收益均待受控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逐页讲稿｜第18页：技术趋势与局部实时性</a:t>
            </a:r>
          </a:p>
          <a:p>
            <a:r>
              <a:t/>
            </a:r>
          </a:p>
          <a:p>
            <a:r>
              <a:t>看外部工作，我们主要借鉴机制。Hi Robot把高层任务分解和低层执行分开，Helix强调不同频率的两层协同，RTC则是在旧动作块执行时准备新动作块。对应到这里，就是少做无效往返，保持动作连续，同时防止拿过期观测生成的动作继续执行。</a:t>
            </a:r>
          </a:p>
          <a:p>
            <a:r>
              <a:t/>
            </a:r>
          </a:p>
          <a:p>
            <a:r>
              <a:t>下面这个数字说明，局部实时性要单独看。固定观测探针里，一个五步动作块大约需要三百八十四毫秒。如果假设每步控制周期是五十毫秒，这块动作只覆盖二百五十毫秒，生成时间就超过覆盖时间了。这里是条件示例，不能当作在线平均结果。</a:t>
            </a:r>
          </a:p>
          <a:p>
            <a:r>
              <a:t/>
            </a:r>
          </a:p>
          <a:p>
            <a:r>
              <a:t>所以本地VLA可以研究算子和调度，但还要看动作块间有没有空档、能不能赶上截止时间，以及设备共置会不会互相干扰。云端Astra和Jev，我们能控制的是输入、连接和调用策略，供应商内部计算不能从本机NPU表现反推。</a:t>
            </a:r>
          </a:p>
          <a:p>
            <a:r>
              <a:t/>
            </a:r>
          </a:p>
          <a:p>
            <a:r>
              <a:t>口径提醒（不朗读）</a:t>
            </a:r>
          </a:p>
          <a:p>
            <a:r>
              <a:t>• Hi Robot、Helix、RTC仅借鉴官方机制，不把其硬件、控制频率或结果直接套到本项目。</a:t>
            </a:r>
          </a:p>
          <a:p>
            <a:r>
              <a:t>• 383–384毫秒来自固定观测π探针10次，不等于在线π handler均值；5×50毫秒是条件示例。</a:t>
            </a:r>
          </a:p>
          <a:p>
            <a:r>
              <a:t>• 本地NPU优化不能直接缩短供应商云端模型内部计算；异步重叠收益按关键路径计，需约束过期动作。</a:t>
            </a:r>
          </a:p>
          <a:p>
            <a:r>
              <a:t/>
            </a:r>
          </a:p>
          <a:p>
            <a:r>
              <a:t>来源与原始计时说明（不朗读）</a:t>
            </a:r>
          </a:p>
          <a:p>
            <a:r>
              <a:t>Hi Robot https://arxiv.org/abs/2502.19417v2</a:t>
            </a:r>
          </a:p>
          <a:p>
            <a:r>
              <a:t>Helix https://www.figure.ai/news/helix</a:t>
            </a:r>
          </a:p>
          <a:p>
            <a:r>
              <a:t>RTC https://arxiv.org/abs/2506.07339v2</a:t>
            </a:r>
          </a:p>
          <a:p>
            <a:r>
              <a:t>访问2026-10-14。</a:t>
            </a:r>
          </a:p>
          <a:p>
            <a:r>
              <a:t>embodied-ai/weeks/2026_1012-1018_RPent多模型性能分析/2026-10-13-具身VLM推理的芯片加速单元与验证路径.md</a:t>
            </a:r>
          </a:p>
          <a:p>
            <a:r>
              <a:t>embodied-ai/weeks/2026_1012-1018_RPent多模型性能分析/2026-10-13-910B3本地VLM首批32次推理基线执行方案.md，计划非性能结果。</a:t>
            </a:r>
          </a:p>
          <a:p>
            <a:r>
              <a:t>本地已审查脱敏摘录：rpent_evidence.md §5。源文件 ds_flash_v5_report.html（2026-10-11）与 files_api_report.html（2026-10-10），属于两个独立实验，原件不对外复制。</a:t>
            </a:r>
          </a:p>
          <a:p>
            <a:r>
              <a:t>固定观测π探针10次383–384ms/chunk，5steps。50ms控制周期为条件示例。此探针不等于在线handler。API内部不可从本机NPU推断。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逐页讲稿｜第19页：结论与质量门槛</a:t>
            </a:r>
          </a:p>
          <a:p>
            <a:r>
              <a:t/>
            </a:r>
          </a:p>
          <a:p>
            <a:r>
              <a:t>最后收一下结论。现有工作已经把整集耗时、逻辑轮次、请求窗口和本地动作成本拆开，能更具体地解释长尾在哪里。接下来不急着宣布哪条路线最好，而是在质量基本不降这个前提下，比较哪些改动真正缩短整集关键路径。</a:t>
            </a:r>
          </a:p>
          <a:p>
            <a:r>
              <a:t/>
            </a:r>
          </a:p>
          <a:p>
            <a:r>
              <a:t>第一步补齐关键口径，尤其是MT反馈、首输出边界，以及逻辑请求和传输重试的对应关系。然后在固定输入上比较思考档位、缓存和选择器，先确认动作合法、决策质量过关，再进入配对初态的闭环实验。闭环里同时看成功、完成质量、轮次、恢复和全部失败成本。</a:t>
            </a:r>
          </a:p>
          <a:p>
            <a:r>
              <a:t/>
            </a:r>
          </a:p>
          <a:p>
            <a:r>
              <a:t>如果收益能保留，再推进本地部署与实时验证。质量差异能接受到什么程度，要由任务要求事先约定，不能看到结果以后再改标准。样本还不足时，就报告区间和趋势，不承诺质量等价。最后依据完整证据决定投入哪条路线。</a:t>
            </a:r>
          </a:p>
          <a:p>
            <a:r>
              <a:t/>
            </a:r>
          </a:p>
          <a:p>
            <a:r>
              <a:t>口径提醒（不朗读）</a:t>
            </a:r>
          </a:p>
          <a:p>
            <a:r>
              <a:t>• 质量基本不降为优化前提，不擅自设定可接受下降5个百分点等阈值。</a:t>
            </a:r>
          </a:p>
          <a:p>
            <a:r>
              <a:t>• 样本量由要判别的质量差和不确定性决定，不声称固定少量样本足以证明非劣性。</a:t>
            </a:r>
          </a:p>
          <a:p>
            <a:r>
              <a:t>• 固定状态测试和闭环测试回答不同问题；完整成本包含所有attempt、失败和恢复，不只比较成功快例。</a:t>
            </a:r>
          </a:p>
          <a:p>
            <a:r>
              <a:t/>
            </a:r>
          </a:p>
          <a:p>
            <a:r>
              <a:t>来源与原始计时说明（不朗读）</a:t>
            </a:r>
          </a:p>
          <a:p>
            <a:r>
              <a:t>embodied-ai/weeks/2026_0928-1004_RPent双脑对照与回馈/2026-10-01-RPent-Codex双模型120集结果.md，v1.0。</a:t>
            </a:r>
          </a:p>
          <a:p>
            <a:r>
              <a:t>embodied-ai/weeks/2026_1012-1018_RPent多模型性能分析/ds-report/RPent-DeepSeek-两场景性能审计.html，v1.5，思考档位、逐请求阶段与ds_t2_par。</a:t>
            </a:r>
          </a:p>
          <a:p>
            <a:r>
              <a:t>2026-10-14 用户转述 MT 最新实验反馈：low think 阶段指标4.6s降至1.4s。E4，尚缺模型、配置、样本、均值/中位数、时钟边界与成功结果。</a:t>
            </a:r>
          </a:p>
          <a:p>
            <a:r>
              <a:t>embodied-ai/weeks/2026_1012-1018_RPent多模型性能分析/2026-10-13-VLM-VLA双脑架构与推理优化调研.md</a:t>
            </a:r>
          </a:p>
          <a:p>
            <a:r>
              <a:t>脱敏综合审查备忘录 jev_strategy.md §5–8，方案尚未执行。</a:t>
            </a:r>
          </a:p>
          <a:p>
            <a:r>
              <a:t>事先固定质量谓词与可接受差异，由任务需求确认，不能擅定5个百分点。配对初态、完整成本含失败重试，样本量由要判别的质量差与不确定性确定。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具身智能推理性能评估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具身智能推理性能评估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技术负责人汇报　2026年10月14日　v2.0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技术负责人汇报　2026年10月14日　v2.0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01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实验成果与耗时诊断"/>
          <p:cNvSpPr>
            <a:spLocks noGrp="1"/>
          </p:cNvSpPr>
          <p:nvPr/>
        </p:nvSpPr>
        <p:spPr>
          <a:xfrm>
            <a:off x="609600" y="1438275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00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300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实验成果与耗时诊断</a:t>
            </a:r>
            <a:endParaRPr sz="3300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质量基本不降，是比较所有优化路线的前提"/>
          <p:cNvSpPr>
            <a:spLocks noGrp="1"/>
          </p:cNvSpPr>
          <p:nvPr/>
        </p:nvSpPr>
        <p:spPr>
          <a:xfrm>
            <a:off x="609600" y="2352675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250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250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质量基本不降，是比较所有优化路线的前提</a:t>
            </a:r>
            <a:endParaRPr sz="2250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609600" y="3143250"/>
          <a:ext cx="10972800" cy="2190752"/>
        </p:xfrm>
        <a:graphic>
          <a:graphicData uri="http://schemas.openxmlformats.org/drawingml/2006/table">
            <a:tbl>
              <a:tblPr/>
              <a:tblGrid>
                <a:gridCol w="4591050"/>
                <a:gridCol w="6381750"/>
              </a:tblGrid>
              <a:tr h="547688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已有证据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本次汇报重点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RPent 120集，成功99/120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长程任务与高层等待仍有优化空间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独立深测8集、DeepSeek多组专项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分别定位本地阶段、请求窗口与长尾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候选优化尚未选定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同质量下比较单次等待、调用轮数与本地实时性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</a:tbl>
          </a:graphicData>
        </a:graphic>
      </p:graphicFrame>
      <p:sp>
        <p:nvSpPr>
          <p:cNvPr id="7" name="报告数字为E3重述，源码接口为E1，MT最新反馈为E4待补证。"/>
          <p:cNvSpPr>
            <a:spLocks noGrp="1"/>
          </p:cNvSpPr>
          <p:nvPr/>
        </p:nvSpPr>
        <p:spPr>
          <a:xfrm>
            <a:off x="609600" y="55816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0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0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0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报告数字为E3重述，源码接口为E1，MT最新反馈为E4待补证。</a:t>
            </a:r>
            <a:endParaRPr sz="170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指标与计时边界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指标与计时边界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N按逻辑请求计数，平均完整等待包含全部retry／重连。异步按关键路径统计。〔E3〕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N按逻辑请求计数，平均完整等待包含全部retry／重连。异步按关键路径统计。〔E3〕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02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同步近似：episode＝初始化＋N×平均完整请求等待＋执行与恢复"/>
          <p:cNvSpPr>
            <a:spLocks noGrp="1"/>
          </p:cNvSpPr>
          <p:nvPr/>
        </p:nvSpPr>
        <p:spPr>
          <a:xfrm>
            <a:off x="609600" y="12192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同步近似：episode＝初始化＋N×平均完整请求等待＋执行与恢复</a:t>
            </a:r>
            <a:endParaRPr sz="202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895475"/>
          <a:ext cx="10972800" cy="3219450"/>
        </p:xfrm>
        <a:graphic>
          <a:graphicData uri="http://schemas.openxmlformats.org/drawingml/2006/table">
            <a:tbl>
              <a:tblPr/>
              <a:tblGrid>
                <a:gridCol w="2419350"/>
                <a:gridCol w="3790950"/>
                <a:gridCol w="4762500"/>
              </a:tblGrid>
              <a:tr h="64389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指标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本次含义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不可混用的边界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episode墙钟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整集任务的外层时间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失败早停、加载、配对屏障各自注明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完整请求等待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发送／准备起点至完整结果可用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首次响应不等于可执行动作已完成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TTFT与可见thinking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客户端首事件、首输出、首正文窗口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不是纯prefill或完整hidden thinking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工具与本地span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π handler、render、physics等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父子嵌套项不能再次相加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先比较成功与任务质量，再比较延迟分布、完整请求和整集关键路径。"/>
          <p:cNvSpPr>
            <a:spLocks noGrp="1"/>
          </p:cNvSpPr>
          <p:nvPr/>
        </p:nvSpPr>
        <p:spPr>
          <a:xfrm>
            <a:off x="609600" y="52387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先比较成功与任务质量，再比较延迟分布、完整请求和整集关键路径。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TPOT须写明分母。计量响应、逻辑请求与传输attempt分开计数。"/>
          <p:cNvSpPr>
            <a:spLocks noGrp="1"/>
          </p:cNvSpPr>
          <p:nvPr/>
        </p:nvSpPr>
        <p:spPr>
          <a:xfrm>
            <a:off x="609600" y="56388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TPOT须写明分母。计量响应、逻辑请求与传输attempt分开计数。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实验总览：各集合回答不同问题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实验总览：各集合回答不同问题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跨环境、轨迹、成功谓词与计时实现分别解释，不能合并成模型排行榜。〔E3〕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跨环境、轨迹、成功谓词与计时实现分别解释，不能合并成模型排行榜。〔E3〕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03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562100"/>
          <a:ext cx="10972800" cy="3571878"/>
        </p:xfrm>
        <a:graphic>
          <a:graphicData uri="http://schemas.openxmlformats.org/drawingml/2006/table">
            <a:tbl>
              <a:tblPr/>
              <a:tblGrid>
                <a:gridCol w="3000375"/>
                <a:gridCol w="3476625"/>
                <a:gridCol w="4495800"/>
              </a:tblGrid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实验集合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规模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可回答的问题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GPT-as-Policy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3任务×3路线＝9回合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接口、整轮与云端监督开销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bowl同seed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4配置×5seed＝20回合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小样本任务能力与effort敏感性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RPent历史／独立深测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120集／8集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成功结构、互斥总账与本地细分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DeepSeek档位对照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medium／none各4集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共同成功轨迹的质量与成本变化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DeepSeek三个单局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v5／Files API／后续phase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请求窗口、payload与输出长尾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</a:tbl>
          </a:graphicData>
        </a:graphic>
      </p:graphicFrame>
      <p:sp>
        <p:nvSpPr>
          <p:cNvPr id="5" name="多路线实验检验单轮成本与轮数，正式评测和插桩深测补充不同计时证据。"/>
          <p:cNvSpPr>
            <a:spLocks noGrp="1"/>
          </p:cNvSpPr>
          <p:nvPr/>
        </p:nvSpPr>
        <p:spPr>
          <a:xfrm>
            <a:off x="609600" y="52482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多路线实验检验单轮成本与轮数，正式评测和插桩深测补充不同计时证据。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本次审查既有报告，没有新增远程机器人或NPU性能实跑。"/>
          <p:cNvSpPr>
            <a:spLocks noGrp="1"/>
          </p:cNvSpPr>
          <p:nvPr/>
        </p:nvSpPr>
        <p:spPr>
          <a:xfrm>
            <a:off x="609600" y="56483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本次审查既有报告，没有新增远程机器人或NPU性能实跑。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GPT-as-Policy：罐子三路线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GPT-as-Policy：罐子三路线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每路线仅1条成功轨迹。Hybrid全51轮放行Student，π随机状态未配对。re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每路线仅1条成功轨迹。Hybrid全51轮放行Student，π随机状态未配对。request包含TTFT/decode。〔E3〕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04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419225"/>
          <a:ext cx="10972800" cy="2000252"/>
        </p:xfrm>
        <a:graphic>
          <a:graphicData uri="http://schemas.openxmlformats.org/drawingml/2006/table">
            <a:tbl>
              <a:tblPr/>
              <a:tblGrid>
                <a:gridCol w="3143250"/>
                <a:gridCol w="1905000"/>
                <a:gridCol w="2962275"/>
                <a:gridCol w="2962275"/>
              </a:tblGrid>
              <a:tr h="500063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路线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决策轮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平均整轮 / s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episode / s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Direct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97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14.41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1428.97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Student（π0.5）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52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4.20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248.71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Hybrid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51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18.82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991.09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609600" y="3514725"/>
          <a:ext cx="10972800" cy="1562100"/>
        </p:xfrm>
        <a:graphic>
          <a:graphicData uri="http://schemas.openxmlformats.org/drawingml/2006/table">
            <a:tbl>
              <a:tblPr/>
              <a:tblGrid>
                <a:gridCol w="2381250"/>
                <a:gridCol w="2143125"/>
                <a:gridCol w="2047875"/>
                <a:gridCol w="2352675"/>
                <a:gridCol w="2047875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请求均值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request/s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TTFT/s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可见decode/s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TPOT估算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ms/token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Direct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10.819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7.340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3.155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25.55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Hybrid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14.374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4.455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9.618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29.06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本条Hybrid轮数更少，但每轮更慢。其可见输出较多，监督增量质量仍需验证。"/>
          <p:cNvSpPr>
            <a:spLocks noGrp="1"/>
          </p:cNvSpPr>
          <p:nvPr/>
        </p:nvSpPr>
        <p:spPr>
          <a:xfrm>
            <a:off x="609600" y="52006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本条Hybrid轮数更少，但每轮更慢。其可见输出较多，监督增量质量仍需验证。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Student π+sync／render为0.545／2.774 s，Hybrid"/>
          <p:cNvSpPr>
            <a:spLocks noGrp="1"/>
          </p:cNvSpPr>
          <p:nvPr/>
        </p:nvSpPr>
        <p:spPr>
          <a:xfrm>
            <a:off x="609600" y="56007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Student π+sync／render为0.545／2.774 s，Hybrid为0.530／2.938 s。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bowl：同seed的质量与整集耗时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bowl：同seed的质量与整集耗时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主表n＝5，入碗未等同稳定放置。下表9/16等待含读图/工具往返/调度，*推算，三家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主表n＝5，入碗未等同稳定放置。下表9/16等待含读图/工具往返/调度，*推算，三家子集未明。〔E3〕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05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05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457325"/>
          <a:ext cx="10972800" cy="2743200"/>
        </p:xfrm>
        <a:graphic>
          <a:graphicData uri="http://schemas.openxmlformats.org/drawingml/2006/table">
            <a:tbl>
              <a:tblPr/>
              <a:tblGrid>
                <a:gridCol w="3381375"/>
                <a:gridCol w="2143125"/>
                <a:gridCol w="2571750"/>
                <a:gridCol w="287655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模型／effort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自动入碗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平均决策轮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平均墙钟 / s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Astra medium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5/5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16.0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336.11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Sol medium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2/5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18.2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547.09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Sol ultra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3/5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17.6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600.63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Luna max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0/5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19.6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1969.76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609600" y="4410075"/>
          <a:ext cx="10972800" cy="952500"/>
        </p:xfrm>
        <a:graphic>
          <a:graphicData uri="http://schemas.openxmlformats.org/drawingml/2006/table">
            <a:tbl>
              <a:tblPr/>
              <a:tblGrid>
                <a:gridCol w="2876550"/>
                <a:gridCol w="2019300"/>
                <a:gridCol w="2019300"/>
                <a:gridCol w="2038350"/>
                <a:gridCol w="2019300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9/16代理等待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Astra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GLM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DeepSeek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Qwen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非纯LLM / s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27.2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≈117*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135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≈110*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</a:tbl>
          </a:graphicData>
        </a:graphic>
      </p:graphicFrame>
      <p:sp>
        <p:nvSpPr>
          <p:cNvPr id="6" name="同seed没有LLM分段。更高effort未带来逐seed一致改善，质量仍需闭环确认"/>
          <p:cNvSpPr>
            <a:spLocks noGrp="1"/>
          </p:cNvSpPr>
          <p:nvPr/>
        </p:nvSpPr>
        <p:spPr>
          <a:xfrm>
            <a:off x="609600" y="56102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同seed没有LLM分段。更高effort未带来逐seed一致改善，质量仍需闭环确认。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Pent 120集：整集耗时按套件比较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RPent 120集：整集耗时按套件比较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每模型每套件n＝20。A/S成功：Task 19/17，Swap 20/20，Lon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每模型每套件n＝20。A/S成功：Task 19/17，Swap 20/20，Long 11/12。含失败与连接等待。〔E3〕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06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06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episode均值 / s，质量与完成结果保持为比较约束"/>
          <p:cNvSpPr>
            <a:spLocks noGrp="1"/>
          </p:cNvSpPr>
          <p:nvPr/>
        </p:nvSpPr>
        <p:spPr>
          <a:xfrm>
            <a:off x="609600" y="12192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episode均值 / s，质量与完成结果保持为比较约束</a:t>
            </a:r>
            <a:endParaRPr sz="202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5" name="Chart"/>
          <p:cNvGraphicFramePr/>
          <p:nvPr/>
        </p:nvGraphicFramePr>
        <p:xfrm>
          <a:off x="609600" y="1838325"/>
          <a:ext cx="7905750" cy="2647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609600" y="4648200"/>
          <a:ext cx="7905750" cy="1276350"/>
        </p:xfrm>
        <a:graphic>
          <a:graphicData uri="http://schemas.openxmlformats.org/drawingml/2006/table">
            <a:tbl>
              <a:tblPr/>
              <a:tblGrid>
                <a:gridCol w="1905000"/>
                <a:gridCol w="2000250"/>
                <a:gridCol w="2000250"/>
                <a:gridCol w="2000250"/>
              </a:tblGrid>
              <a:tr h="42545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p50 / s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Spatial Task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Spatial Swap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Long Swap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Astra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676.8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560.0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919.5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Sol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811.6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828.9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1332.8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质量为约束"/>
          <p:cNvSpPr>
            <a:spLocks noGrp="1"/>
          </p:cNvSpPr>
          <p:nvPr/>
        </p:nvSpPr>
        <p:spPr>
          <a:xfrm>
            <a:off x="8839200" y="171450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质量为约束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Astra成功50/60&#10;Sol成功49/60&#10;逐套件结果见页脚。"/>
          <p:cNvSpPr>
            <a:spLocks noGrp="1"/>
          </p:cNvSpPr>
          <p:nvPr/>
        </p:nvSpPr>
        <p:spPr>
          <a:xfrm>
            <a:off x="8839200" y="2076450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Astra成功50/60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Sol成功49/60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逐套件结果见页脚。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连接长尾需保留"/>
          <p:cNvSpPr>
            <a:spLocks noGrp="1"/>
          </p:cNvSpPr>
          <p:nvPr/>
        </p:nvSpPr>
        <p:spPr>
          <a:xfrm>
            <a:off x="8839200" y="306705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连接长尾需保留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Sol Long一轨5348.4 s&#10;含连接中断。&#10;均值受到长尾影响。"/>
          <p:cNvSpPr>
            <a:spLocks noGrp="1"/>
          </p:cNvSpPr>
          <p:nvPr/>
        </p:nvSpPr>
        <p:spPr>
          <a:xfrm>
            <a:off x="8839200" y="3429000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Sol Long一轨5348.4 s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含连接中断。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均值受到长尾影响。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成本不等于算力"/>
          <p:cNvSpPr>
            <a:spLocks noGrp="1"/>
          </p:cNvSpPr>
          <p:nvPr/>
        </p:nvSpPr>
        <p:spPr>
          <a:xfrm>
            <a:off x="8839200" y="441960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成本不等于算力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轨迹、轮次与连接&#10;共同影响整集耗时。&#10;不作纯算力归因。"/>
          <p:cNvSpPr>
            <a:spLocks noGrp="1"/>
          </p:cNvSpPr>
          <p:nvPr/>
        </p:nvSpPr>
        <p:spPr>
          <a:xfrm>
            <a:off x="8839200" y="4781550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轨迹、轮次与连接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共同影响整集耗时。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不作纯算力归因。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Pent 120集：高层等待与动作并重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RPent 120集：高层等待与动作并重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分母123408.4 s。五桶互斥，VLA加载5.78 h另计。SDK非工具不等于t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分母123408.4 s。五桶互斥，VLA加载5.78 h另计。SDK非工具不等于thinking。〔E3〕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07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07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Chart"/>
          <p:cNvGraphicFramePr/>
          <p:nvPr/>
        </p:nvGraphicFramePr>
        <p:xfrm>
          <a:off x="609600" y="1562100"/>
          <a:ext cx="7905750" cy="3829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动作两桶44.3%"/>
          <p:cNvSpPr>
            <a:spLocks noGrp="1"/>
          </p:cNvSpPr>
          <p:nvPr/>
        </p:nvSpPr>
        <p:spPr>
          <a:xfrm>
            <a:off x="8839200" y="1609725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动作两桶44.3%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含策略、控制、仿真、&#10;渲染与通信。"/>
          <p:cNvSpPr>
            <a:spLocks noGrp="1"/>
          </p:cNvSpPr>
          <p:nvPr/>
        </p:nvSpPr>
        <p:spPr>
          <a:xfrm>
            <a:off x="8839200" y="1971675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含策略、控制、仿真、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渲染与通信。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SDK非工具43.3%"/>
          <p:cNvSpPr>
            <a:spLocks noGrp="1"/>
          </p:cNvSpPr>
          <p:nvPr/>
        </p:nvSpPr>
        <p:spPr>
          <a:xfrm>
            <a:off x="8839200" y="2828925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SDK非工具43.3%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含请求、网络、重试&#10;与编排，需继续拆分。"/>
          <p:cNvSpPr>
            <a:spLocks noGrp="1"/>
          </p:cNvSpPr>
          <p:nvPr/>
        </p:nvSpPr>
        <p:spPr>
          <a:xfrm>
            <a:off x="8839200" y="3190875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含请求、网络、重试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与编排，需继续拆分。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总账先定位范围"/>
          <p:cNvSpPr>
            <a:spLocks noGrp="1"/>
          </p:cNvSpPr>
          <p:nvPr/>
        </p:nvSpPr>
        <p:spPr>
          <a:xfrm>
            <a:off x="8839200" y="4048125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总账先定位范围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五桶不足以计算&#10;纯π或纯thinking&#10;的加速比。"/>
          <p:cNvSpPr>
            <a:spLocks noGrp="1"/>
          </p:cNvSpPr>
          <p:nvPr/>
        </p:nvSpPr>
        <p:spPr>
          <a:xfrm>
            <a:off x="8839200" y="4410075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五桶不足以计算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纯π或纯thinking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的加速比。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优化需要同时量化单次等待与调用数量，局部阶段缩短未必同比缩短整集。"/>
          <p:cNvSpPr>
            <a:spLocks noGrp="1"/>
          </p:cNvSpPr>
          <p:nvPr/>
        </p:nvSpPr>
        <p:spPr>
          <a:xfrm>
            <a:off x="609600" y="565785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优化需要同时量化单次等待与调用数量，局部阶段缩短未必同比缩短整集。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独立8集：渲染与π handler细分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独立8集：渲染与π handler细分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独立8集成功3/8（t0为3/4，t9为0/4）。子阶段嵌套，不能加回episode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独立8集成功3/8（t0为3/4，t9为0/4）。子阶段嵌套，不能加回episode。〔E3〕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08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08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本地细分的分母10965.30 s，与历史120集分开解释"/>
          <p:cNvSpPr>
            <a:spLocks noGrp="1"/>
          </p:cNvSpPr>
          <p:nvPr/>
        </p:nvSpPr>
        <p:spPr>
          <a:xfrm>
            <a:off x="609600" y="12192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本地细分的分母10965.30 s，与历史120集分开解释</a:t>
            </a:r>
            <a:endParaRPr sz="202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924050"/>
          <a:ext cx="10972800" cy="3000375"/>
        </p:xfrm>
        <a:graphic>
          <a:graphicData uri="http://schemas.openxmlformats.org/drawingml/2006/table">
            <a:tbl>
              <a:tblPr/>
              <a:tblGrid>
                <a:gridCol w="3114675"/>
                <a:gridCol w="2114550"/>
                <a:gridCol w="2133600"/>
                <a:gridCol w="3609975"/>
              </a:tblGrid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已测阶段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累计 / s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占episode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测量含义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原语窗内render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4391.18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40.05%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仿真观测成本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physics step1+2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121.48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1.11%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不覆盖所有控制工作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π handler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198.65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1.81%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371次，包含处理开销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其中prefix／denoise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96.19／86.14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0.88%／0.79%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属于π handler的子阶段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扣除已测render后T*＝6574.12 s，仍不是真机耗时预测。"/>
          <p:cNvSpPr>
            <a:spLocks noGrp="1"/>
          </p:cNvSpPr>
          <p:nvPr/>
        </p:nvSpPr>
        <p:spPr>
          <a:xfrm>
            <a:off x="609600" y="52006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扣除已测render后T*＝6574.12 s，仍不是真机耗时预测。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π handler减半仅省T*的1.51%，整集收益有限，但局部deadline仍需"/>
          <p:cNvSpPr>
            <a:spLocks noGrp="1"/>
          </p:cNvSpPr>
          <p:nvPr/>
        </p:nvSpPr>
        <p:spPr>
          <a:xfrm>
            <a:off x="609600" y="56007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π handler减半仅省T*的1.51%，整集收益有限，但局部deadline仍需单独验收。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独立8集：轮次、重试与恢复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独立8集：轮次、重试与恢复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逻辑轮次与attempt不同。恢复耗时中可含大量render，不能全部当无损节省。〔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逻辑轮次与attempt不同。恢复耗时中可含大量render，不能全部当无损节省。〔E3〕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09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09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495425"/>
          <a:ext cx="7905750" cy="3857625"/>
        </p:xfrm>
        <a:graphic>
          <a:graphicData uri="http://schemas.openxmlformats.org/drawingml/2006/table">
            <a:tbl>
              <a:tblPr/>
              <a:tblGrid>
                <a:gridCol w="1628775"/>
                <a:gridCol w="1095375"/>
                <a:gridCol w="1495425"/>
                <a:gridCol w="1200150"/>
                <a:gridCol w="1285875"/>
                <a:gridCol w="1200150"/>
              </a:tblGrid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样本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结果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episode/s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逻辑轮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attempt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π块</a:t>
                      </a:r>
                      <a:endParaRPr sz="17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t0 A/0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成功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1090.5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t0 S/0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成功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1153.1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47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53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28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t0 A/1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成功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1049.1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42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t0 S/1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失败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2176.5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77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83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116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t9 A/0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失败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1711.6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75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75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28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t9 S/0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失败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1409.8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65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71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100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t9 A/1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失败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1076.7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47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47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8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t9 S/1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失败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1298.0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55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61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61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请求量需独立计数"/>
          <p:cNvSpPr>
            <a:spLocks noGrp="1"/>
          </p:cNvSpPr>
          <p:nvPr/>
        </p:nvSpPr>
        <p:spPr>
          <a:xfrm>
            <a:off x="8839200" y="1476375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请求量需独立计数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448逻辑轮&#10;473次传输尝试&#10;额外25次需分析原因。"/>
          <p:cNvSpPr>
            <a:spLocks noGrp="1"/>
          </p:cNvSpPr>
          <p:nvPr/>
        </p:nvSpPr>
        <p:spPr>
          <a:xfrm>
            <a:off x="8839200" y="1838325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448逻辑轮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473次传输尝试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额外25次需分析原因。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恢复存在长尾"/>
          <p:cNvSpPr>
            <a:spLocks noGrp="1"/>
          </p:cNvSpPr>
          <p:nvPr/>
        </p:nvSpPr>
        <p:spPr>
          <a:xfrm>
            <a:off x="8839200" y="276225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恢复存在长尾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Sol t0/s1为77轮&#10;116个π块。&#10;次数不等于无进展。"/>
          <p:cNvSpPr>
            <a:spLocks noGrp="1"/>
          </p:cNvSpPr>
          <p:nvPr/>
        </p:nvSpPr>
        <p:spPr>
          <a:xfrm>
            <a:off x="8839200" y="3124200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Sol t0/s1为77轮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116个π块。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次数不等于无进展。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可省部分需验证"/>
          <p:cNvSpPr>
            <a:spLocks noGrp="1"/>
          </p:cNvSpPr>
          <p:nvPr/>
        </p:nvSpPr>
        <p:spPr>
          <a:xfrm>
            <a:off x="8839200" y="4048125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可省部分需验证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两段恢复扣render后&#10;152.01 s，占T*2.31%。"/>
          <p:cNvSpPr>
            <a:spLocks noGrp="1"/>
          </p:cNvSpPr>
          <p:nvPr/>
        </p:nvSpPr>
        <p:spPr>
          <a:xfrm>
            <a:off x="8839200" y="4410075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两段恢复扣render后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152.01 s，占T*2.31%。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候选切入点：阶段进展判断、有界恢复与事件触发，质量和完整关键路径一起验收。"/>
          <p:cNvSpPr>
            <a:spLocks noGrp="1"/>
          </p:cNvSpPr>
          <p:nvPr/>
        </p:nvSpPr>
        <p:spPr>
          <a:xfrm>
            <a:off x="609600" y="56197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候选切入点：阶段进展判断、有界恢复与事件触发，质量和完整关键路径一起验收。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DeepSeek v5：请求指标的均值与p50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DeepSeek v5：请求指标的均值与p50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报告逐轮表重算，均值为约数。首SSE是否过滤空事件未确认，均为客户端窗口。〔E3〕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报告逐轮表重算，均值为约数。首SSE是否过滤空事件未确认，均为客户端窗口。〔E3〕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10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10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单局15轮182.5 s，LLM累计约93.6 s（约51.3%）"/>
          <p:cNvSpPr>
            <a:spLocks noGrp="1"/>
          </p:cNvSpPr>
          <p:nvPr/>
        </p:nvSpPr>
        <p:spPr>
          <a:xfrm>
            <a:off x="609600" y="12192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单局15轮182.5 s，LLM累计约93.6 s（约51.3%）</a:t>
            </a:r>
            <a:endParaRPr sz="202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914525"/>
          <a:ext cx="10972800" cy="3048000"/>
        </p:xfrm>
        <a:graphic>
          <a:graphicData uri="http://schemas.openxmlformats.org/drawingml/2006/table">
            <a:tbl>
              <a:tblPr/>
              <a:tblGrid>
                <a:gridCol w="2857500"/>
                <a:gridCol w="1790700"/>
                <a:gridCol w="1790700"/>
                <a:gridCol w="453390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客户端指标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均值 / s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p50 / s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定义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TTFT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1.817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1.07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请求起点至首SSE chunk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可见thinking窗口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3.143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1.46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首chunk至首正文chunk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正文／工具decode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1.280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0.65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首正文chunk至结束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完整LLM请求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6.24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3.50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完整请求窗口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均值高于中位数，长尾决定累计等待，不能只看“典型一轮”。"/>
          <p:cNvSpPr>
            <a:spLocks noGrp="1"/>
          </p:cNvSpPr>
          <p:nvPr/>
        </p:nvSpPr>
        <p:spPr>
          <a:xfrm>
            <a:off x="609600" y="52197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均值高于中位数，长尾决定累计等待，不能只看“典型一轮”。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旧v5 TPOT约4 ms，后续同局按output−1分母得p50为3.621 ms"/>
          <p:cNvSpPr>
            <a:spLocks noGrp="1"/>
          </p:cNvSpPr>
          <p:nvPr/>
        </p:nvSpPr>
        <p:spPr>
          <a:xfrm>
            <a:off x="609600" y="56197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旧v5 TPOT约4 ms，后续同局按output−1分母得p50为3.621 ms，定义不同。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DeepSeek v5：15轮长尾来自不同窗口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DeepSeek v5：15轮长尾来自不同窗口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15轮含初始化读资料、写记录与finish。表内三窗口经舍入，分项合计可能略有差异。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15轮含初始化读资料、写记录与finish。表内三窗口经舍入，分项合计可能略有差异。〔E3〕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11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11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Chart"/>
          <p:cNvGraphicFramePr/>
          <p:nvPr/>
        </p:nvGraphicFramePr>
        <p:xfrm>
          <a:off x="609600" y="1714500"/>
          <a:ext cx="79057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第11轮：thinking"/>
          <p:cNvSpPr>
            <a:spLocks noGrp="1"/>
          </p:cNvSpPr>
          <p:nvPr/>
        </p:nvSpPr>
        <p:spPr>
          <a:xfrm>
            <a:off x="8839200" y="1685925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第11轮：thinking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19.96 s／总24.5 s&#10;reasoning 4491 tokens"/>
          <p:cNvSpPr>
            <a:spLocks noGrp="1"/>
          </p:cNvSpPr>
          <p:nvPr/>
        </p:nvSpPr>
        <p:spPr>
          <a:xfrm>
            <a:off x="8839200" y="2047875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19.96 s／总24.5 s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reasoning 4491 tokens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第14轮：decode"/>
          <p:cNvSpPr>
            <a:spLocks noGrp="1"/>
          </p:cNvSpPr>
          <p:nvPr/>
        </p:nvSpPr>
        <p:spPr>
          <a:xfrm>
            <a:off x="8839200" y="289560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第14轮：decode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8.94 s／总16.5 s&#10;其他输出2687 tokens"/>
          <p:cNvSpPr>
            <a:spLocks noGrp="1"/>
          </p:cNvSpPr>
          <p:nvPr/>
        </p:nvSpPr>
        <p:spPr>
          <a:xfrm>
            <a:off x="8839200" y="3257550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8.94 s／总16.5 s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其他输出2687 tokens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优化对象不同"/>
          <p:cNvSpPr>
            <a:spLocks noGrp="1"/>
          </p:cNvSpPr>
          <p:nvPr/>
        </p:nvSpPr>
        <p:spPr>
          <a:xfrm>
            <a:off x="8839200" y="4105275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优化对象不同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思考预算、工具载荷和完整结果时间需分别验证。"/>
          <p:cNvSpPr>
            <a:spLocks noGrp="1"/>
          </p:cNvSpPr>
          <p:nvPr/>
        </p:nvSpPr>
        <p:spPr>
          <a:xfrm>
            <a:off x="8839200" y="4467225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思考预算、工具载荷和完整结果时间需分别验证。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182.5−93.6≈88.9 s先称“工具及其他剩余时间”，不能直接归为纯工具或纯"/>
          <p:cNvSpPr>
            <a:spLocks noGrp="1"/>
          </p:cNvSpPr>
          <p:nvPr/>
        </p:nvSpPr>
        <p:spPr>
          <a:xfrm>
            <a:off x="609600" y="56483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182.5−93.6≈88.9 s先称“工具及其他剩余时间”，不能直接归为纯工具或纯渲染。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DeepSeek：payload、cache与context边界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DeepSeek：payload、cache与context边界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v5与Files API旧局是独立集合。KB沿用原报告单位，未确认1000/1024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v5与Files API旧局是独立集合。KB沿用原报告单位，未确认1000/1024口径。〔E3〕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12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12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514475"/>
          <a:ext cx="10972800" cy="3390900"/>
        </p:xfrm>
        <a:graphic>
          <a:graphicData uri="http://schemas.openxmlformats.org/drawingml/2006/table">
            <a:tbl>
              <a:tblPr/>
              <a:tblGrid>
                <a:gridCol w="2352675"/>
                <a:gridCol w="4333875"/>
                <a:gridCol w="4286250"/>
              </a:tblGrid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观察对象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报告内证据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可解释范围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v5请求payload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15次均值3136.1降为185.7 KB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末轮10118降为280 KB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请求体缩小，图片上传阶段仍需计入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上下文与缓存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输入13,094增至84,686 tokens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缓存比例均值88.5%，p50 97%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跨请求输入重复历史，不能当新增输入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图像与TTFT探针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禁裁剪、末轮13图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另3次探针冷1.45／热约1.0 s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同时改变多项条件，仅支持该输入基线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服务端阶段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“DS服务端”均值0.46／p50 0.44 s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客户端代理区间，prefill与排队仍未拆分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缓存收益要同时记录命中条件、输入稳定性、上传成本与完整请求时间。"/>
          <p:cNvSpPr>
            <a:spLocks noGrp="1"/>
          </p:cNvSpPr>
          <p:nvPr/>
        </p:nvSpPr>
        <p:spPr>
          <a:xfrm>
            <a:off x="609600" y="51911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缓存收益要同时记录命中条件、输入稳定性、上传成本与完整请求时间。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减少上下文或图像前，先确认对象识别、历史状态与任务质量保持。"/>
          <p:cNvSpPr>
            <a:spLocks noGrp="1"/>
          </p:cNvSpPr>
          <p:nvPr/>
        </p:nvSpPr>
        <p:spPr>
          <a:xfrm>
            <a:off x="609600" y="55911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减少上下文或图像前，先确认对象识别、历史状态与任务质量保持。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DeepSeek medium／none：共同成功两seed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DeepSeek medium／none：共同成功两seed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每档2/4成功，t9均未完成。小样本、system hash不完全相同，不证明成功率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每档2/4成功，t9均未完成。小样本、system hash不完全相同，不证明成功率等价。〔E3〕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13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13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共同成功episode合计2326.7降至1848.2 s，下降20.6%"/>
          <p:cNvSpPr>
            <a:spLocks noGrp="1"/>
          </p:cNvSpPr>
          <p:nvPr/>
        </p:nvSpPr>
        <p:spPr>
          <a:xfrm>
            <a:off x="609600" y="12192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共同成功episode合计2326.7降至1848.2 s，下降20.6%</a:t>
            </a:r>
            <a:endParaRPr sz="202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952625"/>
          <a:ext cx="10972800" cy="2543176"/>
        </p:xfrm>
        <a:graphic>
          <a:graphicData uri="http://schemas.openxmlformats.org/drawingml/2006/table">
            <a:tbl>
              <a:tblPr/>
              <a:tblGrid>
                <a:gridCol w="2447925"/>
                <a:gridCol w="3143250"/>
                <a:gridCol w="3143250"/>
                <a:gridCol w="2238375"/>
              </a:tblGrid>
              <a:tr h="63579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配对初态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medium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none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耗时下降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t0 / seed0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1497.8 s / 37轮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1043.1 s / 31轮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30.4%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t0 / seed1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828.9 s / 26轮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805.1 s / 26轮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2.9%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两seed合计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2326.7 s / 63轮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1848.2 s / 57轮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20.6%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</a:tbl>
          </a:graphicData>
        </a:graphic>
      </p:graphicFrame>
      <p:sp>
        <p:nvSpPr>
          <p:cNvPr id="6" name="轮次同时63降至57，无法把20.6%全部归为同轨迹thinking缩短。"/>
          <p:cNvSpPr>
            <a:spLocks noGrp="1"/>
          </p:cNvSpPr>
          <p:nvPr/>
        </p:nvSpPr>
        <p:spPr>
          <a:xfrm>
            <a:off x="609600" y="48196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轮次同时63降至57，无法把20.6%全部归为同轨迹thinking缩短。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共同成功四集TTFT代理占LLM累计70.8%，包含网络与等待。"/>
          <p:cNvSpPr>
            <a:spLocks noGrp="1"/>
          </p:cNvSpPr>
          <p:nvPr/>
        </p:nvSpPr>
        <p:spPr>
          <a:xfrm>
            <a:off x="609600" y="52292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共同成功四集TTFT代理占LLM累计70.8%，包含网络与等待。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medium两成功集thinking估计352.550 s按token分摊，不能替代"/>
          <p:cNvSpPr>
            <a:spLocks noGrp="1"/>
          </p:cNvSpPr>
          <p:nvPr/>
        </p:nvSpPr>
        <p:spPr>
          <a:xfrm>
            <a:off x="609600" y="56388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medium两成功集thinking估计352.550 s按token分摊，不能替代服务端阶段实测。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DeepSeek后续审计：首输出后占80.3%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DeepSeek后续审计：首输出后占80.3%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后续主例ds_t2_par，1集15次有效请求。客户端时间戳实测窗口，不同于v5旧局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后续主例ds_t2_par，1集15次有效请求。客户端时间戳实测窗口，不同于v5旧局。〔E3〕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14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14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episode 205.3 s，LLM 110.534 s，首输出后88.796 s"/>
          <p:cNvSpPr>
            <a:spLocks noGrp="1"/>
          </p:cNvSpPr>
          <p:nvPr/>
        </p:nvSpPr>
        <p:spPr>
          <a:xfrm>
            <a:off x="609600" y="12192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episode 205.3 s，LLM 110.534 s，首输出后88.796 s</a:t>
            </a:r>
            <a:endParaRPr sz="202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5" name="Chart"/>
          <p:cNvGraphicFramePr/>
          <p:nvPr/>
        </p:nvGraphicFramePr>
        <p:xfrm>
          <a:off x="609600" y="1933575"/>
          <a:ext cx="790575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TFT占19.7%"/>
          <p:cNvSpPr>
            <a:spLocks noGrp="1"/>
          </p:cNvSpPr>
          <p:nvPr/>
        </p:nvSpPr>
        <p:spPr>
          <a:xfrm>
            <a:off x="8839200" y="186690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TTFT占19.7%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累计21.739 s&#10;p50 1.270 s"/>
          <p:cNvSpPr>
            <a:spLocks noGrp="1"/>
          </p:cNvSpPr>
          <p:nvPr/>
        </p:nvSpPr>
        <p:spPr>
          <a:xfrm>
            <a:off x="8839200" y="2228850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累计21.739 s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p50 1.270 s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输出窗口更大"/>
          <p:cNvSpPr>
            <a:spLocks noGrp="1"/>
          </p:cNvSpPr>
          <p:nvPr/>
        </p:nvSpPr>
        <p:spPr>
          <a:xfrm>
            <a:off x="8839200" y="3057525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输出窗口更大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14个可见thinking窗口&#10;累计68.663 s。"/>
          <p:cNvSpPr>
            <a:spLocks noGrp="1"/>
          </p:cNvSpPr>
          <p:nvPr/>
        </p:nvSpPr>
        <p:spPr>
          <a:xfrm>
            <a:off x="8839200" y="3419475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14个可见thinking窗口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累计68.663 s。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优化预算随集合变"/>
          <p:cNvSpPr>
            <a:spLocks noGrp="1"/>
          </p:cNvSpPr>
          <p:nvPr/>
        </p:nvSpPr>
        <p:spPr>
          <a:xfrm>
            <a:off x="8839200" y="424815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优化预算随集合变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同样缩短20%：&#10;输出窗口约17.76 s&#10;TTFT约4.35 s。"/>
          <p:cNvSpPr>
            <a:spLocks noGrp="1"/>
          </p:cNvSpPr>
          <p:nvPr/>
        </p:nvSpPr>
        <p:spPr>
          <a:xfrm>
            <a:off x="8839200" y="4610100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同样缩短20%：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输出窗口约17.76 s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TTFT约4.35 s。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上述是请求工作量预算，只有落在关键路径上的部分才转为episode节省。"/>
          <p:cNvSpPr>
            <a:spLocks noGrp="1"/>
          </p:cNvSpPr>
          <p:nvPr/>
        </p:nvSpPr>
        <p:spPr>
          <a:xfrm>
            <a:off x="609600" y="565785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上述是请求工作量预算，只有落在关键路径上的部分才转为episode节省。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MT low think：阶段反馈与条件收益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 low think：阶段反馈与条件收益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E4用户转述MT最新实验。质量、样本量、均值／中位数和时钟边界待补证。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E4用户转述MT最新实验。质量、样本量、均值／中位数和时钟边界待补证。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15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15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4.6 s  降至  1.4 s"/>
          <p:cNvSpPr>
            <a:spLocks noGrp="1"/>
          </p:cNvSpPr>
          <p:nvPr/>
        </p:nvSpPr>
        <p:spPr>
          <a:xfrm>
            <a:off x="609600" y="14097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2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2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4.6 s  降至  1.4 s</a:t>
            </a:r>
            <a:endParaRPr sz="322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阶段指标差3.2 s，下降69.6%，阶段速度比约3.29×"/>
          <p:cNvSpPr>
            <a:spLocks noGrp="1"/>
          </p:cNvSpPr>
          <p:nvPr/>
        </p:nvSpPr>
        <p:spPr>
          <a:xfrm>
            <a:off x="609600" y="2114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阶段指标差3.2 s，下降69.6%，阶段速度比约3.29×</a:t>
            </a:r>
            <a:endParaRPr sz="202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6" name="Chart"/>
          <p:cNvGraphicFramePr/>
          <p:nvPr/>
        </p:nvGraphicFramePr>
        <p:xfrm>
          <a:off x="609600" y="2952750"/>
          <a:ext cx="7905750" cy="2562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条件演算"/>
          <p:cNvSpPr>
            <a:spLocks noGrp="1"/>
          </p:cNvSpPr>
          <p:nvPr/>
        </p:nvSpPr>
        <p:spPr>
          <a:xfrm>
            <a:off x="8839200" y="308610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条件演算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其他成本不变，完整请求降幅约69.6%×f。"/>
          <p:cNvSpPr>
            <a:spLocks noGrp="1"/>
          </p:cNvSpPr>
          <p:nvPr/>
        </p:nvSpPr>
        <p:spPr>
          <a:xfrm>
            <a:off x="8839200" y="3448050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其他成本不变，完整请求降幅约69.6%×f。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整集还受N影响"/>
          <p:cNvSpPr>
            <a:spLocks noGrp="1"/>
          </p:cNvSpPr>
          <p:nvPr/>
        </p:nvSpPr>
        <p:spPr>
          <a:xfrm>
            <a:off x="8839200" y="434340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整集还受N影响</a:t>
            </a:r>
            <a:endParaRPr sz="176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同口径均值、固定请求数和关键路径均需成立。"/>
          <p:cNvSpPr>
            <a:spLocks noGrp="1"/>
          </p:cNvSpPr>
          <p:nvPr/>
        </p:nvSpPr>
        <p:spPr>
          <a:xfrm>
            <a:off x="8839200" y="4705350"/>
            <a:ext cx="2743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同口径均值、固定请求数和关键路径均需成立。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后续将low作为候选档位，先验证任务质量基本不降，再比较完整请求与整集成本。"/>
          <p:cNvSpPr>
            <a:spLocks noGrp="1"/>
          </p:cNvSpPr>
          <p:nvPr/>
        </p:nvSpPr>
        <p:spPr>
          <a:xfrm>
            <a:off x="609600" y="56769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后续将low作为候选档位，先验证任务质量基本不降，再比较完整请求与整集成本。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候选优化矩阵：证据、风险与验收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候选优化矩阵：证据、风险与验收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候选路线尚未选定。共享输入、版本与质量判据，不把失败早停当作提速。〔接口E1／方案E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候选路线尚未选定。共享输入、版本与质量判据，不把失败早停当作提速。〔接口E1／方案E3〕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16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16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524000"/>
          <a:ext cx="10972800" cy="3762378"/>
        </p:xfrm>
        <a:graphic>
          <a:graphicData uri="http://schemas.openxmlformats.org/drawingml/2006/table">
            <a:tbl>
              <a:tblPr/>
              <a:tblGrid>
                <a:gridCol w="2295525"/>
                <a:gridCol w="2895600"/>
                <a:gridCol w="2333625"/>
                <a:gridCol w="3448050"/>
              </a:tblGrid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76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候选方向</a:t>
                      </a:r>
                      <a:endParaRPr sz="176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当前支持</a:t>
                      </a:r>
                      <a:endParaRPr sz="176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主要风险</a:t>
                      </a:r>
                      <a:endParaRPr sz="176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质量与成本验收</a:t>
                      </a:r>
                      <a:endParaRPr sz="176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low／none思考档位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medium/none有小样本对照，MT为E4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动作质量、异常输出变化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配对成功、合法动作、请求与整集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payload／上下文／缓存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文件引用、流式已有证据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裁剪丢信息、命中条件漂移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任务质量、输入量、命中与完整等待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调用粒度与事件触发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轮次、π块与恢复存在长尾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延迟发现偏差、局部恢复失效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成功、无进展轮、恢复代价、AoI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Jev有限选择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接口源码已核实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RPent收益未验证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状态／候选生成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回退与额外调用成本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固定状态与候选比较，计完整链路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本地π／NPU调度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局部handler与探针可定位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共置干扰、过期动作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deadline、chunk gap、整集关键路径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91440" marR="91440" marT="45720" marB="4572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</a:tbl>
          </a:graphicData>
        </a:graphic>
      </p:graphicFrame>
      <p:sp>
        <p:nvSpPr>
          <p:cNvPr id="5" name="候选仍未选定。按共同质量门槛比较完整链路收益，并保留所有attempt成本。"/>
          <p:cNvSpPr>
            <a:spLocks noGrp="1"/>
          </p:cNvSpPr>
          <p:nvPr/>
        </p:nvSpPr>
        <p:spPr>
          <a:xfrm>
            <a:off x="609600" y="5514975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候选仍未选定。按共同质量门槛比较完整链路收益，并保留所有attempt成本。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Astra／Jev／VLA：四种架构候选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Astra／Jev／VLA：四种架构候选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RPent已有π技能。Jev为文本有限选择器，EmbodiedJev数值伺服与RPe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RPent已有π技能。Jev为文本有限选择器，EmbodiedJev数值伺服与RPent的VLA属不同实验链。〔E1/E3〕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17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17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524000"/>
          <a:ext cx="10972800" cy="3476625"/>
        </p:xfrm>
        <a:graphic>
          <a:graphicData uri="http://schemas.openxmlformats.org/drawingml/2006/table">
            <a:tbl>
              <a:tblPr/>
              <a:tblGrid>
                <a:gridCol w="2714625"/>
                <a:gridCol w="3238500"/>
                <a:gridCol w="2286000"/>
                <a:gridCol w="2733675"/>
              </a:tblGrid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76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架构候选</a:t>
                      </a:r>
                      <a:endParaRPr sz="176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职责分配</a:t>
                      </a:r>
                      <a:endParaRPr sz="176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潜在收益</a:t>
                      </a:r>
                      <a:endParaRPr sz="176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新增成本／约束</a:t>
                      </a:r>
                      <a:endParaRPr sz="176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现有Astra＋技能/VLA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Astra按现有闭环调用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几何工具／π技能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保留现有基线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重复往返与恢复长尾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低频Astra＋VLA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Astra定阶段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VLA执行有限动作块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减少高层调用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进展监测与过期动作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Jev选择＋VLA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外部提供状态／候选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Jev选择，VLA执行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有限选择器处理事件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状态／候选生成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回退与额外调用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Astra＋Jev＋VLA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Astra感知和规划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Jev选择，VLA执行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分离规划与选择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候选错误与串行延迟</a:t>
                      </a:r>
                      <a:endParaRPr sz="17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若Astra每轮仍先生成候选再串行调用Jev，可能新增等待，整体收益尚未验证。"/>
          <p:cNvSpPr>
            <a:spLocks noGrp="1"/>
          </p:cNvSpPr>
          <p:nvPr/>
        </p:nvSpPr>
        <p:spPr>
          <a:xfrm>
            <a:off x="609600" y="52101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若Astra每轮仍先生成候选再串行调用Jev，可能新增等待，整体收益尚未验证。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规则／Astra／Jev固定状态与候选消融，保持安全约束、触发条件和回退预算相同。"/>
          <p:cNvSpPr>
            <a:spLocks noGrp="1"/>
          </p:cNvSpPr>
          <p:nvPr/>
        </p:nvSpPr>
        <p:spPr>
          <a:xfrm>
            <a:off x="609600" y="56197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规则／Astra／Jev固定状态与候选消融，保持安全约束、触发条件和回退预算相同。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技术趋势与局部实时性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技术趋势与局部实时性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官方机制借鉴，访问2026-10-14。固定帧π探针非在线handler均值，上游频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官方机制借鉴，访问2026-10-14。固定帧π探针非在线handler均值，上游频率不可直接套用。〔E3〕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18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18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524000"/>
          <a:ext cx="10972800" cy="2543176"/>
        </p:xfrm>
        <a:graphic>
          <a:graphicData uri="http://schemas.openxmlformats.org/drawingml/2006/table">
            <a:tbl>
              <a:tblPr/>
              <a:tblGrid>
                <a:gridCol w="2076450"/>
                <a:gridCol w="4438650"/>
                <a:gridCol w="4457700"/>
              </a:tblGrid>
              <a:tr h="63579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工作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可借鉴机制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本项目验证点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Hi Robot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高层语言子任务与低层执行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子目标是否减少无效往返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Helix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S2/S1异频与异步协同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观测年龄、阶段版本与触发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RTC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执行旧chunk时生成新chunk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chunk连续性与过期动作处理</a:t>
                      </a:r>
                      <a:endParaRPr sz="1800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</a:tbl>
          </a:graphicData>
        </a:graphic>
      </p:graphicFrame>
      <p:sp>
        <p:nvSpPr>
          <p:cNvPr id="5" name="局部窗口：384 ms / chunk ＞ 5步 × 50 ms＝250 ms"/>
          <p:cNvSpPr>
            <a:spLocks noGrp="1"/>
          </p:cNvSpPr>
          <p:nvPr/>
        </p:nvSpPr>
        <p:spPr>
          <a:xfrm>
            <a:off x="609600" y="4333875"/>
            <a:ext cx="109728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17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78B9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局部窗口：384 ms / chunk ＞ 5步 × 50 ms＝250 ms</a:t>
            </a:r>
            <a:endParaRPr sz="2175" b="1">
              <a:solidFill>
                <a:srgbClr val="078B9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本地VLA可优化算子与调度，仍需同时测deadline、chunk gap和设备共置"/>
          <p:cNvSpPr>
            <a:spLocks noGrp="1"/>
          </p:cNvSpPr>
          <p:nvPr/>
        </p:nvSpPr>
        <p:spPr>
          <a:xfrm>
            <a:off x="609600" y="51149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本地VLA可优化算子与调度，仍需同时测deadline、chunk gap和设备共置。</a:t>
            </a:r>
            <a:endParaRPr sz="176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云端Astra/Jev的可控项主要是输入、连接与调用策略，供应商内部计算保持未知。"/>
          <p:cNvSpPr>
            <a:spLocks noGrp="1"/>
          </p:cNvSpPr>
          <p:nvPr/>
        </p:nvSpPr>
        <p:spPr>
          <a:xfrm>
            <a:off x="609600" y="55340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65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云端Astra/Jev的可控项主要是输入、连接与调用策略，供应商内部计算保持未知。</a:t>
            </a:r>
            <a:endParaRPr sz="1765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结论与质量门槛"/>
          <p:cNvSpPr>
            <a:spLocks noGrp="1"/>
          </p:cNvSpPr>
          <p:nvPr/>
        </p:nvSpPr>
        <p:spPr>
          <a:xfrm>
            <a:off x="609600" y="4000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05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结论与质量门槛</a:t>
            </a:r>
            <a:endParaRPr sz="3205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质量基本不降，候选路线未定。没有足够样本时只报告区间与趋势，不承诺非劣性。〔E3设计"/>
          <p:cNvSpPr>
            <a:spLocks noGrp="1"/>
          </p:cNvSpPr>
          <p:nvPr/>
        </p:nvSpPr>
        <p:spPr>
          <a:xfrm>
            <a:off x="609600" y="6191250"/>
            <a:ext cx="10458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质量基本不降，候选路线未定。没有足够样本时只报告区间与趋势，不承诺非劣性。〔E3设计〕</a:t>
            </a:r>
            <a:endParaRPr sz="1315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19"/>
          <p:cNvSpPr>
            <a:spLocks noGrp="1"/>
          </p:cNvSpPr>
          <p:nvPr/>
        </p:nvSpPr>
        <p:spPr>
          <a:xfrm>
            <a:off x="11201400" y="6257925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5A6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19</a:t>
            </a:r>
            <a:endParaRPr sz="1350" b="0">
              <a:solidFill>
                <a:srgbClr val="5A6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524000"/>
          <a:ext cx="10972800" cy="3352800"/>
        </p:xfrm>
        <a:graphic>
          <a:graphicData uri="http://schemas.openxmlformats.org/drawingml/2006/table">
            <a:tbl>
              <a:tblPr/>
              <a:tblGrid>
                <a:gridCol w="2247900"/>
                <a:gridCol w="4495800"/>
                <a:gridCol w="4229100"/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阶段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可交付结果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晋级条件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T w="7620">
                      <a:solidFill>
                        <a:srgbClr val="D4E1E7"/>
                      </a:solidFill>
                      <a:prstDash val="solid"/>
                    </a:lnT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123451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证据补全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MT同口径、SSE边界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逻辑请求与attempt标识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数字可追溯，质量和时钟定义明确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固定状态对照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档位、缓存、规则／Jev单次质量与延迟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动作合法，选择质量满足约定门槛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配对闭环比较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成功、完成质量、轮次、恢复与全部成本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质量基本不降且整集关键路径缩短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EFF6F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部署与实时验证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L w="7620">
                      <a:solidFill>
                        <a:srgbClr val="D4E1E7"/>
                      </a:solidFill>
                      <a:prstDash val="solid"/>
                    </a:lnL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NPU热点、共置、AoI与chunk gap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65" b="0">
                          <a:solidFill>
                            <a:srgbClr val="18354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局部deadline满足，质量收益能保留</a:t>
                      </a:r>
                      <a:endParaRPr sz="1765" b="0">
                        <a:solidFill>
                          <a:srgbClr val="18354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14300" marR="114300" marT="114300" marB="114300" anchor="ctr">
                    <a:lnR w="7620">
                      <a:solidFill>
                        <a:srgbClr val="D4E1E7"/>
                      </a:solidFill>
                      <a:prstDash val="solid"/>
                    </a:lnR>
                    <a:lnB w="7620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已有成果：建立成功率、总账与请求窗口的分层证据，定位长程质量和等待长尾。"/>
          <p:cNvSpPr>
            <a:spLocks noGrp="1"/>
          </p:cNvSpPr>
          <p:nvPr/>
        </p:nvSpPr>
        <p:spPr>
          <a:xfrm>
            <a:off x="609600" y="52101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800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12345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已有成果：建立成功率、总账与请求窗口的分层证据，定位长程质量和等待长尾。</a:t>
            </a:r>
            <a:endParaRPr sz="1800" b="1">
              <a:solidFill>
                <a:srgbClr val="12345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下一步：用共同质量门槛比较候选路线，再决定投入方向和部署方式。"/>
          <p:cNvSpPr>
            <a:spLocks noGrp="1"/>
          </p:cNvSpPr>
          <p:nvPr/>
        </p:nvSpPr>
        <p:spPr>
          <a:xfrm>
            <a:off x="609600" y="56197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800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1835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下一步：用共同质量门槛比较候选路线，再决定投入方向和部署方式。</a:t>
            </a:r>
            <a:endParaRPr sz="1800" b="0">
              <a:solidFill>
                <a:srgbClr val="1835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Evidence Review">
      <a:dk1>
        <a:srgbClr val="000000"/>
      </a:dk1>
      <a:lt1>
        <a:srgbClr val="FFFFFF"/>
      </a:lt1>
      <a:dk2>
        <a:srgbClr val="123451"/>
      </a:dk2>
      <a:lt2>
        <a:srgbClr val="EFF6F8"/>
      </a:lt2>
      <a:accent1>
        <a:srgbClr val="123451"/>
      </a:accent1>
      <a:accent2>
        <a:srgbClr val="078B98"/>
      </a:accent2>
      <a:accent3>
        <a:srgbClr val="4D86AD"/>
      </a:accent3>
      <a:accent4>
        <a:srgbClr val="9AB6C9"/>
      </a:accent4>
      <a:accent5>
        <a:srgbClr val="B6C8D4"/>
      </a:accent5>
      <a:accent6>
        <a:srgbClr val="718CA1"/>
      </a:accent6>
      <a:hlink>
        <a:srgbClr val="078B98"/>
      </a:hlink>
      <a:folHlink>
        <a:srgbClr val="4D86A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Evidence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Evidence Review">
      <a:dk1>
        <a:srgbClr val="000000"/>
      </a:dk1>
      <a:lt1>
        <a:srgbClr val="FFFFFF"/>
      </a:lt1>
      <a:dk2>
        <a:srgbClr val="123451"/>
      </a:dk2>
      <a:lt2>
        <a:srgbClr val="EFF6F8"/>
      </a:lt2>
      <a:accent1>
        <a:srgbClr val="123451"/>
      </a:accent1>
      <a:accent2>
        <a:srgbClr val="078B98"/>
      </a:accent2>
      <a:accent3>
        <a:srgbClr val="4D86AD"/>
      </a:accent3>
      <a:accent4>
        <a:srgbClr val="9AB6C9"/>
      </a:accent4>
      <a:accent5>
        <a:srgbClr val="B6C8D4"/>
      </a:accent5>
      <a:accent6>
        <a:srgbClr val="718CA1"/>
      </a:accent6>
      <a:hlink>
        <a:srgbClr val="078B98"/>
      </a:hlink>
      <a:folHlink>
        <a:srgbClr val="4D86A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Evidence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5876</Words>
  <Application>WPS 演示</Application>
  <PresentationFormat>Converted Presentation</PresentationFormat>
  <Paragraphs>915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宋体</vt:lpstr>
      <vt:lpstr>Wingdings</vt:lpstr>
      <vt:lpstr>Hiragino Sans GB</vt:lpstr>
      <vt:lpstr>微软雅黑</vt:lpstr>
      <vt:lpstr>方正雅意黑 GB18030L2</vt:lpstr>
      <vt:lpstr>宋体</vt:lpstr>
      <vt:lpstr>Arial Unicode MS</vt:lpstr>
      <vt:lpstr>汉仪书宋二KW</vt:lpstr>
      <vt:lpstr>Calibri</vt:lpstr>
      <vt:lpstr>Helvetica Neue</vt:lpstr>
      <vt:lpstr>MS PGothic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/>
  <cp:lastModifiedBy/>
  <cp:revision>1</cp:revision>
  <dcterms:created xsi:type="dcterms:W3CDTF">2026-10-15T00:59:27Z</dcterms:created>
  <dcterms:modified xsi:type="dcterms:W3CDTF">2026-10-15T00:59:27Z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017FA9D2D28F5E416F25D06A59AB277E_42</vt:lpwstr>
  </property>
  <property fmtid="{D5CDD505-2E9C-101B-9397-08002B2CF9AE}" pid="3" name="KSOProductBuildVer">
    <vt:lpwstr>2052-12.1.26046.26046</vt:lpwstr>
  </property>
</Properties>
</file>