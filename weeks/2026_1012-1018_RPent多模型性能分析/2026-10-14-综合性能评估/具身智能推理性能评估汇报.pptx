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4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5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a13a8853f84083" /><Relationship Type="http://schemas.openxmlformats.org/officeDocument/2006/relationships/extended-properties" Target="/docProps/app.xml" Id="R2cca53b04d5040db" /><Relationship Type="http://schemas.openxmlformats.org/officeDocument/2006/relationships/officeDocument" Target="/ppt/presentation.xml" Id="R46e244d28c424b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1fe332155b4358"/>
  </p:sldMasterIdLst>
  <p:notesMasterIdLst>
    <p:notesMasterId xmlns:r="http://schemas.openxmlformats.org/officeDocument/2006/relationships" r:id="Rb67117ac98d149d6"/>
  </p:notesMasterIdLst>
  <p:sldIdLst>
    <p:sldId xmlns:r="http://schemas.openxmlformats.org/officeDocument/2006/relationships" id="256" r:id="R28573c709cd84900"/>
    <p:sldId xmlns:r="http://schemas.openxmlformats.org/officeDocument/2006/relationships" id="257" r:id="R070686c4a888490e"/>
    <p:sldId xmlns:r="http://schemas.openxmlformats.org/officeDocument/2006/relationships" id="258" r:id="Rb510c54bad4e4f37"/>
    <p:sldId xmlns:r="http://schemas.openxmlformats.org/officeDocument/2006/relationships" id="259" r:id="Rb8f8156749d04951"/>
    <p:sldId xmlns:r="http://schemas.openxmlformats.org/officeDocument/2006/relationships" id="260" r:id="R36017948d95541f7"/>
    <p:sldId xmlns:r="http://schemas.openxmlformats.org/officeDocument/2006/relationships" id="261" r:id="Rb99fbb0d14f24d98"/>
    <p:sldId xmlns:r="http://schemas.openxmlformats.org/officeDocument/2006/relationships" id="262" r:id="R2b2b6e70a2a94eea"/>
    <p:sldId xmlns:r="http://schemas.openxmlformats.org/officeDocument/2006/relationships" id="263" r:id="Ra047619694204f3e"/>
    <p:sldId xmlns:r="http://schemas.openxmlformats.org/officeDocument/2006/relationships" id="264" r:id="Re506446868f949a7"/>
    <p:sldId xmlns:r="http://schemas.openxmlformats.org/officeDocument/2006/relationships" id="265" r:id="R067a5f323a7b4330"/>
    <p:sldId xmlns:r="http://schemas.openxmlformats.org/officeDocument/2006/relationships" id="266" r:id="Ra08db54d4f92447f"/>
    <p:sldId xmlns:r="http://schemas.openxmlformats.org/officeDocument/2006/relationships" id="267" r:id="R0983ad65405f4518"/>
    <p:sldId xmlns:r="http://schemas.openxmlformats.org/officeDocument/2006/relationships" id="268" r:id="R80b2376bc9894df7"/>
    <p:sldId xmlns:r="http://schemas.openxmlformats.org/officeDocument/2006/relationships" id="269" r:id="Rfbcd05eff0a6489d"/>
    <p:sldId xmlns:r="http://schemas.openxmlformats.org/officeDocument/2006/relationships" id="270" r:id="R21f384a2e6bc44dd"/>
    <p:sldId xmlns:r="http://schemas.openxmlformats.org/officeDocument/2006/relationships" id="271" r:id="R41457f958ee64bd4"/>
    <p:sldId xmlns:r="http://schemas.openxmlformats.org/officeDocument/2006/relationships" id="272" r:id="R96dc51fe37d14a23"/>
    <p:sldId xmlns:r="http://schemas.openxmlformats.org/officeDocument/2006/relationships" id="273" r:id="Rbbfc38afd7c34746"/>
    <p:sldId xmlns:r="http://schemas.openxmlformats.org/officeDocument/2006/relationships" id="274" r:id="Re446240bf33d45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b28e8435e9e45a5" /><Relationship Type="http://schemas.openxmlformats.org/officeDocument/2006/relationships/slideMaster" Target="/ppt/slideMasters/slideMaster1.xml" Id="R1d1fe332155b4358" /><Relationship Type="http://schemas.openxmlformats.org/officeDocument/2006/relationships/notesMaster" Target="/ppt/notesMasters/notesMaster1.xml" Id="Rb67117ac98d149d6" /><Relationship Type="http://schemas.openxmlformats.org/officeDocument/2006/relationships/presProps" Target="/ppt/presProps.xml" Id="R6330fe7b212f4d4d" /><Relationship Type="http://schemas.openxmlformats.org/officeDocument/2006/relationships/tableStyles" Target="/ppt/tableStyles.xml" Id="R598716e83d344a55" /><Relationship Type="http://schemas.openxmlformats.org/officeDocument/2006/relationships/slide" Target="/ppt/slides/slide1.xml" Id="R28573c709cd84900" /><Relationship Type="http://schemas.openxmlformats.org/officeDocument/2006/relationships/slide" Target="/ppt/slides/slide2.xml" Id="R070686c4a888490e" /><Relationship Type="http://schemas.openxmlformats.org/officeDocument/2006/relationships/slide" Target="/ppt/slides/slide3.xml" Id="Rb510c54bad4e4f37" /><Relationship Type="http://schemas.openxmlformats.org/officeDocument/2006/relationships/slide" Target="/ppt/slides/slide4.xml" Id="Rb8f8156749d04951" /><Relationship Type="http://schemas.openxmlformats.org/officeDocument/2006/relationships/slide" Target="/ppt/slides/slide5.xml" Id="R36017948d95541f7" /><Relationship Type="http://schemas.openxmlformats.org/officeDocument/2006/relationships/slide" Target="/ppt/slides/slide6.xml" Id="Rb99fbb0d14f24d98" /><Relationship Type="http://schemas.openxmlformats.org/officeDocument/2006/relationships/slide" Target="/ppt/slides/slide7.xml" Id="R2b2b6e70a2a94eea" /><Relationship Type="http://schemas.openxmlformats.org/officeDocument/2006/relationships/slide" Target="/ppt/slides/slide8.xml" Id="Ra047619694204f3e" /><Relationship Type="http://schemas.openxmlformats.org/officeDocument/2006/relationships/slide" Target="/ppt/slides/slide9.xml" Id="Re506446868f949a7" /><Relationship Type="http://schemas.openxmlformats.org/officeDocument/2006/relationships/slide" Target="/ppt/slides/slide10.xml" Id="R067a5f323a7b4330" /><Relationship Type="http://schemas.openxmlformats.org/officeDocument/2006/relationships/slide" Target="/ppt/slides/slide11.xml" Id="Ra08db54d4f92447f" /><Relationship Type="http://schemas.openxmlformats.org/officeDocument/2006/relationships/slide" Target="/ppt/slides/slide12.xml" Id="R0983ad65405f4518" /><Relationship Type="http://schemas.openxmlformats.org/officeDocument/2006/relationships/slide" Target="/ppt/slides/slide13.xml" Id="R80b2376bc9894df7" /><Relationship Type="http://schemas.openxmlformats.org/officeDocument/2006/relationships/slide" Target="/ppt/slides/slide14.xml" Id="Rfbcd05eff0a6489d" /><Relationship Type="http://schemas.openxmlformats.org/officeDocument/2006/relationships/slide" Target="/ppt/slides/slide15.xml" Id="R21f384a2e6bc44dd" /><Relationship Type="http://schemas.openxmlformats.org/officeDocument/2006/relationships/slide" Target="/ppt/slides/slide16.xml" Id="R41457f958ee64bd4" /><Relationship Type="http://schemas.openxmlformats.org/officeDocument/2006/relationships/slide" Target="/ppt/slides/slide17.xml" Id="R96dc51fe37d14a23" /><Relationship Type="http://schemas.openxmlformats.org/officeDocument/2006/relationships/slide" Target="/ppt/slides/slide18.xml" Id="Rbbfc38afd7c34746" /><Relationship Type="http://schemas.openxmlformats.org/officeDocument/2006/relationships/slide" Target="/ppt/slides/slide19.xml" Id="Re446240bf33d45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e3080dc00647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Evidence Review">
      <a:dk1>
        <a:srgbClr val="000000"/>
      </a:dk1>
      <a:lt1>
        <a:srgbClr val="FFFFFF"/>
      </a:lt1>
      <a:dk2>
        <a:srgbClr val="123451"/>
      </a:dk2>
      <a:lt2>
        <a:srgbClr val="EFF6F8"/>
      </a:lt2>
      <a:accent1>
        <a:srgbClr val="123451"/>
      </a:accent1>
      <a:accent2>
        <a:srgbClr val="078B98"/>
      </a:accent2>
      <a:accent3>
        <a:srgbClr val="4D86AD"/>
      </a:accent3>
      <a:accent4>
        <a:srgbClr val="9AB6C9"/>
      </a:accent4>
      <a:accent5>
        <a:srgbClr val="B6C8D4"/>
      </a:accent5>
      <a:accent6>
        <a:srgbClr val="718CA1"/>
      </a:accent6>
      <a:hlink>
        <a:srgbClr val="078B98"/>
      </a:hlink>
      <a:folHlink>
        <a:srgbClr val="4D86AD"/>
      </a:folHlink>
    </a:clrScheme>
    <a:fontScheme name="">
      <a:majorFont>
        <a:latin typeface="Hiragino Sans GB"/>
        <a:ea typeface=""/>
        <a:cs typeface=""/>
      </a:majorFont>
      <a:minorFont>
        <a:latin typeface="Hiragino Sans GB"/>
        <a:ea typeface=""/>
        <a:cs typeface=""/>
      </a:minorFont>
    </a:fontScheme>
    <a:fmtScheme name="Evidence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dc8c3403df4c34" /><Relationship Type="http://schemas.openxmlformats.org/officeDocument/2006/relationships/notesMaster" Target="/ppt/notesMasters/notesMaster1.xml" Id="R27de62da217949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5dfb5005434980" /><Relationship Type="http://schemas.openxmlformats.org/officeDocument/2006/relationships/notesMaster" Target="/ppt/notesMasters/notesMaster1.xml" Id="R800178296da74a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00eaf1098f48d3" /><Relationship Type="http://schemas.openxmlformats.org/officeDocument/2006/relationships/notesMaster" Target="/ppt/notesMasters/notesMaster1.xml" Id="R0f5d7f6a6cb94b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cdf67608ba4f8d" /><Relationship Type="http://schemas.openxmlformats.org/officeDocument/2006/relationships/notesMaster" Target="/ppt/notesMasters/notesMaster1.xml" Id="Rfcbcd3f10e4646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73b2e5951945f7" /><Relationship Type="http://schemas.openxmlformats.org/officeDocument/2006/relationships/notesMaster" Target="/ppt/notesMasters/notesMaster1.xml" Id="R571fbf24d1d044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8b5461bef04a46" /><Relationship Type="http://schemas.openxmlformats.org/officeDocument/2006/relationships/notesMaster" Target="/ppt/notesMasters/notesMaster1.xml" Id="Rff07c9bf3fbf42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2b4c6cfcc24017" /><Relationship Type="http://schemas.openxmlformats.org/officeDocument/2006/relationships/notesMaster" Target="/ppt/notesMasters/notesMaster1.xml" Id="R4f72fea5f3984f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b267961a0c4c83" /><Relationship Type="http://schemas.openxmlformats.org/officeDocument/2006/relationships/notesMaster" Target="/ppt/notesMasters/notesMaster1.xml" Id="Rca4abd8e91764f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1ab86966834d7d" /><Relationship Type="http://schemas.openxmlformats.org/officeDocument/2006/relationships/notesMaster" Target="/ppt/notesMasters/notesMaster1.xml" Id="Rc72ed8daff1548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7937768180c44ad" /><Relationship Type="http://schemas.openxmlformats.org/officeDocument/2006/relationships/notesMaster" Target="/ppt/notesMasters/notesMaster1.xml" Id="Rb2f062013ff849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753179a07e443c" /><Relationship Type="http://schemas.openxmlformats.org/officeDocument/2006/relationships/notesMaster" Target="/ppt/notesMasters/notesMaster1.xml" Id="R8050154e9794442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dbc2d4ed1a4275" /><Relationship Type="http://schemas.openxmlformats.org/officeDocument/2006/relationships/notesMaster" Target="/ppt/notesMasters/notesMaster1.xml" Id="R1a69932cb84f45b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72092377cd4efb" /><Relationship Type="http://schemas.openxmlformats.org/officeDocument/2006/relationships/notesMaster" Target="/ppt/notesMasters/notesMaster1.xml" Id="R456a1885fc08486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622393a6a34027" /><Relationship Type="http://schemas.openxmlformats.org/officeDocument/2006/relationships/notesMaster" Target="/ppt/notesMasters/notesMaster1.xml" Id="Rdfb02982d0654ca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4c34484af2d4f3d" /><Relationship Type="http://schemas.openxmlformats.org/officeDocument/2006/relationships/notesMaster" Target="/ppt/notesMasters/notesMaster1.xml" Id="Rdf86c98407f341d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ae56c179e4c49ea" /><Relationship Type="http://schemas.openxmlformats.org/officeDocument/2006/relationships/notesMaster" Target="/ppt/notesMasters/notesMaster1.xml" Id="R548e4776a4b44f0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ddc84adef9444f2" /><Relationship Type="http://schemas.openxmlformats.org/officeDocument/2006/relationships/notesMaster" Target="/ppt/notesMasters/notesMaster1.xml" Id="R645dfcf47564446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f3e6c42408c4931" /><Relationship Type="http://schemas.openxmlformats.org/officeDocument/2006/relationships/notesMaster" Target="/ppt/notesMasters/notesMaster1.xml" Id="Re0ccb11f30c943c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d87d22b23204584" /><Relationship Type="http://schemas.openxmlformats.org/officeDocument/2006/relationships/notesMaster" Target="/ppt/notesMasters/notesMaster1.xml" Id="R31e90d0e37a04e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embodied-ai/weeks/2026_0928-1004_RPent双脑对照与回馈/2026-10-01-RPent-Codex双模型120集结果.md，v1.0。</a:t>
            </a:r>
          </a:p>
          <a:p xmlns:a="http://schemas.openxmlformats.org/drawingml/2006/main">
            <a:r>
              <a:t>embodied-ai/weeks/2026_1005-1011_RPent推理性能分析/2026-10-08-RPent-120集推理耗时与优化报告.html，v2.0，总账与问题01/02。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2026-10-14 用户转述 MT 最新实验反馈：low think 阶段指标4.6s降至1.4s。E4，尚缺模型、配置、样本、均值/中位数、时钟边界与成功结果。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embodied-ai/weeks/2026_1005-1011_RPent推理性能分析/2026-10-08-RPent-120集推理耗时与优化报告.html，v2.0，总账与问题01/02。</a:t>
            </a:r>
          </a:p>
          <a:p xmlns:a="http://schemas.openxmlformats.org/drawingml/2006/main">
            <a:r>
              <a:t>embodied-ai/weeks/2026_1005-1011_RPent推理性能分析/deep-report/RPent-两场景深度计时报告.html，8集明细、本地子阶段与计时边界。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指标设计：同一请求需统一request_id、观测时间、发送、首SSE、首非空输出、首正文/工具与结束时间，区分可见reasoning和hidden reasoning。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GPT-as-Policy-repro/data/decision_v2_20260922/index.html，v1.9，2026-09-29，§5–§8及九回合汇总。审查摘录：experiment_evidence.md §1。</a:t>
            </a:r>
          </a:p>
          <a:p xmlns:a="http://schemas.openxmlformats.org/drawingml/2006/main">
            <a:r>
              <a:t>embodied-ai/weeks/2026_0914-0920_GPT6Astra评测复现/2026-09-16-bowl-eval-v1四模型总结报告.html，v1.2，§3.6。同seed补测：embodied-ai/weeks/2026_0921-0927_同机仿真与云边验证/2026-09-23-GPT6-Sol-bowl五次与Astra同seed对照.md，v1.1。</a:t>
            </a:r>
          </a:p>
          <a:p xmlns:a="http://schemas.openxmlformats.org/drawingml/2006/main">
            <a:r>
              <a:t>embodied-ai/weeks/2026_0928-1004_RPent双脑对照与回馈/2026-10-01-RPent-Codex双模型120集结果.md，v1.0。</a:t>
            </a:r>
          </a:p>
          <a:p xmlns:a="http://schemas.openxmlformats.org/drawingml/2006/main">
            <a:r>
              <a:t>embodied-ai/weeks/2026_1005-1011_RPent推理性能分析/deep-report/RPent-两场景深度计时报告.html，8集明细、本地子阶段与计时边界。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本地已审查脱敏摘录：rpent_evidence.md §5。源文件 ds_flash_v5_report.html（2026-10-11）与 files_api_report.html（2026-10-10），属于两个独立实验，原件不对外复制。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GPT-as-Policy-repro/data/decision_v2_20260922/index.html，v1.9，2026-09-29，§5–§8及九回合汇总。审查摘录：experiment_evidence.md §1。</a:t>
            </a:r>
          </a:p>
          <a:p xmlns:a="http://schemas.openxmlformats.org/drawingml/2006/main">
            <a:r>
              <a:t>init0。平均整轮与episode边界不同，最终视频编码未计入。Hybrid全放行不能归因为GPT纠错。</a:t>
            </a:r>
          </a:p>
          <a:p xmlns:a="http://schemas.openxmlformats.org/drawingml/2006/main">
            <a:r>
              <a:t>Direct请求10.8190s，TTFT7.3396s，首至末可见decode3.1554s，可见TPOT估算25.549ms/token。Hybrid14.3735/4.4549/9.6181s，29.062ms/token。无纯prefill、thinking时长或请求p50/p95。Direct总输出160.81tokens/turn，其中reasoning36.42，Hybrid总输出331.84且reasoning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embodied-ai/weeks/2026_0914-0920_GPT6Astra评测复现/2026-09-16-bowl-eval-v1四模型总结报告.html，v1.2，§3.6。同seed补测：embodied-ai/weeks/2026_0921-0927_同机仿真与云边验证/2026-09-23-GPT6-Sol-bowl五次与Astra同seed对照.md，v1.1。</a:t>
            </a:r>
          </a:p>
          <a:p xmlns:a="http://schemas.openxmlformats.org/drawingml/2006/main">
            <a:r>
              <a:t>同seed补测没有可用LLM分段，不用episode/轮数冒充请求等待。Astra/Sol成功轨迹仍有stage3–4边界。</a:t>
            </a:r>
          </a:p>
          <a:p xmlns:a="http://schemas.openxmlformats.org/drawingml/2006/main">
            <a:r>
              <a:t>原四批：Astra27.2s占94.6%，GLM约117s推算、DS135s占99.2%、Qwen约110s推算。原§3.4仅wall列明确前5配对，其他三家等待统计子集未独立注明。不能填入9/23新组或构成请求速度排名。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embodied-ai/weeks/2026_0928-1004_RPent双脑对照与回馈/2026-10-01-RPent-Codex双模型120集结果.md，v1.0。</a:t>
            </a:r>
          </a:p>
          <a:p xmlns:a="http://schemas.openxmlformats.org/drawingml/2006/main">
            <a:r>
              <a:t>embodied-ai/weeks/2026_1005-1011_RPent推理性能分析/2026-10-08-RPent-120集推理耗时与优化报告.html，v2.0，总账与问题01/02。</a:t>
            </a:r>
          </a:p>
          <a:p xmlns:a="http://schemas.openxmlformats.org/drawingml/2006/main">
            <a:r>
              <a:t>均值/中位s：Spatial Task Astra787.4/676.8，Sol1248.6/811.6。Spatial Swap Astra586.9/560.0，Sol943.7/828.9。Long Swap Astra973.7/919.5，Sol1630.1/1332.8。Sol Long t8/s1为5348.4s包含连接中断，排除此集剩19集均值1434.4s仅作敏感性分析，不替代主结果。含轨迹、轮次、网络等待，不是纯算力对照。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embodied-ai/weeks/2026_1005-1011_RPent推理性能分析/2026-10-08-RPent-120集推理耗时与优化报告.html，v2.0，总账与问题01/02。</a:t>
            </a:r>
          </a:p>
          <a:p xmlns:a="http://schemas.openxmlformats.org/drawingml/2006/main">
            <a:r>
              <a:t>精确桶值：非π动作45327.6，π原语9367.1，工具附加12429.8，SDK非MCP53394.0，SDK外2889.9秒。百分比按报告保留一位。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embodied-ai/weeks/2026_1005-1011_RPent推理性能分析/deep-report/RPent-两场景深度计时报告.html，8集明细、本地子阶段与计时边界。</a:t>
            </a:r>
          </a:p>
          <a:p xmlns:a="http://schemas.openxmlformats.org/drawingml/2006/main">
            <a:r>
              <a:t>总episode10965.30s。另2个SAM OOM attempt已发生成本3205.20s，应列复现成本。π handler非纯forward，prefix含编码、mask/position、KV。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embodied-ai/weeks/2026_1005-1011_RPent推理性能分析/deep-report/RPent-两场景深度计时报告.html，8集明细、本地子阶段与计时边界。</a:t>
            </a:r>
          </a:p>
          <a:p xmlns:a="http://schemas.openxmlformats.org/drawingml/2006/main">
            <a:r>
              <a:t>448逻辑轮次，473传输attempt。Sol t0/s1恢复562.95s，含render447.54s。Sol t9/s1恢复156.22s，render119.61s。扣两段render合计152.01s，占T*2.31%。Astra t9/s0有14次移动耗满预算672.90s，但目标残差不单独证明碰撞。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本地已审查脱敏摘录：rpent_evidence.md §5。源文件 ds_flash_v5_report.html（2026-10-11）与 files_api_report.html（2026-10-10），属于两个独立实验，原件不对外复制。</a:t>
            </a:r>
          </a:p>
          <a:p xmlns:a="http://schemas.openxmlformats.org/drawingml/2006/main">
            <a:r>
              <a:t>v5单局15轮182.5s，完整请求累计约93.6s。TTFT作者定义为到首SSE chunk。thinking=首chunk到首正文chunk，decode=首正文chunk到结束。TPOT旧表约4ms为派生。后续同局ds_v5按(total−TTFT)/(output−1)得p503.621ms/token，口径不同，不直接比较。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本地已审查脱敏摘录：rpent_evidence.md §5。源文件 ds_flash_v5_report.html（2026-10-11）与 files_api_report.html（2026-10-10），属于两个独立实验，原件不对外复制。</a:t>
            </a:r>
          </a:p>
          <a:p xmlns:a="http://schemas.openxmlformats.org/drawingml/2006/main">
            <a:r>
              <a:t>第11轮：TTFT3.73s，thinking19.96s，decode0.86s，总24.5s，reasoning4491 tokens，其他280。第14轮：3.89/3.69/8.94s，总16.5s，reasoning890，其他2687 tokens。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本地已审查脱敏摘录：rpent_evidence.md §5。源文件 ds_flash_v5_report.html（2026-10-11）与 files_api_report.html（2026-10-10），属于两个独立实验，原件不对外复制。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v5原表15次payload均值3136.1/185.7KB，r15为10118/280KB。输入13094增至84686tokens，逐请求cache命中比例均值88.5%、p5097%，是舍入比例的不加权均值。Files API冷/热3次控制探针47,742prompt tokens、3图、277KB，冷1.45s/热约1.0s。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共同成功t0逻辑轮次63对57，medium seed1有26逻辑请求/27attempt，一次失败12.412s无TTFT。352.550s thinking只属于medium共同成功两集，按token估算。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单集205.3s。LLM110.534s=准备5.110+请求至响应头9.789+响应头至首输出6.837+首输出至结束88.796s，舍入有0.002s差。TTFT累计21.739s，p501.270s。14个可见thinking窗口68.663s，TPOT p503.931ms/token派生。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2026-10-14 用户转述 MT 最新实验反馈：low think 阶段指标4.6s降至1.4s。E4，尚缺模型、配置、样本、均值/中位数、时钟边界与成功结果。</a:t>
            </a:r>
          </a:p>
          <a:p xmlns:a="http://schemas.openxmlformats.org/drawingml/2006/main">
            <a:r>
              <a:t>阶段指标差3.2s，降69.565%，比值3.2857。图为条件演算：think占完整请求比例f，其他成本不变，则完整请求降幅0.696f。仅当4.6/1.4为每请求同口径均值且固定N并处关键路径，才可乘N估算整集。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https://github.com/FBddcz/embodied-jev/blob/f08de2e4e20d6cd69fea9c57ac1062c3ef510f1e/src/embodied_jev/libero_supervisor.py#L101-L289</a:t>
            </a:r>
          </a:p>
          <a:p xmlns:a="http://schemas.openxmlformats.org/drawingml/2006/main">
            <a:r>
              <a:t>https://github.com/FBddcz/embodied-jev/blob/f08de2e4e20d6cd69fea9c57ac1062c3ef510f1e/src/embodied_jev/policies.py#L277-L422</a:t>
            </a:r>
          </a:p>
          <a:p xmlns:a="http://schemas.openxmlformats.org/drawingml/2006/main">
            <a:r>
              <a:t>https://docs.typesafe.ai/concepts/system-one</a:t>
            </a:r>
          </a:p>
          <a:p xmlns:a="http://schemas.openxmlformats.org/drawingml/2006/main">
            <a:r>
              <a:t>https://docs.typesafe.ai/models</a:t>
            </a:r>
          </a:p>
          <a:p xmlns:a="http://schemas.openxmlformats.org/drawingml/2006/main">
            <a:r>
              <a:t>访问2026-10-14。</a:t>
            </a:r>
          </a:p>
          <a:p xmlns:a="http://schemas.openxmlformats.org/drawingml/2006/main">
            <a:r>
              <a:t>embodied-ai/weeks/2026_1012-1018_RPent多模型性能分析/2026-10-13-VLM-VLA双脑架构与推理优化调研.md</a:t>
            </a:r>
          </a:p>
          <a:p xmlns:a="http://schemas.openxmlformats.org/drawingml/2006/main">
            <a:r>
              <a:t>脱敏综合审查备忘录 jev_strategy.md §5–8，方案尚未执行。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2026-10-14 用户转述 MT 最新实验反馈：low think 阶段指标4.6s降至1.4s。E4，尚缺模型、配置、样本、均值/中位数、时钟边界与成功结果。</a:t>
            </a:r>
          </a:p>
          <a:p xmlns:a="http://schemas.openxmlformats.org/drawingml/2006/main">
            <a:r>
              <a:t>固定状态microbenchmark比较单次选择质量，闭环实验比较轨迹与完整成本。无预设可接受5个百分点下降。样本量由精度和检验目标决定。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https://github.com/FBddcz/embodied-jev/blob/f08de2e4e20d6cd69fea9c57ac1062c3ef510f1e/src/embodied_jev/libero_supervisor.py#L101-L289</a:t>
            </a:r>
          </a:p>
          <a:p xmlns:a="http://schemas.openxmlformats.org/drawingml/2006/main">
            <a:r>
              <a:t>https://github.com/FBddcz/embodied-jev/blob/f08de2e4e20d6cd69fea9c57ac1062c3ef510f1e/src/embodied_jev/policies.py#L277-L422</a:t>
            </a:r>
          </a:p>
          <a:p xmlns:a="http://schemas.openxmlformats.org/drawingml/2006/main">
            <a:r>
              <a:t>https://docs.typesafe.ai/concepts/system-one</a:t>
            </a:r>
          </a:p>
          <a:p xmlns:a="http://schemas.openxmlformats.org/drawingml/2006/main">
            <a:r>
              <a:t>https://docs.typesafe.ai/models</a:t>
            </a:r>
          </a:p>
          <a:p xmlns:a="http://schemas.openxmlformats.org/drawingml/2006/main">
            <a:r>
              <a:t>访问2026-10-14。</a:t>
            </a:r>
          </a:p>
          <a:p xmlns:a="http://schemas.openxmlformats.org/drawingml/2006/main">
            <a:r>
              <a:t>https://github.com/FBddcz/embodied-jev/blob/f08de2e4e20d6cd69fea9c57ac1062c3ef510f1e/docs/results/libero-vision/RESULTS.md#L1-L43</a:t>
            </a:r>
          </a:p>
          <a:p xmlns:a="http://schemas.openxmlformats.org/drawingml/2006/main">
            <a:r>
              <a:t>embodied-ai/weeks/2026_1012-1018_RPent多模型性能分析/2026-10-13-VLM-VLA双脑架构与推理优化调研.md</a:t>
            </a:r>
          </a:p>
          <a:p xmlns:a="http://schemas.openxmlformats.org/drawingml/2006/main">
            <a:r>
              <a:t>脱敏综合审查备忘录 jev_strategy.md §5–8，方案尚未执行。</a:t>
            </a:r>
          </a:p>
          <a:p xmlns:a="http://schemas.openxmlformats.org/drawingml/2006/main">
            <a:r>
              <a:t>Jev是外部text state+有限候选选择器，所审入口没有可部署权重。EmbodiedJev为集成工作台。LIBERO v2当前执行器是数值伺服，不是学习型VLA。Astra承担视觉、子目标、歧义和重规划；VLA接收图像、状态和指令生成动作块；确定性gate检查前提、预算、版本与动作边界。固定状态比较规则/Astra/Jev时共享候选、触发与确定性安全约束，仅替换选择器。所有候选整体收益均待受控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 Robot https://arxiv.org/abs/2502.19417v2</a:t>
            </a:r>
          </a:p>
          <a:p xmlns:a="http://schemas.openxmlformats.org/drawingml/2006/main">
            <a:r>
              <a:t>Helix https://www.figure.ai/news/helix</a:t>
            </a:r>
          </a:p>
          <a:p xmlns:a="http://schemas.openxmlformats.org/drawingml/2006/main">
            <a:r>
              <a:t>RTC https://arxiv.org/abs/2506.07339v2</a:t>
            </a:r>
          </a:p>
          <a:p xmlns:a="http://schemas.openxmlformats.org/drawingml/2006/main">
            <a:r>
              <a:t>访问2026-10-14。</a:t>
            </a:r>
          </a:p>
          <a:p xmlns:a="http://schemas.openxmlformats.org/drawingml/2006/main">
            <a:r>
              <a:t>embodied-ai/weeks/2026_1012-1018_RPent多模型性能分析/2026-10-13-具身VLM推理的芯片加速单元与验证路径.md</a:t>
            </a:r>
          </a:p>
          <a:p xmlns:a="http://schemas.openxmlformats.org/drawingml/2006/main">
            <a:r>
              <a:t>embodied-ai/weeks/2026_1012-1018_RPent多模型性能分析/2026-10-13-910B3本地VLM首批32次推理基线执行方案.md，计划非性能结果。</a:t>
            </a:r>
          </a:p>
          <a:p xmlns:a="http://schemas.openxmlformats.org/drawingml/2006/main">
            <a:r>
              <a:t>本地已审查脱敏摘录：rpent_evidence.md §5。源文件 ds_flash_v5_report.html（2026-10-11）与 files_api_report.html（2026-10-10），属于两个独立实验，原件不对外复制。</a:t>
            </a:r>
          </a:p>
          <a:p xmlns:a="http://schemas.openxmlformats.org/drawingml/2006/main">
            <a:r>
              <a:t>固定观测π探针10次383–384ms/chunk，5steps。50ms控制周期为条件示例。此探针不等于在线handler。API内部不可从本机NPU推断。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embodied-ai/weeks/2026_0928-1004_RPent双脑对照与回馈/2026-10-01-RPent-Codex双模型120集结果.md，v1.0。</a:t>
            </a:r>
          </a:p>
          <a:p xmlns:a="http://schemas.openxmlformats.org/drawingml/2006/main">
            <a:r>
              <a:t>embodied-ai/weeks/2026_1012-1018_RPent多模型性能分析/ds-report/RPent-DeepSeek-两场景性能审计.html，v1.5，思考档位、逐请求阶段与ds_t2_par。</a:t>
            </a:r>
          </a:p>
          <a:p xmlns:a="http://schemas.openxmlformats.org/drawingml/2006/main">
            <a:r>
              <a:t>2026-10-14 用户转述 MT 最新实验反馈：low think 阶段指标4.6s降至1.4s。E4，尚缺模型、配置、样本、均值/中位数、时钟边界与成功结果。</a:t>
            </a:r>
          </a:p>
          <a:p xmlns:a="http://schemas.openxmlformats.org/drawingml/2006/main">
            <a:r>
              <a:t>embodied-ai/weeks/2026_1012-1018_RPent多模型性能分析/2026-10-13-VLM-VLA双脑架构与推理优化调研.md</a:t>
            </a:r>
          </a:p>
          <a:p xmlns:a="http://schemas.openxmlformats.org/drawingml/2006/main">
            <a:r>
              <a:t>脱敏综合审查备忘录 jev_strategy.md §5–8，方案尚未执行。</a:t>
            </a:r>
          </a:p>
          <a:p xmlns:a="http://schemas.openxmlformats.org/drawingml/2006/main">
            <a:r>
              <a:t>事先固定质量谓词与可接受差异，由任务需求确认，不能擅定5个百分点。配对初态、完整成本含失败重试，样本量由要判别的质量差与不确定性确定。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8d4336f3074c2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a2ee3564ca46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5c106baaf74ba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f66de911b441d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f5a7256d3241d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99c30e88414c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2AEB73-A055-48E4-B12B-75111892F6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1481E7D-553C-493F-A508-0E3BD67AAD6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0FA54D5-2043-4CCD-954E-0A4FF2DF8C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668867-3F6D-4558-BA17-2AE44A44D7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5D513C9-0F35-4C9E-ABE6-F15D593B23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E4AF1E5-02A8-4250-890B-3FF5EDBE68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3A0B432-4430-47C7-B1D8-662366659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FF9040B-ECF2-43C3-8787-263568AF32E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4F32F6-99CE-41BF-850E-35A9853CD0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F8CEC84-3435-4BE6-A7ED-4C26EE111C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7abe112ba74e84" /><Relationship Type="http://schemas.openxmlformats.org/officeDocument/2006/relationships/slideLayout" Target="/ppt/slideLayouts/slideLayout1.xml" Id="Ra06e9f1494a14058" /><Relationship Type="http://schemas.openxmlformats.org/officeDocument/2006/relationships/slideLayout" Target="/ppt/slideLayouts/slideLayout2.xml" Id="R90a647e13c6b42ad" /><Relationship Type="http://schemas.openxmlformats.org/officeDocument/2006/relationships/slideLayout" Target="/ppt/slideLayouts/slideLayout3.xml" Id="R31c8f0ad8c1646ba" /><Relationship Type="http://schemas.openxmlformats.org/officeDocument/2006/relationships/slideLayout" Target="/ppt/slideLayouts/slideLayout4.xml" Id="R17ba58d30fb94922" /><Relationship Type="http://schemas.openxmlformats.org/officeDocument/2006/relationships/slideLayout" Target="/ppt/slideLayouts/slideLayout5.xml" Id="Rbc59c85e018e41fa" /><Relationship Type="http://schemas.openxmlformats.org/officeDocument/2006/relationships/slideLayout" Target="/ppt/slideLayouts/slideLayout6.xml" Id="R5ff204ae27bf4de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6e9f1494a14058"/>
    <p:sldLayoutId xmlns:r="http://schemas.openxmlformats.org/officeDocument/2006/relationships" id="2147483650" r:id="R90a647e13c6b42ad"/>
    <p:sldLayoutId xmlns:r="http://schemas.openxmlformats.org/officeDocument/2006/relationships" id="2147483651" r:id="R31c8f0ad8c1646ba"/>
    <p:sldLayoutId xmlns:r="http://schemas.openxmlformats.org/officeDocument/2006/relationships" id="2147483652" r:id="R17ba58d30fb94922"/>
    <p:sldLayoutId xmlns:r="http://schemas.openxmlformats.org/officeDocument/2006/relationships" id="2147483653" r:id="Rbc59c85e018e41fa"/>
    <p:sldLayoutId xmlns:r="http://schemas.openxmlformats.org/officeDocument/2006/relationships" id="2147483654" r:id="R5ff204ae27bf4de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Evidence Review">
      <a:dk1>
        <a:srgbClr val="000000"/>
      </a:dk1>
      <a:lt1>
        <a:srgbClr val="FFFFFF"/>
      </a:lt1>
      <a:dk2>
        <a:srgbClr val="123451"/>
      </a:dk2>
      <a:lt2>
        <a:srgbClr val="EFF6F8"/>
      </a:lt2>
      <a:accent1>
        <a:srgbClr val="123451"/>
      </a:accent1>
      <a:accent2>
        <a:srgbClr val="078B98"/>
      </a:accent2>
      <a:accent3>
        <a:srgbClr val="4D86AD"/>
      </a:accent3>
      <a:accent4>
        <a:srgbClr val="9AB6C9"/>
      </a:accent4>
      <a:accent5>
        <a:srgbClr val="B6C8D4"/>
      </a:accent5>
      <a:accent6>
        <a:srgbClr val="718CA1"/>
      </a:accent6>
      <a:hlink>
        <a:srgbClr val="078B98"/>
      </a:hlink>
      <a:folHlink>
        <a:srgbClr val="4D86AD"/>
      </a:folHlink>
    </a:clrScheme>
    <a:fontScheme name="">
      <a:majorFont>
        <a:latin typeface="Hiragino Sans GB"/>
        <a:ea typeface=""/>
        <a:cs typeface=""/>
      </a:majorFont>
      <a:minorFont>
        <a:latin typeface="Hiragino Sans GB"/>
        <a:ea typeface=""/>
        <a:cs typeface=""/>
      </a:minorFont>
    </a:fontScheme>
    <a:fmtScheme name="Evidence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48746c570d4b2b" /><Relationship Type="http://schemas.openxmlformats.org/officeDocument/2006/relationships/notesSlide" Target="/ppt/notesSlides/notesSlide1.xml" Id="Rcffdb3b0a9864d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1441771a384fb7" /><Relationship Type="http://schemas.openxmlformats.org/officeDocument/2006/relationships/notesSlide" Target="/ppt/notesSlides/notesSlide2.xml" Id="R29768ce1e1ac44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adc65c33aa46dd" /><Relationship Type="http://schemas.openxmlformats.org/officeDocument/2006/relationships/notesSlide" Target="/ppt/notesSlides/notesSlide3.xml" Id="R4c9c4eb9c06e4b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1c69ded8294ff8" /><Relationship Type="http://schemas.openxmlformats.org/officeDocument/2006/relationships/notesSlide" Target="/ppt/notesSlides/notesSlide4.xml" Id="Rfc284838d79a42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e9c16acef548ff" /><Relationship Type="http://schemas.openxmlformats.org/officeDocument/2006/relationships/notesSlide" Target="/ppt/notesSlides/notesSlide5.xml" Id="Rf6da7e38110c4d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c743c3792c49b7" /><Relationship Type="http://schemas.openxmlformats.org/officeDocument/2006/relationships/chart" Target="/ppt/slides/charts/chart1.xml" Id="Rb8f2ba2eb9804823" /><Relationship Type="http://schemas.openxmlformats.org/officeDocument/2006/relationships/notesSlide" Target="/ppt/notesSlides/notesSlide6.xml" Id="R8bb0c0e5b4df44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57b02b272a4796" /><Relationship Type="http://schemas.openxmlformats.org/officeDocument/2006/relationships/chart" Target="/ppt/slides/charts/chart2.xml" Id="Rf47a4205c766484e" /><Relationship Type="http://schemas.openxmlformats.org/officeDocument/2006/relationships/notesSlide" Target="/ppt/notesSlides/notesSlide7.xml" Id="R1ba731de498a4e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74b79eff1f4e84" /><Relationship Type="http://schemas.openxmlformats.org/officeDocument/2006/relationships/notesSlide" Target="/ppt/notesSlides/notesSlide8.xml" Id="R5c584bc79f82495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e5850906794959" /><Relationship Type="http://schemas.openxmlformats.org/officeDocument/2006/relationships/notesSlide" Target="/ppt/notesSlides/notesSlide9.xml" Id="R91d0e1bc4e564d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3ebe7bca5341d4" /><Relationship Type="http://schemas.openxmlformats.org/officeDocument/2006/relationships/notesSlide" Target="/ppt/notesSlides/notesSlide10.xml" Id="Rddec92b288a1408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e5569d446d4e66" /><Relationship Type="http://schemas.openxmlformats.org/officeDocument/2006/relationships/chart" Target="/ppt/slides/charts/chart3.xml" Id="R2ba062d136194fde" /><Relationship Type="http://schemas.openxmlformats.org/officeDocument/2006/relationships/notesSlide" Target="/ppt/notesSlides/notesSlide11.xml" Id="R151a4258571f401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ccc15214ea4482" /><Relationship Type="http://schemas.openxmlformats.org/officeDocument/2006/relationships/notesSlide" Target="/ppt/notesSlides/notesSlide12.xml" Id="R1e82f0172ca7419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2369f6e6e24463" /><Relationship Type="http://schemas.openxmlformats.org/officeDocument/2006/relationships/notesSlide" Target="/ppt/notesSlides/notesSlide13.xml" Id="R924a8302626e4af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057a35c4ac4dee" /><Relationship Type="http://schemas.openxmlformats.org/officeDocument/2006/relationships/chart" Target="/ppt/slides/charts/chart4.xml" Id="R6123894bccca405d" /><Relationship Type="http://schemas.openxmlformats.org/officeDocument/2006/relationships/notesSlide" Target="/ppt/notesSlides/notesSlide14.xml" Id="Re8ce67a91d7b46f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b2a3ec2f02431d" /><Relationship Type="http://schemas.openxmlformats.org/officeDocument/2006/relationships/chart" Target="/ppt/slides/charts/chart5.xml" Id="Rdb05b3d3ee5440a5" /><Relationship Type="http://schemas.openxmlformats.org/officeDocument/2006/relationships/notesSlide" Target="/ppt/notesSlides/notesSlide15.xml" Id="R32fbc404cc0b42a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60ba832de44fdd" /><Relationship Type="http://schemas.openxmlformats.org/officeDocument/2006/relationships/notesSlide" Target="/ppt/notesSlides/notesSlide16.xml" Id="Ra45b860ff6404f6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1923639ec04c17" /><Relationship Type="http://schemas.openxmlformats.org/officeDocument/2006/relationships/notesSlide" Target="/ppt/notesSlides/notesSlide17.xml" Id="Rf10e1e96686d4f1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8e6e3d7da74292" /><Relationship Type="http://schemas.openxmlformats.org/officeDocument/2006/relationships/notesSlide" Target="/ppt/notesSlides/notesSlide18.xml" Id="Rf516a8df7cb94ab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b3af9c369e4139" /><Relationship Type="http://schemas.openxmlformats.org/officeDocument/2006/relationships/notesSlide" Target="/ppt/notesSlides/notesSlide19.xml" Id="R690aa206ce5241c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Astra</c:v>
          </c:tx>
          <c:spPr>
            <a:solidFill xmlns:a="http://schemas.openxmlformats.org/drawingml/2006/main">
              <a:srgbClr val="123451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Spatial Task</c:v>
                </c:pt>
                <c:pt idx="1">
                  <c:v>Spatial Swap</c:v>
                </c:pt>
                <c:pt idx="2">
                  <c:v>Long Swap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787.4</c:v>
                </c:pt>
                <c:pt idx="1">
                  <c:v>586.9</c:v>
                </c:pt>
                <c:pt idx="2">
                  <c:v>973.7</c:v>
                </c:pt>
              </c:numCache>
            </c:numRef>
          </c:val>
        </c:ser>
        <c:ser>
          <c:idx val="1"/>
          <c:order val="1"/>
          <c:tx>
            <c:v>Sol</c:v>
          </c:tx>
          <c:spPr>
            <a:solidFill xmlns:a="http://schemas.openxmlformats.org/drawingml/2006/main">
              <a:srgbClr val="078B9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Spatial Task</c:v>
                </c:pt>
                <c:pt idx="1">
                  <c:v>Spatial Swap</c:v>
                </c:pt>
                <c:pt idx="2">
                  <c:v>Long Swap</c:v>
                </c:pt>
              </c:strCache>
            </c:str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1248.6</c:v>
                </c:pt>
                <c:pt idx="1">
                  <c:v>943.7</c:v>
                </c:pt>
                <c:pt idx="2">
                  <c:v>1630.1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63" b="1">
                  <a:solidFill>
                    <a:srgbClr val="123451"/>
                  </a:solidFill>
                  <a:latin typeface="Hiragino Sans GB"/>
                  <a:ea typeface="Hiragino Sans GB"/>
                  <a:cs typeface="Hiragino Sans GB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E1E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2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72768"/>
      </c:catAx>
      <c:valAx>
        <c:axId val="48672768"/>
        <c:scaling>
          <c:orientation val="minMax"/>
          <c:max val="18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4E1E7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2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50112"/>
        <c:crossBetween val="between"/>
        <c:majorUnit val="60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02">
              <a:solidFill>
                <a:srgbClr val="18354A"/>
              </a:solidFill>
              <a:latin typeface="Hiragino Sans GB"/>
              <a:ea typeface="Hiragino Sans GB"/>
              <a:cs typeface="Hiragino Sans GB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episode占比</c:v>
          </c:tx>
          <c:spPr>
            <a:solidFill xmlns:a="http://schemas.openxmlformats.org/drawingml/2006/main">
              <a:srgbClr val="123451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4D86AD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AB6C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18C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078B98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B6C8D4"/>
              </a:solidFill>
            </c:spPr>
          </c:dPt>
          <c:cat>
            <c:strRef>
              <c:f>'Chart Data'!$A$2:$A$6</c:f>
              <c:strCache>
                <c:ptCount val="5"/>
                <c:pt idx="0">
                  <c:v>非π动作</c:v>
                </c:pt>
                <c:pt idx="1">
                  <c:v>π原语</c:v>
                </c:pt>
                <c:pt idx="2">
                  <c:v>工具附加</c:v>
                </c:pt>
                <c:pt idx="3">
                  <c:v>SDK非工具</c:v>
                </c:pt>
                <c:pt idx="4">
                  <c:v>SDK外壳</c:v>
                </c:pt>
              </c:strCache>
            </c:strRef>
          </c:cat>
          <c:val>
            <c:numRef>
              <c:f>'Chart Data'!$B$2:$B$6</c:f>
              <c:numCache>
                <c:formatCode>0.0%</c:formatCode>
                <c:ptCount val="5"/>
                <c:pt idx="0">
                  <c:v>0.367</c:v>
                </c:pt>
                <c:pt idx="1">
                  <c:v>0.076</c:v>
                </c:pt>
                <c:pt idx="2">
                  <c:v>0.101</c:v>
                </c:pt>
                <c:pt idx="3">
                  <c:v>0.433</c:v>
                </c:pt>
                <c:pt idx="4">
                  <c:v>0.023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63" b="1">
                  <a:solidFill>
                    <a:srgbClr val="123451"/>
                  </a:solidFill>
                  <a:latin typeface="Hiragino Sans GB"/>
                  <a:ea typeface="Hiragino Sans GB"/>
                  <a:cs typeface="Hiragino Sans GB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E1E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2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72768"/>
      </c:catAx>
      <c:valAx>
        <c:axId val="48672768"/>
        <c:scaling>
          <c:orientation val="minMax"/>
          <c:max val="0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4E1E7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2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stacked"/>
        <c:varyColors val="0"/>
        <c:ser>
          <c:idx val="0"/>
          <c:order val="0"/>
          <c:tx>
            <c:v>TTFT</c:v>
          </c:tx>
          <c:spPr>
            <a:solidFill xmlns:a="http://schemas.openxmlformats.org/drawingml/2006/main">
              <a:srgbClr val="4D86AD"/>
            </a:solidFill>
          </c:spPr>
          <c:invertIfNegative val="0"/>
          <c:cat>
            <c:numRef>
              <c:f>'Chart Data'!$A$2:$A$16</c:f>
              <c:numCache>
                <c:formatCode>General</c:formatCod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numCache>
            </c:numRef>
          </c:cat>
          <c:val>
            <c:numRef>
              <c:f>'Chart Data'!$B$2:$B$16</c:f>
              <c:numCache>
                <c:formatCode>0"s"</c:formatCode>
                <c:ptCount val="15"/>
                <c:pt idx="0">
                  <c:v>0.68</c:v>
                </c:pt>
                <c:pt idx="1">
                  <c:v>0.84</c:v>
                </c:pt>
                <c:pt idx="2">
                  <c:v>0.72</c:v>
                </c:pt>
                <c:pt idx="3">
                  <c:v>1.05</c:v>
                </c:pt>
                <c:pt idx="4">
                  <c:v>0.82</c:v>
                </c:pt>
                <c:pt idx="5">
                  <c:v>0.93</c:v>
                </c:pt>
                <c:pt idx="6">
                  <c:v>0.94</c:v>
                </c:pt>
                <c:pt idx="7">
                  <c:v>1.37</c:v>
                </c:pt>
                <c:pt idx="8">
                  <c:v>2.95</c:v>
                </c:pt>
                <c:pt idx="9">
                  <c:v>1.07</c:v>
                </c:pt>
                <c:pt idx="10">
                  <c:v>3.73</c:v>
                </c:pt>
                <c:pt idx="11">
                  <c:v>3.73</c:v>
                </c:pt>
                <c:pt idx="12">
                  <c:v>2.33</c:v>
                </c:pt>
                <c:pt idx="13">
                  <c:v>3.89</c:v>
                </c:pt>
                <c:pt idx="14">
                  <c:v>2.21</c:v>
                </c:pt>
              </c:numCache>
            </c:numRef>
          </c:val>
        </c:ser>
        <c:ser>
          <c:idx val="1"/>
          <c:order val="1"/>
          <c:tx>
            <c:v>可见thinking</c:v>
          </c:tx>
          <c:spPr>
            <a:solidFill xmlns:a="http://schemas.openxmlformats.org/drawingml/2006/main">
              <a:srgbClr val="078B98"/>
            </a:solidFill>
          </c:spPr>
          <c:invertIfNegative val="0"/>
          <c:cat>
            <c:numRef>
              <c:f>'Chart Data'!$C$2:$C$16</c:f>
              <c:numCache>
                <c:formatCode>General</c:formatCod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numCache>
            </c:numRef>
          </c:cat>
          <c:val>
            <c:numRef>
              <c:f>'Chart Data'!$D$2:$D$16</c:f>
              <c:numCache>
                <c:formatCode>0"s"</c:formatCode>
                <c:ptCount val="15"/>
                <c:pt idx="0">
                  <c:v>0.6</c:v>
                </c:pt>
                <c:pt idx="1">
                  <c:v>1.24</c:v>
                </c:pt>
                <c:pt idx="2">
                  <c:v>2.12</c:v>
                </c:pt>
                <c:pt idx="3">
                  <c:v>1.28</c:v>
                </c:pt>
                <c:pt idx="4">
                  <c:v>1.46</c:v>
                </c:pt>
                <c:pt idx="5">
                  <c:v>0.55</c:v>
                </c:pt>
                <c:pt idx="6">
                  <c:v>0</c:v>
                </c:pt>
                <c:pt idx="7">
                  <c:v>0.27</c:v>
                </c:pt>
                <c:pt idx="8">
                  <c:v>6.56</c:v>
                </c:pt>
                <c:pt idx="9">
                  <c:v>4.93</c:v>
                </c:pt>
                <c:pt idx="10">
                  <c:v>19.96</c:v>
                </c:pt>
                <c:pt idx="11">
                  <c:v>2</c:v>
                </c:pt>
                <c:pt idx="12">
                  <c:v>2.38</c:v>
                </c:pt>
                <c:pt idx="13">
                  <c:v>3.69</c:v>
                </c:pt>
                <c:pt idx="14">
                  <c:v>0.11</c:v>
                </c:pt>
              </c:numCache>
            </c:numRef>
          </c:val>
        </c:ser>
        <c:ser>
          <c:idx val="2"/>
          <c:order val="2"/>
          <c:tx>
            <c:v>正文／工具decode</c:v>
          </c:tx>
          <c:spPr>
            <a:solidFill xmlns:a="http://schemas.openxmlformats.org/drawingml/2006/main">
              <a:srgbClr val="123451"/>
            </a:solidFill>
          </c:spPr>
          <c:invertIfNegative val="0"/>
          <c:cat>
            <c:numRef>
              <c:f>'Chart Data'!$E$2:$E$16</c:f>
              <c:numCache>
                <c:formatCode>General</c:formatCode>
                <c:ptCount val="1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</c:numCache>
            </c:numRef>
          </c:cat>
          <c:val>
            <c:numRef>
              <c:f>'Chart Data'!$F$2:$F$16</c:f>
              <c:numCache>
                <c:formatCode>0"s"</c:formatCode>
                <c:ptCount val="15"/>
                <c:pt idx="0">
                  <c:v>0.5</c:v>
                </c:pt>
                <c:pt idx="1">
                  <c:v>0.51</c:v>
                </c:pt>
                <c:pt idx="2">
                  <c:v>0.65</c:v>
                </c:pt>
                <c:pt idx="3">
                  <c:v>1.22</c:v>
                </c:pt>
                <c:pt idx="4">
                  <c:v>0.49</c:v>
                </c:pt>
                <c:pt idx="5">
                  <c:v>0.27</c:v>
                </c:pt>
                <c:pt idx="6">
                  <c:v>0.44</c:v>
                </c:pt>
                <c:pt idx="7">
                  <c:v>0.22</c:v>
                </c:pt>
                <c:pt idx="8">
                  <c:v>1.44</c:v>
                </c:pt>
                <c:pt idx="9">
                  <c:v>0.75</c:v>
                </c:pt>
                <c:pt idx="10">
                  <c:v>0.86</c:v>
                </c:pt>
                <c:pt idx="11">
                  <c:v>0.91</c:v>
                </c:pt>
                <c:pt idx="12">
                  <c:v>0.56</c:v>
                </c:pt>
                <c:pt idx="13">
                  <c:v>8.94</c:v>
                </c:pt>
                <c:pt idx="14">
                  <c:v>1.44</c:v>
                </c:pt>
              </c:numCache>
            </c:numRef>
          </c:val>
        </c:ser>
        <c:dLbls>
          <c:numFmt formatCode="0&quot;s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63" b="1">
                  <a:solidFill>
                    <a:srgbClr val="123451"/>
                  </a:solidFill>
                  <a:latin typeface="Hiragino Sans GB"/>
                  <a:ea typeface="Hiragino Sans GB"/>
                  <a:cs typeface="Hiragino Sans GB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E1E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2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72768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4E1E7"/>
              </a:solidFill>
            </a:ln>
          </c:spPr>
        </c:majorGridlines>
        <c:numFmt formatCode="0&quot;s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2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02">
              <a:solidFill>
                <a:srgbClr val="18354A"/>
              </a:solidFill>
              <a:latin typeface="Hiragino Sans GB"/>
              <a:ea typeface="Hiragino Sans GB"/>
              <a:cs typeface="Hiragino Sans GB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累计窗口/s</c:v>
          </c:tx>
          <c:spPr>
            <a:solidFill xmlns:a="http://schemas.openxmlformats.org/drawingml/2006/main">
              <a:srgbClr val="078B98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B6C8D4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D86A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18C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078B98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准备</c:v>
                </c:pt>
                <c:pt idx="1">
                  <c:v>至响应头</c:v>
                </c:pt>
                <c:pt idx="2">
                  <c:v>头至首输出</c:v>
                </c:pt>
                <c:pt idx="3">
                  <c:v>首输出后</c:v>
                </c:pt>
              </c:strCache>
            </c:strRef>
          </c:cat>
          <c:val>
            <c:numRef>
              <c:f>'Chart Data'!$B$2:$B$5</c:f>
              <c:numCache>
                <c:formatCode>0.000</c:formatCode>
                <c:ptCount val="4"/>
                <c:pt idx="0">
                  <c:v>5.11</c:v>
                </c:pt>
                <c:pt idx="1">
                  <c:v>9.789</c:v>
                </c:pt>
                <c:pt idx="2">
                  <c:v>6.837</c:v>
                </c:pt>
                <c:pt idx="3">
                  <c:v>88.796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63" b="1">
                  <a:solidFill>
                    <a:srgbClr val="123451"/>
                  </a:solidFill>
                  <a:latin typeface="Hiragino Sans GB"/>
                  <a:ea typeface="Hiragino Sans GB"/>
                  <a:cs typeface="Hiragino Sans GB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E1E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2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4E1E7"/>
              </a:solidFill>
            </a:ln>
          </c:spPr>
        </c:majorGridlines>
        <c:numFmt formatCode="0&quot;s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2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完整请求降幅（条件）</c:v>
          </c:tx>
          <c:spPr>
            <a:solidFill xmlns:a="http://schemas.openxmlformats.org/drawingml/2006/main">
              <a:srgbClr val="078B98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think占25%</c:v>
                </c:pt>
                <c:pt idx="1">
                  <c:v>think占50%</c:v>
                </c:pt>
                <c:pt idx="2">
                  <c:v>think占75%</c:v>
                </c:pt>
              </c:strCache>
            </c:strRef>
          </c:cat>
          <c:val>
            <c:numRef>
              <c:f>'Chart Data'!$B$2:$B$4</c:f>
              <c:numCache>
                <c:formatCode>0.0%</c:formatCode>
                <c:ptCount val="3"/>
                <c:pt idx="0">
                  <c:v>0.174</c:v>
                </c:pt>
                <c:pt idx="1">
                  <c:v>0.348</c:v>
                </c:pt>
                <c:pt idx="2">
                  <c:v>0.522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63" b="1">
                  <a:solidFill>
                    <a:srgbClr val="123451"/>
                  </a:solidFill>
                  <a:latin typeface="Hiragino Sans GB"/>
                  <a:ea typeface="Hiragino Sans GB"/>
                  <a:cs typeface="Hiragino Sans GB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E1E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2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72768"/>
      </c:catAx>
      <c:valAx>
        <c:axId val="48672768"/>
        <c:scaling>
          <c:orientation val="minMax"/>
          <c:max val="0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4E1E7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2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具身智能推理性能评估">
            <a:extLst xmlns:a="http://schemas.openxmlformats.org/drawingml/2006/main">
              <a:ext uri="{FF2B5EF4-FFF2-40B4-BE49-F238E27FC236}">
                <a16:creationId xmlns:a16="http://schemas.microsoft.com/office/drawing/2014/main" id="{10944917-FF88-4955-8119-5530E6B9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具身智能推理性能评估</a:t>
            </a:r>
          </a:p>
        </p:txBody>
      </p:sp>
      <p:sp>
        <p:nvSpPr>
          <p:cNvPr id="2" name="技术负责人汇报　2026年10月14日　v2.0">
            <a:extLst xmlns:a="http://schemas.openxmlformats.org/drawingml/2006/main">
              <a:ext uri="{FF2B5EF4-FFF2-40B4-BE49-F238E27FC236}">
                <a16:creationId xmlns:a16="http://schemas.microsoft.com/office/drawing/2014/main" id="{7EF5050F-8581-4B96-8F08-AE09CBB2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技术负责人汇报　2026年10月14日　v2.0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18672F86-4E9A-4836-BF8C-2B6E9851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4" name="实验成果与耗时诊断">
            <a:extLst xmlns:a="http://schemas.openxmlformats.org/drawingml/2006/main">
              <a:ext uri="{FF2B5EF4-FFF2-40B4-BE49-F238E27FC236}">
                <a16:creationId xmlns:a16="http://schemas.microsoft.com/office/drawing/2014/main" id="{A5E8E09F-C50C-45C4-B2F9-DCD9D6BA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3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实验成果与耗时诊断</a:t>
            </a:r>
          </a:p>
        </p:txBody>
      </p:sp>
      <p:sp>
        <p:nvSpPr>
          <p:cNvPr id="5" name="质量基本不降，是比较所有优化路线的前提">
            <a:extLst xmlns:a="http://schemas.openxmlformats.org/drawingml/2006/main">
              <a:ext uri="{FF2B5EF4-FFF2-40B4-BE49-F238E27FC236}">
                <a16:creationId xmlns:a16="http://schemas.microsoft.com/office/drawing/2014/main" id="{41ED4259-11EB-450D-A494-1C0FF702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25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质量基本不降，是比较所有优化路线的前提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E0C64-DCCC-40E3-BB89-D004F2B12670}"/>
              </a:ext>
            </a:extLst>
          </p:cNvPr>
          <p:cNvGraphicFramePr/>
          <p:nvPr/>
        </p:nvGraphicFramePr>
        <p:xfrm>
          <a:off xmlns:a="http://schemas.openxmlformats.org/drawingml/2006/main" x="609600" y="3143250"/>
          <a:ext xmlns:a="http://schemas.openxmlformats.org/drawingml/2006/main" cx="109728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91050"/>
                <a:gridCol w="6381750"/>
              </a:tblGrid>
              <a:tr h="547688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已有证据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本次汇报重点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547688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RPent 120集，成功99/120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长程任务与高层等待仍有优化空间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547688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独立深测8集、DeepSeek多组专项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分别定位本地阶段、请求窗口与长尾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7688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候选优化尚未选定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同质量下比较单次等待、调用轮数与本地实时性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7" name="报告数字为E3重述，源码接口为E1，MT最新反馈为E4待补证。">
            <a:extLst xmlns:a="http://schemas.openxmlformats.org/drawingml/2006/main">
              <a:ext uri="{FF2B5EF4-FFF2-40B4-BE49-F238E27FC236}">
                <a16:creationId xmlns:a16="http://schemas.microsoft.com/office/drawing/2014/main" id="{D4690088-A37A-468F-8969-F194C72E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02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02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02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报告数字为E3重述，源码接口为E1，MT最新反馈为E4待补证。</a:t>
            </a:r>
          </a:p>
        </p:txBody>
      </p:sp>
    </p:spTree>
    <p:extLst>
      <p:ext uri="{BB962C8B-B14F-4D97-AF65-F5344CB8AC3E}">
        <p14:creationId xmlns:p14="http://schemas.microsoft.com/office/powerpoint/2010/main" val="6759999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指标与计时边界">
            <a:extLst xmlns:a="http://schemas.openxmlformats.org/drawingml/2006/main">
              <a:ext uri="{FF2B5EF4-FFF2-40B4-BE49-F238E27FC236}">
                <a16:creationId xmlns:a16="http://schemas.microsoft.com/office/drawing/2014/main" id="{58401082-2941-4D40-B205-9CFA2865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指标与计时边界</a:t>
            </a:r>
          </a:p>
        </p:txBody>
      </p:sp>
      <p:sp>
        <p:nvSpPr>
          <p:cNvPr id="2" name="N按逻辑请求计数，平均完整等待包含全部retry／重连。异步按关键路径统计。〔E3〕">
            <a:extLst xmlns:a="http://schemas.openxmlformats.org/drawingml/2006/main">
              <a:ext uri="{FF2B5EF4-FFF2-40B4-BE49-F238E27FC236}">
                <a16:creationId xmlns:a16="http://schemas.microsoft.com/office/drawing/2014/main" id="{31A5D8D2-618C-40D8-A274-9BD9C876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N按逻辑请求计数，平均完整等待包含全部retry／重连。异步按关键路径统计。〔E3〕</a:t>
            </a:r>
          </a:p>
        </p:txBody>
      </p:sp>
      <p:sp>
        <p:nvSpPr>
          <p:cNvPr id="3" name="02">
            <a:extLst xmlns:a="http://schemas.openxmlformats.org/drawingml/2006/main">
              <a:ext uri="{FF2B5EF4-FFF2-40B4-BE49-F238E27FC236}">
                <a16:creationId xmlns:a16="http://schemas.microsoft.com/office/drawing/2014/main" id="{374D21F6-2838-452A-9AFF-F7F03FA0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4" name="同步近似：episode＝初始化＋N×平均完整请求等待＋执行与恢复">
            <a:extLst xmlns:a="http://schemas.openxmlformats.org/drawingml/2006/main">
              <a:ext uri="{FF2B5EF4-FFF2-40B4-BE49-F238E27FC236}">
                <a16:creationId xmlns:a16="http://schemas.microsoft.com/office/drawing/2014/main" id="{EC524656-F4C9-4D15-B779-096DB9C7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同步近似：episode＝初始化＋N×平均完整请求等待＋执行与恢复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413245-A039-4EC0-A9BF-E4A829BE9B52}"/>
              </a:ext>
            </a:extLst>
          </p:cNvPr>
          <p:cNvGraphicFramePr/>
          <p:nvPr/>
        </p:nvGraphicFramePr>
        <p:xfrm>
          <a:off xmlns:a="http://schemas.openxmlformats.org/drawingml/2006/main" x="609600" y="1895475"/>
          <a:ext xmlns:a="http://schemas.openxmlformats.org/drawingml/2006/main" cx="10972800" cy="3219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3790950"/>
                <a:gridCol w="4762500"/>
              </a:tblGrid>
              <a:tr h="64389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指标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本次含义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不可混用的边界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4389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episode墙钟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整集任务的外层时间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失败早停、加载、配对屏障各自注明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4389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完整请求等待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发送／准备起点至完整结果可用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首次响应不等于可执行动作已完成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389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TTFT与可见thinking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客户端首事件、首输出、首正文窗口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不是纯prefill或完整hidden thinking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4389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工具与本地span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π handler、render、physics等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父子嵌套项不能再次相加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先比较成功与任务质量，再比较延迟分布、完整请求和整集关键路径。">
            <a:extLst xmlns:a="http://schemas.openxmlformats.org/drawingml/2006/main">
              <a:ext uri="{FF2B5EF4-FFF2-40B4-BE49-F238E27FC236}">
                <a16:creationId xmlns:a16="http://schemas.microsoft.com/office/drawing/2014/main" id="{4534CED5-F487-471A-915C-25709994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先比较成功与任务质量，再比较延迟分布、完整请求和整集关键路径。</a:t>
            </a:r>
          </a:p>
        </p:txBody>
      </p:sp>
      <p:sp>
        <p:nvSpPr>
          <p:cNvPr id="7" name="TPOT须写明分母。计量响应、逻辑请求与传输attempt分开计数。">
            <a:extLst xmlns:a="http://schemas.openxmlformats.org/drawingml/2006/main">
              <a:ext uri="{FF2B5EF4-FFF2-40B4-BE49-F238E27FC236}">
                <a16:creationId xmlns:a16="http://schemas.microsoft.com/office/drawing/2014/main" id="{6AA49E2D-741B-49F3-BABC-FDE2C5FE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TPOT须写明分母。计量响应、逻辑请求与传输attempt分开计数。</a:t>
            </a:r>
          </a:p>
        </p:txBody>
      </p:sp>
    </p:spTree>
    <p:extLst>
      <p:ext uri="{BB962C8B-B14F-4D97-AF65-F5344CB8AC3E}">
        <p14:creationId xmlns:p14="http://schemas.microsoft.com/office/powerpoint/2010/main" val="523960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实验总览：各集合回答不同问题">
            <a:extLst xmlns:a="http://schemas.openxmlformats.org/drawingml/2006/main">
              <a:ext uri="{FF2B5EF4-FFF2-40B4-BE49-F238E27FC236}">
                <a16:creationId xmlns:a16="http://schemas.microsoft.com/office/drawing/2014/main" id="{AA989D5B-3614-44A9-A48E-DF3EA2A4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实验总览：各集合回答不同问题</a:t>
            </a:r>
          </a:p>
        </p:txBody>
      </p:sp>
      <p:sp>
        <p:nvSpPr>
          <p:cNvPr id="2" name="跨环境、轨迹、成功谓词与计时实现分别解释，不能合并成模型排行榜。〔E3〕">
            <a:extLst xmlns:a="http://schemas.openxmlformats.org/drawingml/2006/main">
              <a:ext uri="{FF2B5EF4-FFF2-40B4-BE49-F238E27FC236}">
                <a16:creationId xmlns:a16="http://schemas.microsoft.com/office/drawing/2014/main" id="{EAB216EF-4536-423A-9ED7-C6A4CEA0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跨环境、轨迹、成功谓词与计时实现分别解释，不能合并成模型排行榜。〔E3〕</a:t>
            </a:r>
          </a:p>
        </p:txBody>
      </p:sp>
      <p:sp>
        <p:nvSpPr>
          <p:cNvPr id="3" name="03">
            <a:extLst xmlns:a="http://schemas.openxmlformats.org/drawingml/2006/main">
              <a:ext uri="{FF2B5EF4-FFF2-40B4-BE49-F238E27FC236}">
                <a16:creationId xmlns:a16="http://schemas.microsoft.com/office/drawing/2014/main" id="{437F16F7-7F76-49A7-BB2C-E409FA9A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D9E3B-1A61-465A-A187-D96F506D1B85}"/>
              </a:ext>
            </a:extLst>
          </p:cNvPr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3476625"/>
                <a:gridCol w="4495800"/>
              </a:tblGrid>
              <a:tr h="59531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实验集合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规模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可回答的问题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59531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GPT-as-Policy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3任务×3路线＝9回合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接口、整轮与云端监督开销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59531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bowl同seed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4配置×5seed＝20回合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小样本任务能力与effort敏感性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RPent历史／独立深测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120集／8集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成功结构、互斥总账与本地细分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59531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DeepSeek档位对照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medium／none各4集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共同成功轨迹的质量与成本变化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DeepSeek三个单局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v5／Files API／后续phase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请求窗口、payload与输出长尾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5" name="多路线实验检验单轮成本与轮数，正式评测和插桩深测补充不同计时证据。">
            <a:extLst xmlns:a="http://schemas.openxmlformats.org/drawingml/2006/main">
              <a:ext uri="{FF2B5EF4-FFF2-40B4-BE49-F238E27FC236}">
                <a16:creationId xmlns:a16="http://schemas.microsoft.com/office/drawing/2014/main" id="{43261147-0C49-4A42-A60A-661C2958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多路线实验检验单轮成本与轮数，正式评测和插桩深测补充不同计时证据。</a:t>
            </a:r>
          </a:p>
        </p:txBody>
      </p:sp>
      <p:sp>
        <p:nvSpPr>
          <p:cNvPr id="6" name="本次审查既有报告，没有新增远程机器人或NPU性能实跑。">
            <a:extLst xmlns:a="http://schemas.openxmlformats.org/drawingml/2006/main">
              <a:ext uri="{FF2B5EF4-FFF2-40B4-BE49-F238E27FC236}">
                <a16:creationId xmlns:a16="http://schemas.microsoft.com/office/drawing/2014/main" id="{FEA500D9-F036-4AAA-BF40-3313DB61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本次审查既有报告，没有新增远程机器人或NPU性能实跑。</a:t>
            </a:r>
          </a:p>
        </p:txBody>
      </p:sp>
    </p:spTree>
    <p:extLst>
      <p:ext uri="{BB962C8B-B14F-4D97-AF65-F5344CB8AC3E}">
        <p14:creationId xmlns:p14="http://schemas.microsoft.com/office/powerpoint/2010/main" val="16027629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GPT-as-Policy：罐子三路线">
            <a:extLst xmlns:a="http://schemas.openxmlformats.org/drawingml/2006/main">
              <a:ext uri="{FF2B5EF4-FFF2-40B4-BE49-F238E27FC236}">
                <a16:creationId xmlns:a16="http://schemas.microsoft.com/office/drawing/2014/main" id="{BCD73AAD-D019-4102-A1FB-383D0116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GPT-as-Policy：罐子三路线</a:t>
            </a:r>
          </a:p>
        </p:txBody>
      </p:sp>
      <p:sp>
        <p:nvSpPr>
          <p:cNvPr id="2" name="每路线仅1条成功轨迹。Hybrid全51轮放行Student，π随机状态未配对。re">
            <a:extLst xmlns:a="http://schemas.openxmlformats.org/drawingml/2006/main">
              <a:ext uri="{FF2B5EF4-FFF2-40B4-BE49-F238E27FC236}">
                <a16:creationId xmlns:a16="http://schemas.microsoft.com/office/drawing/2014/main" id="{95734DFA-29D5-411B-A4E5-458B6A35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每路线仅1条成功轨迹。Hybrid全51轮放行Student，π随机状态未配对。request包含TTFT/decode。〔E3〕</a:t>
            </a:r>
          </a:p>
        </p:txBody>
      </p:sp>
      <p:sp>
        <p:nvSpPr>
          <p:cNvPr id="3" name="04">
            <a:extLst xmlns:a="http://schemas.openxmlformats.org/drawingml/2006/main">
              <a:ext uri="{FF2B5EF4-FFF2-40B4-BE49-F238E27FC236}">
                <a16:creationId xmlns:a16="http://schemas.microsoft.com/office/drawing/2014/main" id="{6570EDCC-1348-4EE4-8001-9848665E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82EEF-6F08-4503-9FEF-302D17263138}"/>
              </a:ext>
            </a:extLst>
          </p:cNvPr>
          <p:cNvGraphicFramePr/>
          <p:nvPr/>
        </p:nvGraphicFramePr>
        <p:xfrm>
          <a:off xmlns:a="http://schemas.openxmlformats.org/drawingml/2006/main" x="609600" y="1419225"/>
          <a:ext xmlns:a="http://schemas.openxmlformats.org/drawingml/2006/main" cx="10972800" cy="2000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905000"/>
                <a:gridCol w="2962275"/>
                <a:gridCol w="2962275"/>
              </a:tblGrid>
              <a:tr h="5000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路线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决策轮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平均整轮 /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episode /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5000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Direct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14.41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1428.97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5000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Student（π0.5）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52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4.20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248.71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00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Hybrid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18.82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991.09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DE434-BB23-4274-B2FB-5FE712895CBC}"/>
              </a:ext>
            </a:extLst>
          </p:cNvPr>
          <p:cNvGraphicFramePr/>
          <p:nvPr/>
        </p:nvGraphicFramePr>
        <p:xfrm>
          <a:off xmlns:a="http://schemas.openxmlformats.org/drawingml/2006/main" x="609600" y="3514725"/>
          <a:ext xmlns:a="http://schemas.openxmlformats.org/drawingml/2006/main" cx="10972800" cy="1562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143125"/>
                <a:gridCol w="2047875"/>
                <a:gridCol w="2352675"/>
                <a:gridCol w="2047875"/>
              </a:tblGrid>
              <a:tr h="6477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请求均值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request/s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TTFT/s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可见decode/s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TPOT估算</a:t>
                      </a:r>
                    </a:p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ms/token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4572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Direct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10.819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7.340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3.155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25.55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4572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Hybrid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14.374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4.455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9.618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29.06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本条Hybrid轮数更少，但每轮更慢。其可见输出较多，监督增量质量仍需验证。">
            <a:extLst xmlns:a="http://schemas.openxmlformats.org/drawingml/2006/main">
              <a:ext uri="{FF2B5EF4-FFF2-40B4-BE49-F238E27FC236}">
                <a16:creationId xmlns:a16="http://schemas.microsoft.com/office/drawing/2014/main" id="{33F4538A-E202-4A0A-85DE-60EA6991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本条Hybrid轮数更少，但每轮更慢。其可见输出较多，监督增量质量仍需验证。</a:t>
            </a:r>
          </a:p>
        </p:txBody>
      </p:sp>
      <p:sp>
        <p:nvSpPr>
          <p:cNvPr id="7" name="Student π+sync／render为0.545／2.774 s，Hybrid">
            <a:extLst xmlns:a="http://schemas.openxmlformats.org/drawingml/2006/main">
              <a:ext uri="{FF2B5EF4-FFF2-40B4-BE49-F238E27FC236}">
                <a16:creationId xmlns:a16="http://schemas.microsoft.com/office/drawing/2014/main" id="{99504DBF-1671-4997-885E-32041032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Student π+sync／render为0.545／2.774 s，Hybrid为0.530／2.938 s。</a:t>
            </a:r>
          </a:p>
        </p:txBody>
      </p:sp>
    </p:spTree>
    <p:extLst>
      <p:ext uri="{BB962C8B-B14F-4D97-AF65-F5344CB8AC3E}">
        <p14:creationId xmlns:p14="http://schemas.microsoft.com/office/powerpoint/2010/main" val="6224222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owl：同seed的质量与整集耗时">
            <a:extLst xmlns:a="http://schemas.openxmlformats.org/drawingml/2006/main">
              <a:ext uri="{FF2B5EF4-FFF2-40B4-BE49-F238E27FC236}">
                <a16:creationId xmlns:a16="http://schemas.microsoft.com/office/drawing/2014/main" id="{B966CEE4-87C6-4032-8CFF-AB25CADD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bowl：同seed的质量与整集耗时</a:t>
            </a:r>
          </a:p>
        </p:txBody>
      </p:sp>
      <p:sp>
        <p:nvSpPr>
          <p:cNvPr id="2" name="主表n＝5，入碗未等同稳定放置。下表9/16等待含读图/工具往返/调度，*推算，三家">
            <a:extLst xmlns:a="http://schemas.openxmlformats.org/drawingml/2006/main">
              <a:ext uri="{FF2B5EF4-FFF2-40B4-BE49-F238E27FC236}">
                <a16:creationId xmlns:a16="http://schemas.microsoft.com/office/drawing/2014/main" id="{ACE20B18-97F9-4CBC-AD6C-0FD4F115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主表n＝5，入碗未等同稳定放置。下表9/16等待含读图/工具往返/调度，*推算，三家子集未明。〔E3〕</a:t>
            </a:r>
          </a:p>
        </p:txBody>
      </p:sp>
      <p:sp>
        <p:nvSpPr>
          <p:cNvPr id="3" name="05">
            <a:extLst xmlns:a="http://schemas.openxmlformats.org/drawingml/2006/main">
              <a:ext uri="{FF2B5EF4-FFF2-40B4-BE49-F238E27FC236}">
                <a16:creationId xmlns:a16="http://schemas.microsoft.com/office/drawing/2014/main" id="{3D87C1DC-D0F8-4239-BC3D-CF0BB890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177B8-C858-4684-BCB3-4423A6C0F5B0}"/>
              </a:ext>
            </a:extLst>
          </p:cNvPr>
          <p:cNvGraphicFramePr/>
          <p:nvPr/>
        </p:nvGraphicFramePr>
        <p:xfrm>
          <a:off xmlns:a="http://schemas.openxmlformats.org/drawingml/2006/main" x="609600" y="1457325"/>
          <a:ext xmlns:a="http://schemas.openxmlformats.org/drawingml/2006/main" cx="109728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2143125"/>
                <a:gridCol w="2571750"/>
                <a:gridCol w="2876550"/>
              </a:tblGrid>
              <a:tr h="54864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模型／effort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自动入碗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平均决策轮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平均墙钟 /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54864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Astra medium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5/5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16.0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336.11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54864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Sol medium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2/5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18.2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547.09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Sol ultra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3/5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17.6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600.63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54864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Luna max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0/5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19.6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1969.76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6538C-0637-41A3-A1DF-C56578E59D7A}"/>
              </a:ext>
            </a:extLst>
          </p:cNvPr>
          <p:cNvGraphicFramePr/>
          <p:nvPr/>
        </p:nvGraphicFramePr>
        <p:xfrm>
          <a:off xmlns:a="http://schemas.openxmlformats.org/drawingml/2006/main" x="609600" y="4410075"/>
          <a:ext xmlns:a="http://schemas.openxmlformats.org/drawingml/2006/main" cx="10972800" cy="952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76550"/>
                <a:gridCol w="2019300"/>
                <a:gridCol w="2019300"/>
                <a:gridCol w="2038350"/>
                <a:gridCol w="2019300"/>
              </a:tblGrid>
              <a:tr h="4762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9/16代理等待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Astra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GLM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DeepSeek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Qwen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4762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非纯LLM / s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27.2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≈117*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135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≈110*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6" name="同seed没有LLM分段。更高effort未带来逐seed一致改善，质量仍需闭环确认">
            <a:extLst xmlns:a="http://schemas.openxmlformats.org/drawingml/2006/main">
              <a:ext uri="{FF2B5EF4-FFF2-40B4-BE49-F238E27FC236}">
                <a16:creationId xmlns:a16="http://schemas.microsoft.com/office/drawing/2014/main" id="{99F021C1-F53F-450D-B932-CDA0B089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同seed没有LLM分段。更高effort未带来逐seed一致改善，质量仍需闭环确认。</a:t>
            </a:r>
          </a:p>
        </p:txBody>
      </p:sp>
    </p:spTree>
    <p:extLst>
      <p:ext uri="{BB962C8B-B14F-4D97-AF65-F5344CB8AC3E}">
        <p14:creationId xmlns:p14="http://schemas.microsoft.com/office/powerpoint/2010/main" val="14501778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Pent 120集：整集耗时按套件比较">
            <a:extLst xmlns:a="http://schemas.openxmlformats.org/drawingml/2006/main">
              <a:ext uri="{FF2B5EF4-FFF2-40B4-BE49-F238E27FC236}">
                <a16:creationId xmlns:a16="http://schemas.microsoft.com/office/drawing/2014/main" id="{39C7C9BB-1E13-4CB2-8AEC-AEC0B284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RPent 120集：整集耗时按套件比较</a:t>
            </a:r>
          </a:p>
        </p:txBody>
      </p:sp>
      <p:sp>
        <p:nvSpPr>
          <p:cNvPr id="2" name="每模型每套件n＝20。A/S成功：Task 19/17，Swap 20/20，Lon">
            <a:extLst xmlns:a="http://schemas.openxmlformats.org/drawingml/2006/main">
              <a:ext uri="{FF2B5EF4-FFF2-40B4-BE49-F238E27FC236}">
                <a16:creationId xmlns:a16="http://schemas.microsoft.com/office/drawing/2014/main" id="{EB306EC1-9867-4BCF-B0BA-3D99210C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每模型每套件n＝20。A/S成功：Task 19/17，Swap 20/20，Long 11/12。含失败与连接等待。〔E3〕</a:t>
            </a:r>
          </a:p>
        </p:txBody>
      </p:sp>
      <p:sp>
        <p:nvSpPr>
          <p:cNvPr id="3" name="06">
            <a:extLst xmlns:a="http://schemas.openxmlformats.org/drawingml/2006/main">
              <a:ext uri="{FF2B5EF4-FFF2-40B4-BE49-F238E27FC236}">
                <a16:creationId xmlns:a16="http://schemas.microsoft.com/office/drawing/2014/main" id="{A847F310-B663-44BE-9085-EC778E80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4" name="episode均值 / s，质量与完成结果保持为比较约束">
            <a:extLst xmlns:a="http://schemas.openxmlformats.org/drawingml/2006/main">
              <a:ext uri="{FF2B5EF4-FFF2-40B4-BE49-F238E27FC236}">
                <a16:creationId xmlns:a16="http://schemas.microsoft.com/office/drawing/2014/main" id="{BF55E735-ECA7-4EC1-A579-BA2ABCCB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episode均值 / s，质量与完成结果保持为比较约束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EF98CBA2-2EC0-4162-B474-D0BA18553B9E}"/>
              </a:ext>
            </a:extLst>
          </p:cNvPr>
          <p:cNvGraphicFramePr/>
          <p:nvPr/>
        </p:nvGraphicFramePr>
        <p:xfrm>
          <a:off xmlns:a="http://schemas.openxmlformats.org/drawingml/2006/main" x="609600" y="1838325"/>
          <a:ext xmlns:a="http://schemas.openxmlformats.org/drawingml/2006/main" cx="7905750" cy="2647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f2ba2eb9804823"/>
          </a:graphicData>
        </a:graphic>
      </p:graphicFrame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A039C-97ED-409B-8B45-8D49182BB8F9}"/>
              </a:ext>
            </a:extLst>
          </p:cNvPr>
          <p:cNvGraphicFramePr/>
          <p:nvPr/>
        </p:nvGraphicFramePr>
        <p:xfrm>
          <a:off xmlns:a="http://schemas.openxmlformats.org/drawingml/2006/main" x="609600" y="4648200"/>
          <a:ext xmlns:a="http://schemas.openxmlformats.org/drawingml/2006/main" cx="7905750" cy="1276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2000250"/>
                <a:gridCol w="2000250"/>
                <a:gridCol w="2000250"/>
              </a:tblGrid>
              <a:tr h="4254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p50 / s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Spatial Task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Spatial Swap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Long Swap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4254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Astra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676.8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560.0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919.5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42545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Sol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811.6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828.9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1332.8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质量为约束">
            <a:extLst xmlns:a="http://schemas.openxmlformats.org/drawingml/2006/main">
              <a:ext uri="{FF2B5EF4-FFF2-40B4-BE49-F238E27FC236}">
                <a16:creationId xmlns:a16="http://schemas.microsoft.com/office/drawing/2014/main" id="{CC92D31F-2F62-4A8A-AD1B-FB0D167E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7145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质量为约束</a:t>
            </a:r>
          </a:p>
        </p:txBody>
      </p:sp>
      <p:sp>
        <p:nvSpPr>
          <p:cNvPr id="8" name="Astra成功50/60&#10;Sol成功49/60&#10;逐套件结果见页脚。">
            <a:extLst xmlns:a="http://schemas.openxmlformats.org/drawingml/2006/main">
              <a:ext uri="{FF2B5EF4-FFF2-40B4-BE49-F238E27FC236}">
                <a16:creationId xmlns:a16="http://schemas.microsoft.com/office/drawing/2014/main" id="{10AAF2A1-C050-4D2F-9143-FFFEA4C2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764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Astra成功50/60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Sol成功49/60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逐套件结果见页脚。</a:t>
            </a:r>
          </a:p>
        </p:txBody>
      </p:sp>
      <p:sp>
        <p:nvSpPr>
          <p:cNvPr id="9" name="连接长尾需保留">
            <a:extLst xmlns:a="http://schemas.openxmlformats.org/drawingml/2006/main">
              <a:ext uri="{FF2B5EF4-FFF2-40B4-BE49-F238E27FC236}">
                <a16:creationId xmlns:a16="http://schemas.microsoft.com/office/drawing/2014/main" id="{D5BCFFD0-1F64-48B7-902A-22DA3E73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连接长尾需保留</a:t>
            </a:r>
          </a:p>
        </p:txBody>
      </p:sp>
      <p:sp>
        <p:nvSpPr>
          <p:cNvPr id="10" name="Sol Long一轨5348.4 s&#10;含连接中断。&#10;均值受到长尾影响。">
            <a:extLst xmlns:a="http://schemas.openxmlformats.org/drawingml/2006/main">
              <a:ext uri="{FF2B5EF4-FFF2-40B4-BE49-F238E27FC236}">
                <a16:creationId xmlns:a16="http://schemas.microsoft.com/office/drawing/2014/main" id="{BD65C1C5-D815-485E-87E1-393A73D3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42900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Sol Long一轨5348.4 s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含连接中断。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均值受到长尾影响。</a:t>
            </a:r>
          </a:p>
        </p:txBody>
      </p:sp>
      <p:sp>
        <p:nvSpPr>
          <p:cNvPr id="11" name="成本不等于算力">
            <a:extLst xmlns:a="http://schemas.openxmlformats.org/drawingml/2006/main">
              <a:ext uri="{FF2B5EF4-FFF2-40B4-BE49-F238E27FC236}">
                <a16:creationId xmlns:a16="http://schemas.microsoft.com/office/drawing/2014/main" id="{D93BEBE8-E046-4886-BF63-617EBBE3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196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成本不等于算力</a:t>
            </a:r>
          </a:p>
        </p:txBody>
      </p:sp>
      <p:sp>
        <p:nvSpPr>
          <p:cNvPr id="12" name="轨迹、轮次与连接&#10;共同影响整集耗时。&#10;不作纯算力归因。">
            <a:extLst xmlns:a="http://schemas.openxmlformats.org/drawingml/2006/main">
              <a:ext uri="{FF2B5EF4-FFF2-40B4-BE49-F238E27FC236}">
                <a16:creationId xmlns:a16="http://schemas.microsoft.com/office/drawing/2014/main" id="{49A8C5F0-D90F-4820-94C1-D9444935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815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轨迹、轮次与连接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共同影响整集耗时。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不作纯算力归因。</a:t>
            </a:r>
          </a:p>
        </p:txBody>
      </p:sp>
    </p:spTree>
    <p:extLst>
      <p:ext uri="{BB962C8B-B14F-4D97-AF65-F5344CB8AC3E}">
        <p14:creationId xmlns:p14="http://schemas.microsoft.com/office/powerpoint/2010/main" val="4684261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Pent 120集：高层等待与动作并重">
            <a:extLst xmlns:a="http://schemas.openxmlformats.org/drawingml/2006/main">
              <a:ext uri="{FF2B5EF4-FFF2-40B4-BE49-F238E27FC236}">
                <a16:creationId xmlns:a16="http://schemas.microsoft.com/office/drawing/2014/main" id="{8F37DFB6-30DB-44DA-AB6F-02F5D387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RPent 120集：高层等待与动作并重</a:t>
            </a:r>
          </a:p>
        </p:txBody>
      </p:sp>
      <p:sp>
        <p:nvSpPr>
          <p:cNvPr id="2" name="分母123408.4 s。五桶互斥，VLA加载5.78 h另计。SDK非工具不等于t">
            <a:extLst xmlns:a="http://schemas.openxmlformats.org/drawingml/2006/main">
              <a:ext uri="{FF2B5EF4-FFF2-40B4-BE49-F238E27FC236}">
                <a16:creationId xmlns:a16="http://schemas.microsoft.com/office/drawing/2014/main" id="{B19E7B8A-9A4F-4EC7-8726-678DBB4E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分母123408.4 s。五桶互斥，VLA加载5.78 h另计。SDK非工具不等于thinking。〔E3〕</a:t>
            </a:r>
          </a:p>
        </p:txBody>
      </p:sp>
      <p:sp>
        <p:nvSpPr>
          <p:cNvPr id="3" name="07">
            <a:extLst xmlns:a="http://schemas.openxmlformats.org/drawingml/2006/main">
              <a:ext uri="{FF2B5EF4-FFF2-40B4-BE49-F238E27FC236}">
                <a16:creationId xmlns:a16="http://schemas.microsoft.com/office/drawing/2014/main" id="{538EC0E6-2A60-4765-8FA2-0499D02A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75DB9527-C458-4B1A-9659-9550C90DC222}"/>
              </a:ext>
            </a:extLst>
          </p:cNvPr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7905750" cy="3829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7a4205c766484e"/>
          </a:graphicData>
        </a:graphic>
      </p:graphicFrame>
      <p:sp>
        <p:nvSpPr>
          <p:cNvPr id="5" name="动作两桶44.3%">
            <a:extLst xmlns:a="http://schemas.openxmlformats.org/drawingml/2006/main">
              <a:ext uri="{FF2B5EF4-FFF2-40B4-BE49-F238E27FC236}">
                <a16:creationId xmlns:a16="http://schemas.microsoft.com/office/drawing/2014/main" id="{E8DD5C94-B047-4938-AC80-D3484942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0972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动作两桶44.3%</a:t>
            </a:r>
          </a:p>
        </p:txBody>
      </p:sp>
      <p:sp>
        <p:nvSpPr>
          <p:cNvPr id="6" name="含策略、控制、仿真、&#10;渲染与通信。">
            <a:extLst xmlns:a="http://schemas.openxmlformats.org/drawingml/2006/main">
              <a:ext uri="{FF2B5EF4-FFF2-40B4-BE49-F238E27FC236}">
                <a16:creationId xmlns:a16="http://schemas.microsoft.com/office/drawing/2014/main" id="{8B385FAE-BD80-40A9-865F-93BBC18B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7167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含策略、控制、仿真、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渲染与通信。</a:t>
            </a:r>
          </a:p>
        </p:txBody>
      </p:sp>
      <p:sp>
        <p:nvSpPr>
          <p:cNvPr id="7" name="SDK非工具43.3%">
            <a:extLst xmlns:a="http://schemas.openxmlformats.org/drawingml/2006/main">
              <a:ext uri="{FF2B5EF4-FFF2-40B4-BE49-F238E27FC236}">
                <a16:creationId xmlns:a16="http://schemas.microsoft.com/office/drawing/2014/main" id="{F7F8DFF2-308E-49B0-BCA9-7120709B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2892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SDK非工具43.3%</a:t>
            </a:r>
          </a:p>
        </p:txBody>
      </p:sp>
      <p:sp>
        <p:nvSpPr>
          <p:cNvPr id="8" name="含请求、网络、重试&#10;与编排，需继续拆分。">
            <a:extLst xmlns:a="http://schemas.openxmlformats.org/drawingml/2006/main">
              <a:ext uri="{FF2B5EF4-FFF2-40B4-BE49-F238E27FC236}">
                <a16:creationId xmlns:a16="http://schemas.microsoft.com/office/drawing/2014/main" id="{9DB40C8B-7821-4EAC-8899-A2033FCB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9087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含请求、网络、重试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与编排，需继续拆分。</a:t>
            </a:r>
          </a:p>
        </p:txBody>
      </p:sp>
      <p:sp>
        <p:nvSpPr>
          <p:cNvPr id="9" name="总账先定位范围">
            <a:extLst xmlns:a="http://schemas.openxmlformats.org/drawingml/2006/main">
              <a:ext uri="{FF2B5EF4-FFF2-40B4-BE49-F238E27FC236}">
                <a16:creationId xmlns:a16="http://schemas.microsoft.com/office/drawing/2014/main" id="{594818C0-A31D-47EF-8C30-BE487378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4812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总账先定位范围</a:t>
            </a:r>
          </a:p>
        </p:txBody>
      </p:sp>
      <p:sp>
        <p:nvSpPr>
          <p:cNvPr id="10" name="五桶不足以计算&#10;纯π或纯thinking&#10;的加速比。">
            <a:extLst xmlns:a="http://schemas.openxmlformats.org/drawingml/2006/main">
              <a:ext uri="{FF2B5EF4-FFF2-40B4-BE49-F238E27FC236}">
                <a16:creationId xmlns:a16="http://schemas.microsoft.com/office/drawing/2014/main" id="{A76BC1EB-861D-4117-B67E-E60537DC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1007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五桶不足以计算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纯π或纯thinking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的加速比。</a:t>
            </a:r>
          </a:p>
        </p:txBody>
      </p:sp>
      <p:sp>
        <p:nvSpPr>
          <p:cNvPr id="11" name="优化需要同时量化单次等待与调用数量，局部阶段缩短未必同比缩短整集。">
            <a:extLst xmlns:a="http://schemas.openxmlformats.org/drawingml/2006/main">
              <a:ext uri="{FF2B5EF4-FFF2-40B4-BE49-F238E27FC236}">
                <a16:creationId xmlns:a16="http://schemas.microsoft.com/office/drawing/2014/main" id="{0FDEF251-2F19-4C00-BD35-AD54E744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优化需要同时量化单次等待与调用数量，局部阶段缩短未必同比缩短整集。</a:t>
            </a:r>
          </a:p>
        </p:txBody>
      </p:sp>
    </p:spTree>
    <p:extLst>
      <p:ext uri="{BB962C8B-B14F-4D97-AF65-F5344CB8AC3E}">
        <p14:creationId xmlns:p14="http://schemas.microsoft.com/office/powerpoint/2010/main" val="15785039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独立8集：渲染与π handler细分">
            <a:extLst xmlns:a="http://schemas.openxmlformats.org/drawingml/2006/main">
              <a:ext uri="{FF2B5EF4-FFF2-40B4-BE49-F238E27FC236}">
                <a16:creationId xmlns:a16="http://schemas.microsoft.com/office/drawing/2014/main" id="{7000DD71-F8F1-4AFB-AFA6-AB65CCDA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独立8集：渲染与π handler细分</a:t>
            </a:r>
          </a:p>
        </p:txBody>
      </p:sp>
      <p:sp>
        <p:nvSpPr>
          <p:cNvPr id="2" name="独立8集成功3/8（t0为3/4，t9为0/4）。子阶段嵌套，不能加回episode">
            <a:extLst xmlns:a="http://schemas.openxmlformats.org/drawingml/2006/main">
              <a:ext uri="{FF2B5EF4-FFF2-40B4-BE49-F238E27FC236}">
                <a16:creationId xmlns:a16="http://schemas.microsoft.com/office/drawing/2014/main" id="{851EE6CF-7F7B-411C-A298-8B1CB6AE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独立8集成功3/8（t0为3/4，t9为0/4）。子阶段嵌套，不能加回episode。〔E3〕</a:t>
            </a:r>
          </a:p>
        </p:txBody>
      </p:sp>
      <p:sp>
        <p:nvSpPr>
          <p:cNvPr id="3" name="08">
            <a:extLst xmlns:a="http://schemas.openxmlformats.org/drawingml/2006/main">
              <a:ext uri="{FF2B5EF4-FFF2-40B4-BE49-F238E27FC236}">
                <a16:creationId xmlns:a16="http://schemas.microsoft.com/office/drawing/2014/main" id="{2E2F62EC-B317-4599-ACAB-9441B3B6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4" name="本地细分的分母10965.30 s，与历史120集分开解释">
            <a:extLst xmlns:a="http://schemas.openxmlformats.org/drawingml/2006/main">
              <a:ext uri="{FF2B5EF4-FFF2-40B4-BE49-F238E27FC236}">
                <a16:creationId xmlns:a16="http://schemas.microsoft.com/office/drawing/2014/main" id="{4121A81D-5156-43EC-85C1-BB154CAA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本地细分的分母10965.30 s，与历史120集分开解释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8BEC2-B1A6-4EE7-8266-CED2B0B042E0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14675"/>
                <a:gridCol w="2114550"/>
                <a:gridCol w="2133600"/>
                <a:gridCol w="3609975"/>
              </a:tblGrid>
              <a:tr h="60007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已测阶段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累计 /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占episode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测量含义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0007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原语窗内render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4391.18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40.05%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仿真观测成本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0007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physics step1+2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121.48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1.11%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不覆盖所有控制工作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π handler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198.65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1.81%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371次，包含处理开销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0007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其中prefix／denoise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96.19／86.14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0.88%／0.79%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属于π handler的子阶段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扣除已测render后T*＝6574.12 s，仍不是真机耗时预测。">
            <a:extLst xmlns:a="http://schemas.openxmlformats.org/drawingml/2006/main">
              <a:ext uri="{FF2B5EF4-FFF2-40B4-BE49-F238E27FC236}">
                <a16:creationId xmlns:a16="http://schemas.microsoft.com/office/drawing/2014/main" id="{68E57B89-4F91-4D2B-BD2D-21261091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扣除已测render后T*＝6574.12 s，仍不是真机耗时预测。</a:t>
            </a:r>
          </a:p>
        </p:txBody>
      </p:sp>
      <p:sp>
        <p:nvSpPr>
          <p:cNvPr id="7" name="π handler减半仅省T*的1.51%，整集收益有限，但局部deadline仍需">
            <a:extLst xmlns:a="http://schemas.openxmlformats.org/drawingml/2006/main">
              <a:ext uri="{FF2B5EF4-FFF2-40B4-BE49-F238E27FC236}">
                <a16:creationId xmlns:a16="http://schemas.microsoft.com/office/drawing/2014/main" id="{E2488286-3203-44A1-8847-0BF9C575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π handler减半仅省T*的1.51%，整集收益有限，但局部deadline仍需单独验收。</a:t>
            </a:r>
          </a:p>
        </p:txBody>
      </p:sp>
    </p:spTree>
    <p:extLst>
      <p:ext uri="{BB962C8B-B14F-4D97-AF65-F5344CB8AC3E}">
        <p14:creationId xmlns:p14="http://schemas.microsoft.com/office/powerpoint/2010/main" val="2573799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独立8集：轮次、重试与恢复">
            <a:extLst xmlns:a="http://schemas.openxmlformats.org/drawingml/2006/main">
              <a:ext uri="{FF2B5EF4-FFF2-40B4-BE49-F238E27FC236}">
                <a16:creationId xmlns:a16="http://schemas.microsoft.com/office/drawing/2014/main" id="{3EF5EF39-A806-4CCF-9095-3F1283D4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独立8集：轮次、重试与恢复</a:t>
            </a:r>
          </a:p>
        </p:txBody>
      </p:sp>
      <p:sp>
        <p:nvSpPr>
          <p:cNvPr id="2" name="逻辑轮次与attempt不同。恢复耗时中可含大量render，不能全部当无损节省。〔">
            <a:extLst xmlns:a="http://schemas.openxmlformats.org/drawingml/2006/main">
              <a:ext uri="{FF2B5EF4-FFF2-40B4-BE49-F238E27FC236}">
                <a16:creationId xmlns:a16="http://schemas.microsoft.com/office/drawing/2014/main" id="{7EC2A233-66B7-4E4B-B8F1-277B00CB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逻辑轮次与attempt不同。恢复耗时中可含大量render，不能全部当无损节省。〔E3〕</a:t>
            </a:r>
          </a:p>
        </p:txBody>
      </p:sp>
      <p:sp>
        <p:nvSpPr>
          <p:cNvPr id="3" name="09">
            <a:extLst xmlns:a="http://schemas.openxmlformats.org/drawingml/2006/main">
              <a:ext uri="{FF2B5EF4-FFF2-40B4-BE49-F238E27FC236}">
                <a16:creationId xmlns:a16="http://schemas.microsoft.com/office/drawing/2014/main" id="{D7AC4937-5069-4537-A7FE-A0F188E4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D818F5-3E39-4076-B9D1-4B6788C89715}"/>
              </a:ext>
            </a:extLst>
          </p:cNvPr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790575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28775"/>
                <a:gridCol w="1095375"/>
                <a:gridCol w="1495425"/>
                <a:gridCol w="1200150"/>
                <a:gridCol w="1285875"/>
                <a:gridCol w="1200150"/>
              </a:tblGrid>
              <a:tr h="4286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样本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结果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episode/s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逻辑轮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attempt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π块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4286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t0 A/0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成功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1090.5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4286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t0 S/0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成功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1153.1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53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t0 A/1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成功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1049.1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42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4286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t0 S/1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失败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2176.5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83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116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t9 A/0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失败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1711.6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4286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t9 S/0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失败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1409.8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65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t9 A/1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失败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1076.7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8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4286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t9 S/1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失败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1298.0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55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61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61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请求量需独立计数">
            <a:extLst xmlns:a="http://schemas.openxmlformats.org/drawingml/2006/main">
              <a:ext uri="{FF2B5EF4-FFF2-40B4-BE49-F238E27FC236}">
                <a16:creationId xmlns:a16="http://schemas.microsoft.com/office/drawing/2014/main" id="{6B5BDF5A-1874-4C6B-BB62-EF8B48DD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47637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请求量需独立计数</a:t>
            </a:r>
          </a:p>
        </p:txBody>
      </p:sp>
      <p:sp>
        <p:nvSpPr>
          <p:cNvPr id="6" name="448逻辑轮&#10;473次传输尝试&#10;额外25次需分析原因。">
            <a:extLst xmlns:a="http://schemas.openxmlformats.org/drawingml/2006/main">
              <a:ext uri="{FF2B5EF4-FFF2-40B4-BE49-F238E27FC236}">
                <a16:creationId xmlns:a16="http://schemas.microsoft.com/office/drawing/2014/main" id="{FF5CA046-EB0C-4926-8E79-BF297A30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3832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448逻辑轮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473次传输尝试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额外25次需分析原因。</a:t>
            </a:r>
          </a:p>
        </p:txBody>
      </p:sp>
      <p:sp>
        <p:nvSpPr>
          <p:cNvPr id="7" name="恢复存在长尾">
            <a:extLst xmlns:a="http://schemas.openxmlformats.org/drawingml/2006/main">
              <a:ext uri="{FF2B5EF4-FFF2-40B4-BE49-F238E27FC236}">
                <a16:creationId xmlns:a16="http://schemas.microsoft.com/office/drawing/2014/main" id="{2AF80154-1132-4735-BD82-11465F41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6225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恢复存在长尾</a:t>
            </a:r>
          </a:p>
        </p:txBody>
      </p:sp>
      <p:sp>
        <p:nvSpPr>
          <p:cNvPr id="8" name="Sol t0/s1为77轮&#10;116个π块。&#10;次数不等于无进展。">
            <a:extLst xmlns:a="http://schemas.openxmlformats.org/drawingml/2006/main">
              <a:ext uri="{FF2B5EF4-FFF2-40B4-BE49-F238E27FC236}">
                <a16:creationId xmlns:a16="http://schemas.microsoft.com/office/drawing/2014/main" id="{4C0C5E89-08F8-4E1E-A236-67693091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2420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Sol t0/s1为77轮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116个π块。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次数不等于无进展。</a:t>
            </a:r>
          </a:p>
        </p:txBody>
      </p:sp>
      <p:sp>
        <p:nvSpPr>
          <p:cNvPr id="9" name="可省部分需验证">
            <a:extLst xmlns:a="http://schemas.openxmlformats.org/drawingml/2006/main">
              <a:ext uri="{FF2B5EF4-FFF2-40B4-BE49-F238E27FC236}">
                <a16:creationId xmlns:a16="http://schemas.microsoft.com/office/drawing/2014/main" id="{8F0D2CF7-D87E-435C-AD3D-76835888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4812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可省部分需验证</a:t>
            </a:r>
          </a:p>
        </p:txBody>
      </p:sp>
      <p:sp>
        <p:nvSpPr>
          <p:cNvPr id="10" name="两段恢复扣render后&#10;152.01 s，占T*2.31%。">
            <a:extLst xmlns:a="http://schemas.openxmlformats.org/drawingml/2006/main">
              <a:ext uri="{FF2B5EF4-FFF2-40B4-BE49-F238E27FC236}">
                <a16:creationId xmlns:a16="http://schemas.microsoft.com/office/drawing/2014/main" id="{EAFF3B98-C107-4C21-9F86-54FA3624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1007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两段恢复扣render后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152.01 s，占T*2.31%。</a:t>
            </a:r>
          </a:p>
        </p:txBody>
      </p:sp>
      <p:sp>
        <p:nvSpPr>
          <p:cNvPr id="11" name="候选切入点：阶段进展判断、有界恢复与事件触发，质量和完整关键路径一起验收。">
            <a:extLst xmlns:a="http://schemas.openxmlformats.org/drawingml/2006/main">
              <a:ext uri="{FF2B5EF4-FFF2-40B4-BE49-F238E27FC236}">
                <a16:creationId xmlns:a16="http://schemas.microsoft.com/office/drawing/2014/main" id="{5CD2BB14-04AC-4FAC-9247-50B89BB7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候选切入点：阶段进展判断、有界恢复与事件触发，质量和完整关键路径一起验收。</a:t>
            </a:r>
          </a:p>
        </p:txBody>
      </p:sp>
    </p:spTree>
    <p:extLst>
      <p:ext uri="{BB962C8B-B14F-4D97-AF65-F5344CB8AC3E}">
        <p14:creationId xmlns:p14="http://schemas.microsoft.com/office/powerpoint/2010/main" val="16450179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DeepSeek v5：请求指标的均值与p50">
            <a:extLst xmlns:a="http://schemas.openxmlformats.org/drawingml/2006/main">
              <a:ext uri="{FF2B5EF4-FFF2-40B4-BE49-F238E27FC236}">
                <a16:creationId xmlns:a16="http://schemas.microsoft.com/office/drawing/2014/main" id="{5DE3035C-D508-4E5A-BDC6-9E607C26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DeepSeek v5：请求指标的均值与p50</a:t>
            </a:r>
          </a:p>
        </p:txBody>
      </p:sp>
      <p:sp>
        <p:nvSpPr>
          <p:cNvPr id="2" name="报告逐轮表重算，均值为约数。首SSE是否过滤空事件未确认，均为客户端窗口。〔E3〕">
            <a:extLst xmlns:a="http://schemas.openxmlformats.org/drawingml/2006/main">
              <a:ext uri="{FF2B5EF4-FFF2-40B4-BE49-F238E27FC236}">
                <a16:creationId xmlns:a16="http://schemas.microsoft.com/office/drawing/2014/main" id="{AB6A0E4F-D052-446C-A4B7-D04CEC64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报告逐轮表重算，均值为约数。首SSE是否过滤空事件未确认，均为客户端窗口。〔E3〕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612FDC98-C199-4CD7-BACE-D8BE6111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4" name="单局15轮182.5 s，LLM累计约93.6 s（约51.3%）">
            <a:extLst xmlns:a="http://schemas.openxmlformats.org/drawingml/2006/main">
              <a:ext uri="{FF2B5EF4-FFF2-40B4-BE49-F238E27FC236}">
                <a16:creationId xmlns:a16="http://schemas.microsoft.com/office/drawing/2014/main" id="{D2C4AA96-3BEE-4160-9794-810D25F1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单局15轮182.5 s，LLM累计约93.6 s（约51.3%）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5414D7-2C4E-4A49-BD66-57E4C7A34EF2}"/>
              </a:ext>
            </a:extLst>
          </p:cNvPr>
          <p:cNvGraphicFramePr/>
          <p:nvPr/>
        </p:nvGraphicFramePr>
        <p:xfrm>
          <a:off xmlns:a="http://schemas.openxmlformats.org/drawingml/2006/main" x="609600" y="1914525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1790700"/>
                <a:gridCol w="1790700"/>
                <a:gridCol w="4533900"/>
              </a:tblGrid>
              <a:tr h="6096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客户端指标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均值 /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p50 /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定义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TTFT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1.817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1.07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请求起点至首SSE chunk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可见thinking窗口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3.143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1.46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首chunk至首正文chunk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正文／工具decode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1.280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0.65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首正文chunk至结束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完整LLM请求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6.24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3.50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完整请求窗口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均值高于中位数，长尾决定累计等待，不能只看“典型一轮”。">
            <a:extLst xmlns:a="http://schemas.openxmlformats.org/drawingml/2006/main">
              <a:ext uri="{FF2B5EF4-FFF2-40B4-BE49-F238E27FC236}">
                <a16:creationId xmlns:a16="http://schemas.microsoft.com/office/drawing/2014/main" id="{27E63D53-C6BE-4E70-9BC9-3BAD891D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均值高于中位数，长尾决定累计等待，不能只看“典型一轮”。</a:t>
            </a:r>
          </a:p>
        </p:txBody>
      </p:sp>
      <p:sp>
        <p:nvSpPr>
          <p:cNvPr id="7" name="旧v5 TPOT约4 ms，后续同局按output−1分母得p50为3.621 ms">
            <a:extLst xmlns:a="http://schemas.openxmlformats.org/drawingml/2006/main">
              <a:ext uri="{FF2B5EF4-FFF2-40B4-BE49-F238E27FC236}">
                <a16:creationId xmlns:a16="http://schemas.microsoft.com/office/drawing/2014/main" id="{00DAB843-F2C2-4218-BA73-55EF635F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旧v5 TPOT约4 ms，后续同局按output−1分母得p50为3.621 ms，定义不同。</a:t>
            </a:r>
          </a:p>
        </p:txBody>
      </p:sp>
    </p:spTree>
    <p:extLst>
      <p:ext uri="{BB962C8B-B14F-4D97-AF65-F5344CB8AC3E}">
        <p14:creationId xmlns:p14="http://schemas.microsoft.com/office/powerpoint/2010/main" val="14629113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DeepSeek v5：15轮长尾来自不同窗口">
            <a:extLst xmlns:a="http://schemas.openxmlformats.org/drawingml/2006/main">
              <a:ext uri="{FF2B5EF4-FFF2-40B4-BE49-F238E27FC236}">
                <a16:creationId xmlns:a16="http://schemas.microsoft.com/office/drawing/2014/main" id="{135A52B6-3C61-40BA-B413-D2F8AE37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DeepSeek v5：15轮长尾来自不同窗口</a:t>
            </a:r>
          </a:p>
        </p:txBody>
      </p:sp>
      <p:sp>
        <p:nvSpPr>
          <p:cNvPr id="2" name="15轮含初始化读资料、写记录与finish。表内三窗口经舍入，分项合计可能略有差异。">
            <a:extLst xmlns:a="http://schemas.openxmlformats.org/drawingml/2006/main">
              <a:ext uri="{FF2B5EF4-FFF2-40B4-BE49-F238E27FC236}">
                <a16:creationId xmlns:a16="http://schemas.microsoft.com/office/drawing/2014/main" id="{BA68D49C-89EA-4C7E-8ED1-5E991C9B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15轮含初始化读资料、写记录与finish。表内三窗口经舍入，分项合计可能略有差异。〔E3〕</a:t>
            </a:r>
          </a:p>
        </p:txBody>
      </p:sp>
      <p:sp>
        <p:nvSpPr>
          <p:cNvPr id="3" name="11">
            <a:extLst xmlns:a="http://schemas.openxmlformats.org/drawingml/2006/main">
              <a:ext uri="{FF2B5EF4-FFF2-40B4-BE49-F238E27FC236}">
                <a16:creationId xmlns:a16="http://schemas.microsoft.com/office/drawing/2014/main" id="{110F44C6-489E-4139-88C8-2C811127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2B09F3E2-A7B1-4AAB-9744-EF91332D6008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79057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a062d136194fde"/>
          </a:graphicData>
        </a:graphic>
      </p:graphicFrame>
      <p:sp>
        <p:nvSpPr>
          <p:cNvPr id="5" name="第11轮：thinking">
            <a:extLst xmlns:a="http://schemas.openxmlformats.org/drawingml/2006/main">
              <a:ext uri="{FF2B5EF4-FFF2-40B4-BE49-F238E27FC236}">
                <a16:creationId xmlns:a16="http://schemas.microsoft.com/office/drawing/2014/main" id="{F260A085-DFD7-420C-AD49-58C79A97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8592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第11轮：thinking</a:t>
            </a:r>
          </a:p>
        </p:txBody>
      </p:sp>
      <p:sp>
        <p:nvSpPr>
          <p:cNvPr id="6" name="19.96 s／总24.5 s&#10;reasoning 4491 tokens">
            <a:extLst xmlns:a="http://schemas.openxmlformats.org/drawingml/2006/main">
              <a:ext uri="{FF2B5EF4-FFF2-40B4-BE49-F238E27FC236}">
                <a16:creationId xmlns:a16="http://schemas.microsoft.com/office/drawing/2014/main" id="{38A9068A-170A-40A3-87FE-A8D864EC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4787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19.96 s／总24.5 s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reasoning 4491 tokens</a:t>
            </a:r>
          </a:p>
        </p:txBody>
      </p:sp>
      <p:sp>
        <p:nvSpPr>
          <p:cNvPr id="7" name="第14轮：decode">
            <a:extLst xmlns:a="http://schemas.openxmlformats.org/drawingml/2006/main">
              <a:ext uri="{FF2B5EF4-FFF2-40B4-BE49-F238E27FC236}">
                <a16:creationId xmlns:a16="http://schemas.microsoft.com/office/drawing/2014/main" id="{3C5BE212-E142-4E06-B596-46C70598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956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第14轮：decode</a:t>
            </a:r>
          </a:p>
        </p:txBody>
      </p:sp>
      <p:sp>
        <p:nvSpPr>
          <p:cNvPr id="8" name="8.94 s／总16.5 s&#10;其他输出2687 tokens">
            <a:extLst xmlns:a="http://schemas.openxmlformats.org/drawingml/2006/main">
              <a:ext uri="{FF2B5EF4-FFF2-40B4-BE49-F238E27FC236}">
                <a16:creationId xmlns:a16="http://schemas.microsoft.com/office/drawing/2014/main" id="{D4EF927B-298F-4CA2-AAEA-4BB52B20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575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8.94 s／总16.5 s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其他输出2687 tokens</a:t>
            </a:r>
          </a:p>
        </p:txBody>
      </p:sp>
      <p:sp>
        <p:nvSpPr>
          <p:cNvPr id="9" name="优化对象不同">
            <a:extLst xmlns:a="http://schemas.openxmlformats.org/drawingml/2006/main">
              <a:ext uri="{FF2B5EF4-FFF2-40B4-BE49-F238E27FC236}">
                <a16:creationId xmlns:a16="http://schemas.microsoft.com/office/drawing/2014/main" id="{8E2F8D18-4472-428B-B034-EE1AE139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10527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优化对象不同</a:t>
            </a:r>
          </a:p>
        </p:txBody>
      </p:sp>
      <p:sp>
        <p:nvSpPr>
          <p:cNvPr id="10" name="思考预算、工具载荷和完整结果时间需分别验证。">
            <a:extLst xmlns:a="http://schemas.openxmlformats.org/drawingml/2006/main">
              <a:ext uri="{FF2B5EF4-FFF2-40B4-BE49-F238E27FC236}">
                <a16:creationId xmlns:a16="http://schemas.microsoft.com/office/drawing/2014/main" id="{3D333C37-8ECC-4F37-A92E-192F61E5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6722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思考预算、工具载荷和完整结果时间需分别验证。</a:t>
            </a:r>
          </a:p>
        </p:txBody>
      </p:sp>
      <p:sp>
        <p:nvSpPr>
          <p:cNvPr id="11" name="182.5−93.6≈88.9 s先称“工具及其他剩余时间”，不能直接归为纯工具或纯">
            <a:extLst xmlns:a="http://schemas.openxmlformats.org/drawingml/2006/main">
              <a:ext uri="{FF2B5EF4-FFF2-40B4-BE49-F238E27FC236}">
                <a16:creationId xmlns:a16="http://schemas.microsoft.com/office/drawing/2014/main" id="{0AD46C84-9263-48AC-A823-8573E906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182.5−93.6≈88.9 s先称“工具及其他剩余时间”，不能直接归为纯工具或纯渲染。</a:t>
            </a:r>
          </a:p>
        </p:txBody>
      </p:sp>
    </p:spTree>
    <p:extLst>
      <p:ext uri="{BB962C8B-B14F-4D97-AF65-F5344CB8AC3E}">
        <p14:creationId xmlns:p14="http://schemas.microsoft.com/office/powerpoint/2010/main" val="14509913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eepSeek：payload、cache与context边界">
            <a:extLst xmlns:a="http://schemas.openxmlformats.org/drawingml/2006/main">
              <a:ext uri="{FF2B5EF4-FFF2-40B4-BE49-F238E27FC236}">
                <a16:creationId xmlns:a16="http://schemas.microsoft.com/office/drawing/2014/main" id="{B4757F66-DDA6-4119-9F9E-053BA7AF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DeepSeek：payload、cache与context边界</a:t>
            </a:r>
          </a:p>
        </p:txBody>
      </p:sp>
      <p:sp>
        <p:nvSpPr>
          <p:cNvPr id="2" name="v5与Files API旧局是独立集合。KB沿用原报告单位，未确认1000/1024">
            <a:extLst xmlns:a="http://schemas.openxmlformats.org/drawingml/2006/main">
              <a:ext uri="{FF2B5EF4-FFF2-40B4-BE49-F238E27FC236}">
                <a16:creationId xmlns:a16="http://schemas.microsoft.com/office/drawing/2014/main" id="{9B072FC7-B29D-4BB9-BDF6-C81CB0B9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v5与Files API旧局是独立集合。KB沿用原报告单位，未确认1000/1024口径。〔E3〕</a:t>
            </a:r>
          </a:p>
        </p:txBody>
      </p:sp>
      <p:sp>
        <p:nvSpPr>
          <p:cNvPr id="3" name="12">
            <a:extLst xmlns:a="http://schemas.openxmlformats.org/drawingml/2006/main">
              <a:ext uri="{FF2B5EF4-FFF2-40B4-BE49-F238E27FC236}">
                <a16:creationId xmlns:a16="http://schemas.microsoft.com/office/drawing/2014/main" id="{A339532A-9F91-42A5-BD8A-4F3E3176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E5777-FE1B-4665-9613-4C2400D42557}"/>
              </a:ext>
            </a:extLst>
          </p:cNvPr>
          <p:cNvGraphicFramePr/>
          <p:nvPr/>
        </p:nvGraphicFramePr>
        <p:xfrm>
          <a:off xmlns:a="http://schemas.openxmlformats.org/drawingml/2006/main" x="609600" y="1514475"/>
          <a:ext xmlns:a="http://schemas.openxmlformats.org/drawingml/2006/main" cx="10972800" cy="3390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52675"/>
                <a:gridCol w="4333875"/>
                <a:gridCol w="4286250"/>
              </a:tblGrid>
              <a:tr h="67818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观察对象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报告内证据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可解释范围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7818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v5请求payload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15次均值3136.1降为185.7 KB</a:t>
                      </a:r>
                    </a:p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末轮10118降为280 KB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请求体缩小，图片上传阶段仍需计入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7818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上下文与缓存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输入13,094增至84,686 tokens</a:t>
                      </a:r>
                    </a:p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缓存比例均值88.5%，p50 97%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跨请求输入重复历史，不能当新增输入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图像与TTFT探针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禁裁剪、末轮13图</a:t>
                      </a:r>
                    </a:p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另3次探针冷1.45／热约1.0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同时改变多项条件，仅支持该输入基线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7818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服务端阶段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“DS服务端”均值0.46／p50 0.44 s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客户端代理区间，prefill与排队仍未拆分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缓存收益要同时记录命中条件、输入稳定性、上传成本与完整请求时间。">
            <a:extLst xmlns:a="http://schemas.openxmlformats.org/drawingml/2006/main">
              <a:ext uri="{FF2B5EF4-FFF2-40B4-BE49-F238E27FC236}">
                <a16:creationId xmlns:a16="http://schemas.microsoft.com/office/drawing/2014/main" id="{7BBD77C8-ADA5-4B7E-80CA-16268463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缓存收益要同时记录命中条件、输入稳定性、上传成本与完整请求时间。</a:t>
            </a:r>
          </a:p>
        </p:txBody>
      </p:sp>
      <p:sp>
        <p:nvSpPr>
          <p:cNvPr id="6" name="减少上下文或图像前，先确认对象识别、历史状态与任务质量保持。">
            <a:extLst xmlns:a="http://schemas.openxmlformats.org/drawingml/2006/main">
              <a:ext uri="{FF2B5EF4-FFF2-40B4-BE49-F238E27FC236}">
                <a16:creationId xmlns:a16="http://schemas.microsoft.com/office/drawing/2014/main" id="{974358D0-0E5F-4EC7-B3BA-CD021FA8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减少上下文或图像前，先确认对象识别、历史状态与任务质量保持。</a:t>
            </a:r>
          </a:p>
        </p:txBody>
      </p:sp>
    </p:spTree>
    <p:extLst>
      <p:ext uri="{BB962C8B-B14F-4D97-AF65-F5344CB8AC3E}">
        <p14:creationId xmlns:p14="http://schemas.microsoft.com/office/powerpoint/2010/main" val="11345532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DeepSeek medium／none：共同成功两seed">
            <a:extLst xmlns:a="http://schemas.openxmlformats.org/drawingml/2006/main">
              <a:ext uri="{FF2B5EF4-FFF2-40B4-BE49-F238E27FC236}">
                <a16:creationId xmlns:a16="http://schemas.microsoft.com/office/drawing/2014/main" id="{B8343FEF-6430-446C-814D-8B43562E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DeepSeek medium／none：共同成功两seed</a:t>
            </a:r>
          </a:p>
        </p:txBody>
      </p:sp>
      <p:sp>
        <p:nvSpPr>
          <p:cNvPr id="2" name="每档2/4成功，t9均未完成。小样本、system hash不完全相同，不证明成功率">
            <a:extLst xmlns:a="http://schemas.openxmlformats.org/drawingml/2006/main">
              <a:ext uri="{FF2B5EF4-FFF2-40B4-BE49-F238E27FC236}">
                <a16:creationId xmlns:a16="http://schemas.microsoft.com/office/drawing/2014/main" id="{E1DDF206-160A-49C1-9CD6-2BB39BEA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每档2/4成功，t9均未完成。小样本、system hash不完全相同，不证明成功率等价。〔E3〕</a:t>
            </a:r>
          </a:p>
        </p:txBody>
      </p:sp>
      <p:sp>
        <p:nvSpPr>
          <p:cNvPr id="3" name="13">
            <a:extLst xmlns:a="http://schemas.openxmlformats.org/drawingml/2006/main">
              <a:ext uri="{FF2B5EF4-FFF2-40B4-BE49-F238E27FC236}">
                <a16:creationId xmlns:a16="http://schemas.microsoft.com/office/drawing/2014/main" id="{2E8D9660-7700-48A5-8C2A-66E7649E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4" name="共同成功episode合计2326.7降至1848.2 s，下降20.6%">
            <a:extLst xmlns:a="http://schemas.openxmlformats.org/drawingml/2006/main">
              <a:ext uri="{FF2B5EF4-FFF2-40B4-BE49-F238E27FC236}">
                <a16:creationId xmlns:a16="http://schemas.microsoft.com/office/drawing/2014/main" id="{37D58EAD-0E56-4797-803C-2FAAB097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共同成功episode合计2326.7降至1848.2 s，下降20.6%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D02EFD-2850-494A-9C36-A77FBFF2C5A3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47925"/>
                <a:gridCol w="3143250"/>
                <a:gridCol w="3143250"/>
                <a:gridCol w="2238375"/>
              </a:tblGrid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配对初态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medium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none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耗时下降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t0 / seed0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1497.8 s / 37轮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1043.1 s / 31轮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30.4%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t0 / seed1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828.9 s / 26轮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805.1 s / 26轮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2.9%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两seed合计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2326.7 s / 63轮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1848.2 s / 57轮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20.6%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6" name="轮次同时63降至57，无法把20.6%全部归为同轨迹thinking缩短。">
            <a:extLst xmlns:a="http://schemas.openxmlformats.org/drawingml/2006/main">
              <a:ext uri="{FF2B5EF4-FFF2-40B4-BE49-F238E27FC236}">
                <a16:creationId xmlns:a16="http://schemas.microsoft.com/office/drawing/2014/main" id="{C6C42BB2-69A3-4263-889D-29124A1B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轮次同时63降至57，无法把20.6%全部归为同轨迹thinking缩短。</a:t>
            </a:r>
          </a:p>
        </p:txBody>
      </p:sp>
      <p:sp>
        <p:nvSpPr>
          <p:cNvPr id="7" name="共同成功四集TTFT代理占LLM累计70.8%，包含网络与等待。">
            <a:extLst xmlns:a="http://schemas.openxmlformats.org/drawingml/2006/main">
              <a:ext uri="{FF2B5EF4-FFF2-40B4-BE49-F238E27FC236}">
                <a16:creationId xmlns:a16="http://schemas.microsoft.com/office/drawing/2014/main" id="{26FFECCB-28B7-43AC-A544-B57DD62E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共同成功四集TTFT代理占LLM累计70.8%，包含网络与等待。</a:t>
            </a:r>
          </a:p>
        </p:txBody>
      </p:sp>
      <p:sp>
        <p:nvSpPr>
          <p:cNvPr id="8" name="medium两成功集thinking估计352.550 s按token分摊，不能替代">
            <a:extLst xmlns:a="http://schemas.openxmlformats.org/drawingml/2006/main">
              <a:ext uri="{FF2B5EF4-FFF2-40B4-BE49-F238E27FC236}">
                <a16:creationId xmlns:a16="http://schemas.microsoft.com/office/drawing/2014/main" id="{9187347A-7C99-4FCD-827C-59EBD818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medium两成功集thinking估计352.550 s按token分摊，不能替代服务端阶段实测。</a:t>
            </a:r>
          </a:p>
        </p:txBody>
      </p:sp>
    </p:spTree>
    <p:extLst>
      <p:ext uri="{BB962C8B-B14F-4D97-AF65-F5344CB8AC3E}">
        <p14:creationId xmlns:p14="http://schemas.microsoft.com/office/powerpoint/2010/main" val="16585197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DeepSeek后续审计：首输出后占80.3%">
            <a:extLst xmlns:a="http://schemas.openxmlformats.org/drawingml/2006/main">
              <a:ext uri="{FF2B5EF4-FFF2-40B4-BE49-F238E27FC236}">
                <a16:creationId xmlns:a16="http://schemas.microsoft.com/office/drawing/2014/main" id="{D13FED30-D0F4-48C6-94DE-40E2DCEA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DeepSeek后续审计：首输出后占80.3%</a:t>
            </a:r>
          </a:p>
        </p:txBody>
      </p:sp>
      <p:sp>
        <p:nvSpPr>
          <p:cNvPr id="2" name="后续主例ds_t2_par，1集15次有效请求。客户端时间戳实测窗口，不同于v5旧局">
            <a:extLst xmlns:a="http://schemas.openxmlformats.org/drawingml/2006/main">
              <a:ext uri="{FF2B5EF4-FFF2-40B4-BE49-F238E27FC236}">
                <a16:creationId xmlns:a16="http://schemas.microsoft.com/office/drawing/2014/main" id="{1FF30157-3651-4FF4-84B9-AEE6F867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后续主例ds_t2_par，1集15次有效请求。客户端时间戳实测窗口，不同于v5旧局。〔E3〕</a:t>
            </a:r>
          </a:p>
        </p:txBody>
      </p:sp>
      <p:sp>
        <p:nvSpPr>
          <p:cNvPr id="3" name="14">
            <a:extLst xmlns:a="http://schemas.openxmlformats.org/drawingml/2006/main">
              <a:ext uri="{FF2B5EF4-FFF2-40B4-BE49-F238E27FC236}">
                <a16:creationId xmlns:a16="http://schemas.microsoft.com/office/drawing/2014/main" id="{689DD678-A299-47B6-AB1C-9C9105CF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4" name="episode 205.3 s，LLM 110.534 s，首输出后88.796 s">
            <a:extLst xmlns:a="http://schemas.openxmlformats.org/drawingml/2006/main">
              <a:ext uri="{FF2B5EF4-FFF2-40B4-BE49-F238E27FC236}">
                <a16:creationId xmlns:a16="http://schemas.microsoft.com/office/drawing/2014/main" id="{E6CB31ED-F2D1-43D6-954B-F32F2EE0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episode 205.3 s，LLM 110.534 s，首输出后88.796 s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2435EECA-ED5E-4BCF-94E8-4D0E1AC4491C}"/>
              </a:ext>
            </a:extLst>
          </p:cNvPr>
          <p:cNvGraphicFramePr/>
          <p:nvPr/>
        </p:nvGraphicFramePr>
        <p:xfrm>
          <a:off xmlns:a="http://schemas.openxmlformats.org/drawingml/2006/main" x="609600" y="1933575"/>
          <a:ext xmlns:a="http://schemas.openxmlformats.org/drawingml/2006/main" cx="79057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23894bccca405d"/>
          </a:graphicData>
        </a:graphic>
      </p:graphicFrame>
      <p:sp>
        <p:nvSpPr>
          <p:cNvPr id="6" name="TTFT占19.7%">
            <a:extLst xmlns:a="http://schemas.openxmlformats.org/drawingml/2006/main">
              <a:ext uri="{FF2B5EF4-FFF2-40B4-BE49-F238E27FC236}">
                <a16:creationId xmlns:a16="http://schemas.microsoft.com/office/drawing/2014/main" id="{362B7B18-4E16-4469-ABE6-FCC2EB6A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669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TTFT占19.7%</a:t>
            </a:r>
          </a:p>
        </p:txBody>
      </p:sp>
      <p:sp>
        <p:nvSpPr>
          <p:cNvPr id="7" name="累计21.739 s&#10;p50 1.270 s">
            <a:extLst xmlns:a="http://schemas.openxmlformats.org/drawingml/2006/main">
              <a:ext uri="{FF2B5EF4-FFF2-40B4-BE49-F238E27FC236}">
                <a16:creationId xmlns:a16="http://schemas.microsoft.com/office/drawing/2014/main" id="{A506EA0F-98B5-4020-AC49-3BCF3D8E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288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累计21.739 s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p50 1.270 s</a:t>
            </a:r>
          </a:p>
        </p:txBody>
      </p:sp>
      <p:sp>
        <p:nvSpPr>
          <p:cNvPr id="8" name="输出窗口更大">
            <a:extLst xmlns:a="http://schemas.openxmlformats.org/drawingml/2006/main">
              <a:ext uri="{FF2B5EF4-FFF2-40B4-BE49-F238E27FC236}">
                <a16:creationId xmlns:a16="http://schemas.microsoft.com/office/drawing/2014/main" id="{DAEAC2CC-74FC-4E62-941B-854490BE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5752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输出窗口更大</a:t>
            </a:r>
          </a:p>
        </p:txBody>
      </p:sp>
      <p:sp>
        <p:nvSpPr>
          <p:cNvPr id="9" name="14个可见thinking窗口&#10;累计68.663 s。">
            <a:extLst xmlns:a="http://schemas.openxmlformats.org/drawingml/2006/main">
              <a:ext uri="{FF2B5EF4-FFF2-40B4-BE49-F238E27FC236}">
                <a16:creationId xmlns:a16="http://schemas.microsoft.com/office/drawing/2014/main" id="{282EF782-13A1-4AFB-AC00-B1692C68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419475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14个可见thinking窗口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累计68.663 s。</a:t>
            </a:r>
          </a:p>
        </p:txBody>
      </p:sp>
      <p:sp>
        <p:nvSpPr>
          <p:cNvPr id="10" name="优化预算随集合变">
            <a:extLst xmlns:a="http://schemas.openxmlformats.org/drawingml/2006/main">
              <a:ext uri="{FF2B5EF4-FFF2-40B4-BE49-F238E27FC236}">
                <a16:creationId xmlns:a16="http://schemas.microsoft.com/office/drawing/2014/main" id="{370D89A4-29A5-43F3-9C02-D41AD6F5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24815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优化预算随集合变</a:t>
            </a:r>
          </a:p>
        </p:txBody>
      </p:sp>
      <p:sp>
        <p:nvSpPr>
          <p:cNvPr id="11" name="同样缩短20%：&#10;输出窗口约17.76 s&#10;TTFT约4.35 s。">
            <a:extLst xmlns:a="http://schemas.openxmlformats.org/drawingml/2006/main">
              <a:ext uri="{FF2B5EF4-FFF2-40B4-BE49-F238E27FC236}">
                <a16:creationId xmlns:a16="http://schemas.microsoft.com/office/drawing/2014/main" id="{74ECA1BD-EA7D-4F92-88CB-414D58BE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61010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同样缩短20%：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输出窗口约17.76 s</a:t>
            </a:r>
          </a:p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TTFT约4.35 s。</a:t>
            </a:r>
          </a:p>
        </p:txBody>
      </p:sp>
      <p:sp>
        <p:nvSpPr>
          <p:cNvPr id="12" name="上述是请求工作量预算，只有落在关键路径上的部分才转为episode节省。">
            <a:extLst xmlns:a="http://schemas.openxmlformats.org/drawingml/2006/main">
              <a:ext uri="{FF2B5EF4-FFF2-40B4-BE49-F238E27FC236}">
                <a16:creationId xmlns:a16="http://schemas.microsoft.com/office/drawing/2014/main" id="{FDA4B218-DFA2-47ED-AE80-55D80457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上述是请求工作量预算，只有落在关键路径上的部分才转为episode节省。</a:t>
            </a:r>
          </a:p>
        </p:txBody>
      </p:sp>
    </p:spTree>
    <p:extLst>
      <p:ext uri="{BB962C8B-B14F-4D97-AF65-F5344CB8AC3E}">
        <p14:creationId xmlns:p14="http://schemas.microsoft.com/office/powerpoint/2010/main" val="113969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T low think：阶段反馈与条件收益">
            <a:extLst xmlns:a="http://schemas.openxmlformats.org/drawingml/2006/main">
              <a:ext uri="{FF2B5EF4-FFF2-40B4-BE49-F238E27FC236}">
                <a16:creationId xmlns:a16="http://schemas.microsoft.com/office/drawing/2014/main" id="{7188B1AD-E3C8-4C0C-8554-7CA82B11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MT low think：阶段反馈与条件收益</a:t>
            </a:r>
          </a:p>
        </p:txBody>
      </p:sp>
      <p:sp>
        <p:nvSpPr>
          <p:cNvPr id="2" name="E4用户转述MT最新实验。质量、样本量、均值／中位数和时钟边界待补证。">
            <a:extLst xmlns:a="http://schemas.openxmlformats.org/drawingml/2006/main">
              <a:ext uri="{FF2B5EF4-FFF2-40B4-BE49-F238E27FC236}">
                <a16:creationId xmlns:a16="http://schemas.microsoft.com/office/drawing/2014/main" id="{0AEC575E-3798-42E4-8658-DBAC493D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E4用户转述MT最新实验。质量、样本量、均值／中位数和时钟边界待补证。</a:t>
            </a:r>
          </a:p>
        </p:txBody>
      </p:sp>
      <p:sp>
        <p:nvSpPr>
          <p:cNvPr id="3" name="15">
            <a:extLst xmlns:a="http://schemas.openxmlformats.org/drawingml/2006/main">
              <a:ext uri="{FF2B5EF4-FFF2-40B4-BE49-F238E27FC236}">
                <a16:creationId xmlns:a16="http://schemas.microsoft.com/office/drawing/2014/main" id="{71B784D6-F702-4661-B7EE-5FB7BA3B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4" name="4.6 s  降至  1.4 s">
            <a:extLst xmlns:a="http://schemas.openxmlformats.org/drawingml/2006/main">
              <a:ext uri="{FF2B5EF4-FFF2-40B4-BE49-F238E27FC236}">
                <a16:creationId xmlns:a16="http://schemas.microsoft.com/office/drawing/2014/main" id="{8A05F4AC-28A5-4EB7-8B42-2D7F4565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2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25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4.6 s  降至  1.4 s</a:t>
            </a:r>
          </a:p>
        </p:txBody>
      </p:sp>
      <p:sp>
        <p:nvSpPr>
          <p:cNvPr id="5" name="阶段指标差3.2 s，下降69.6%，阶段速度比约3.29×">
            <a:extLst xmlns:a="http://schemas.openxmlformats.org/drawingml/2006/main">
              <a:ext uri="{FF2B5EF4-FFF2-40B4-BE49-F238E27FC236}">
                <a16:creationId xmlns:a16="http://schemas.microsoft.com/office/drawing/2014/main" id="{E6B23828-C440-43D5-9656-9BA061F3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阶段指标差3.2 s，下降69.6%，阶段速度比约3.29×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A32A7FC0-2F41-42B5-B367-882B0AD29D31}"/>
              </a:ext>
            </a:extLst>
          </p:cNvPr>
          <p:cNvGraphicFramePr/>
          <p:nvPr/>
        </p:nvGraphicFramePr>
        <p:xfrm>
          <a:off xmlns:a="http://schemas.openxmlformats.org/drawingml/2006/main" x="609600" y="2952750"/>
          <a:ext xmlns:a="http://schemas.openxmlformats.org/drawingml/2006/main" cx="7905750" cy="25622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05b3d3ee5440a5"/>
          </a:graphicData>
        </a:graphic>
      </p:graphicFrame>
      <p:sp>
        <p:nvSpPr>
          <p:cNvPr id="7" name="条件演算">
            <a:extLst xmlns:a="http://schemas.openxmlformats.org/drawingml/2006/main">
              <a:ext uri="{FF2B5EF4-FFF2-40B4-BE49-F238E27FC236}">
                <a16:creationId xmlns:a16="http://schemas.microsoft.com/office/drawing/2014/main" id="{9897EDC5-73D8-4226-B273-FB9CE7C4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861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条件演算</a:t>
            </a:r>
          </a:p>
        </p:txBody>
      </p:sp>
      <p:sp>
        <p:nvSpPr>
          <p:cNvPr id="8" name="其他成本不变，完整请求降幅约69.6%×f。">
            <a:extLst xmlns:a="http://schemas.openxmlformats.org/drawingml/2006/main">
              <a:ext uri="{FF2B5EF4-FFF2-40B4-BE49-F238E27FC236}">
                <a16:creationId xmlns:a16="http://schemas.microsoft.com/office/drawing/2014/main" id="{3CAD1C25-9500-4ACC-A38D-BFAC1B7E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4480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其他成本不变，完整请求降幅约69.6%×f。</a:t>
            </a:r>
          </a:p>
        </p:txBody>
      </p:sp>
      <p:sp>
        <p:nvSpPr>
          <p:cNvPr id="9" name="整集还受N影响">
            <a:extLst xmlns:a="http://schemas.openxmlformats.org/drawingml/2006/main">
              <a:ext uri="{FF2B5EF4-FFF2-40B4-BE49-F238E27FC236}">
                <a16:creationId xmlns:a16="http://schemas.microsoft.com/office/drawing/2014/main" id="{CDE6DE31-8DCB-4A0D-B29F-82C10CDC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3434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整集还受N影响</a:t>
            </a:r>
          </a:p>
        </p:txBody>
      </p:sp>
      <p:sp>
        <p:nvSpPr>
          <p:cNvPr id="10" name="同口径均值、固定请求数和关键路径均需成立。">
            <a:extLst xmlns:a="http://schemas.openxmlformats.org/drawingml/2006/main">
              <a:ext uri="{FF2B5EF4-FFF2-40B4-BE49-F238E27FC236}">
                <a16:creationId xmlns:a16="http://schemas.microsoft.com/office/drawing/2014/main" id="{DD5E484B-5D32-44A8-A37C-926E0D27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05350"/>
            <a:ext cx="274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同口径均值、固定请求数和关键路径均需成立。</a:t>
            </a:r>
          </a:p>
        </p:txBody>
      </p:sp>
      <p:sp>
        <p:nvSpPr>
          <p:cNvPr id="11" name="后续将low作为候选档位，先验证任务质量基本不降，再比较完整请求与整集成本。">
            <a:extLst xmlns:a="http://schemas.openxmlformats.org/drawingml/2006/main">
              <a:ext uri="{FF2B5EF4-FFF2-40B4-BE49-F238E27FC236}">
                <a16:creationId xmlns:a16="http://schemas.microsoft.com/office/drawing/2014/main" id="{F4BFA500-C549-401F-B3F0-56EBBE82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后续将low作为候选档位，先验证任务质量基本不降，再比较完整请求与整集成本。</a:t>
            </a:r>
          </a:p>
        </p:txBody>
      </p:sp>
    </p:spTree>
    <p:extLst>
      <p:ext uri="{BB962C8B-B14F-4D97-AF65-F5344CB8AC3E}">
        <p14:creationId xmlns:p14="http://schemas.microsoft.com/office/powerpoint/2010/main" val="18459228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候选优化矩阵：证据、风险与验收">
            <a:extLst xmlns:a="http://schemas.openxmlformats.org/drawingml/2006/main">
              <a:ext uri="{FF2B5EF4-FFF2-40B4-BE49-F238E27FC236}">
                <a16:creationId xmlns:a16="http://schemas.microsoft.com/office/drawing/2014/main" id="{A417693E-430E-4F44-9B46-7E0FAADA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候选优化矩阵：证据、风险与验收</a:t>
            </a:r>
          </a:p>
        </p:txBody>
      </p:sp>
      <p:sp>
        <p:nvSpPr>
          <p:cNvPr id="2" name="候选路线尚未选定。共享输入、版本与质量判据，不把失败早停当作提速。〔接口E1／方案E">
            <a:extLst xmlns:a="http://schemas.openxmlformats.org/drawingml/2006/main">
              <a:ext uri="{FF2B5EF4-FFF2-40B4-BE49-F238E27FC236}">
                <a16:creationId xmlns:a16="http://schemas.microsoft.com/office/drawing/2014/main" id="{8AF627E6-ED12-4E78-BF1B-3379458D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候选路线尚未选定。共享输入、版本与质量判据，不把失败早停当作提速。〔接口E1／方案E3〕</a:t>
            </a:r>
          </a:p>
        </p:txBody>
      </p:sp>
      <p:sp>
        <p:nvSpPr>
          <p:cNvPr id="3" name="16">
            <a:extLst xmlns:a="http://schemas.openxmlformats.org/drawingml/2006/main">
              <a:ext uri="{FF2B5EF4-FFF2-40B4-BE49-F238E27FC236}">
                <a16:creationId xmlns:a16="http://schemas.microsoft.com/office/drawing/2014/main" id="{E861AF32-662A-443E-95E2-5B7A857B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DDB36C-1FC6-4B32-B78E-A310848E07C4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95525"/>
                <a:gridCol w="2895600"/>
                <a:gridCol w="2333625"/>
                <a:gridCol w="3448050"/>
              </a:tblGrid>
              <a:tr h="6270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候选方向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当前支持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主要风险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质量与成本验收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270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low／none思考档位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medium/none有小样本对照，MT为E4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动作质量、异常输出变化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配对成功、合法动作、请求与整集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270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payload／上下文／缓存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文件引用、流式已有证据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裁剪丢信息、命中条件漂移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任务质量、输入量、命中与完整等待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70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调用粒度与事件触发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轮次、π块与恢复存在长尾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延迟发现偏差、局部恢复失效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成功、无进展轮、恢复代价、AoI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270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Jev有限选择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接口源码已核实</a:t>
                      </a:r>
                    </a:p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RPent收益未验证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状态／候选生成</a:t>
                      </a:r>
                    </a:p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回退与额外调用成本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固定状态与候选比较，计完整链路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7063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本地π／NPU调度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局部handler与探针可定位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共置干扰、过期动作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deadline、chunk gap、整集关键路径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5" name="候选仍未选定。按共同质量门槛比较完整链路收益，并保留所有attempt成本。">
            <a:extLst xmlns:a="http://schemas.openxmlformats.org/drawingml/2006/main">
              <a:ext uri="{FF2B5EF4-FFF2-40B4-BE49-F238E27FC236}">
                <a16:creationId xmlns:a16="http://schemas.microsoft.com/office/drawing/2014/main" id="{AA1DDC11-21CE-4BC5-AD9A-D649DB47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候选仍未选定。按共同质量门槛比较完整链路收益，并保留所有attempt成本。</a:t>
            </a:r>
          </a:p>
        </p:txBody>
      </p:sp>
    </p:spTree>
    <p:extLst>
      <p:ext uri="{BB962C8B-B14F-4D97-AF65-F5344CB8AC3E}">
        <p14:creationId xmlns:p14="http://schemas.microsoft.com/office/powerpoint/2010/main" val="10918217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stra／Jev／VLA：四种架构候选">
            <a:extLst xmlns:a="http://schemas.openxmlformats.org/drawingml/2006/main">
              <a:ext uri="{FF2B5EF4-FFF2-40B4-BE49-F238E27FC236}">
                <a16:creationId xmlns:a16="http://schemas.microsoft.com/office/drawing/2014/main" id="{E850E52C-1734-4E92-8498-24C65AC4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Astra／Jev／VLA：四种架构候选</a:t>
            </a:r>
          </a:p>
        </p:txBody>
      </p:sp>
      <p:sp>
        <p:nvSpPr>
          <p:cNvPr id="2" name="RPent已有π技能。Jev为文本有限选择器，EmbodiedJev数值伺服与RPe">
            <a:extLst xmlns:a="http://schemas.openxmlformats.org/drawingml/2006/main">
              <a:ext uri="{FF2B5EF4-FFF2-40B4-BE49-F238E27FC236}">
                <a16:creationId xmlns:a16="http://schemas.microsoft.com/office/drawing/2014/main" id="{37128E03-488C-4C5F-9434-99501F060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RPent已有π技能。Jev为文本有限选择器，EmbodiedJev数值伺服与RPent的VLA属不同实验链。〔E1/E3〕</a:t>
            </a:r>
          </a:p>
        </p:txBody>
      </p:sp>
      <p:sp>
        <p:nvSpPr>
          <p:cNvPr id="3" name="17">
            <a:extLst xmlns:a="http://schemas.openxmlformats.org/drawingml/2006/main">
              <a:ext uri="{FF2B5EF4-FFF2-40B4-BE49-F238E27FC236}">
                <a16:creationId xmlns:a16="http://schemas.microsoft.com/office/drawing/2014/main" id="{BE921D94-88AA-43BE-BF4B-EFEC3970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10710A-E2BB-4782-9EEC-59DF5DC06C21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3238500"/>
                <a:gridCol w="2286000"/>
                <a:gridCol w="2733675"/>
              </a:tblGrid>
              <a:tr h="6953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架构候选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职责分配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潜在收益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新增成本／约束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现有Astra＋技能/VLA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Astra按现有闭环调用</a:t>
                      </a:r>
                    </a:p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几何工具／π技能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保留现有基线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重复往返与恢复长尾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低频Astra＋VLA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Astra定阶段</a:t>
                      </a:r>
                    </a:p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VLA执行有限动作块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减少高层调用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进展监测与过期动作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Jev选择＋VLA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外部提供状态／候选</a:t>
                      </a:r>
                    </a:p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Jev选择，VLA执行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有限选择器处理事件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状态／候选生成</a:t>
                      </a:r>
                    </a:p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回退与额外调用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95325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Astra＋Jev＋VLA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Astra感知和规划</a:t>
                      </a:r>
                    </a:p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Jev选择，VLA执行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分离规划与选择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02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候选错误与串行延迟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若Astra每轮仍先生成候选再串行调用Jev，可能新增等待，整体收益尚未验证。">
            <a:extLst xmlns:a="http://schemas.openxmlformats.org/drawingml/2006/main">
              <a:ext uri="{FF2B5EF4-FFF2-40B4-BE49-F238E27FC236}">
                <a16:creationId xmlns:a16="http://schemas.microsoft.com/office/drawing/2014/main" id="{99E4E335-D144-44DF-A76B-8F00DC65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若Astra每轮仍先生成候选再串行调用Jev，可能新增等待，整体收益尚未验证。</a:t>
            </a:r>
          </a:p>
        </p:txBody>
      </p:sp>
      <p:sp>
        <p:nvSpPr>
          <p:cNvPr id="6" name="规则／Astra／Jev固定状态与候选消融，保持安全约束、触发条件和回退预算相同。">
            <a:extLst xmlns:a="http://schemas.openxmlformats.org/drawingml/2006/main">
              <a:ext uri="{FF2B5EF4-FFF2-40B4-BE49-F238E27FC236}">
                <a16:creationId xmlns:a16="http://schemas.microsoft.com/office/drawing/2014/main" id="{68437F5E-FFD9-4471-A7B5-EB3CEDAC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规则／Astra／Jev固定状态与候选消融，保持安全约束、触发条件和回退预算相同。</a:t>
            </a:r>
          </a:p>
        </p:txBody>
      </p:sp>
    </p:spTree>
    <p:extLst>
      <p:ext uri="{BB962C8B-B14F-4D97-AF65-F5344CB8AC3E}">
        <p14:creationId xmlns:p14="http://schemas.microsoft.com/office/powerpoint/2010/main" val="39668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技术趋势与局部实时性">
            <a:extLst xmlns:a="http://schemas.openxmlformats.org/drawingml/2006/main">
              <a:ext uri="{FF2B5EF4-FFF2-40B4-BE49-F238E27FC236}">
                <a16:creationId xmlns:a16="http://schemas.microsoft.com/office/drawing/2014/main" id="{4011BC9F-51A9-40A2-93FD-647845F5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技术趋势与局部实时性</a:t>
            </a:r>
          </a:p>
        </p:txBody>
      </p:sp>
      <p:sp>
        <p:nvSpPr>
          <p:cNvPr id="2" name="官方机制借鉴，访问2026-10-14。固定帧π探针非在线handler均值，上游频">
            <a:extLst xmlns:a="http://schemas.openxmlformats.org/drawingml/2006/main">
              <a:ext uri="{FF2B5EF4-FFF2-40B4-BE49-F238E27FC236}">
                <a16:creationId xmlns:a16="http://schemas.microsoft.com/office/drawing/2014/main" id="{36D61D26-3AC9-40E8-8FBA-7026C178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官方机制借鉴，访问2026-10-14。固定帧π探针非在线handler均值，上游频率不可直接套用。〔E3〕</a:t>
            </a:r>
          </a:p>
        </p:txBody>
      </p:sp>
      <p:sp>
        <p:nvSpPr>
          <p:cNvPr id="3" name="18">
            <a:extLst xmlns:a="http://schemas.openxmlformats.org/drawingml/2006/main">
              <a:ext uri="{FF2B5EF4-FFF2-40B4-BE49-F238E27FC236}">
                <a16:creationId xmlns:a16="http://schemas.microsoft.com/office/drawing/2014/main" id="{D367FCC4-32A8-4E30-8EFE-C4817779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7DBA0B-8026-4D7B-9B49-41DC73017B7C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76450"/>
                <a:gridCol w="4438650"/>
                <a:gridCol w="4457700"/>
              </a:tblGrid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工作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可借鉴机制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本项目验证点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Hi Robot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高层语言子任务与低层执行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子目标是否减少无效往返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Helix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S2/S1异频与异步协同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观测年龄、阶段版本与触发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5794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RTC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执行旧chunk时生成新chunk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chunk连续性与过期动作处理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</a:tbl>
          </a:graphicData>
        </a:graphic>
      </p:graphicFrame>
      <p:sp>
        <p:nvSpPr>
          <p:cNvPr id="5" name="局部窗口：384 ms / chunk ＞ 5步 × 50 ms＝250 ms">
            <a:extLst xmlns:a="http://schemas.openxmlformats.org/drawingml/2006/main">
              <a:ext uri="{FF2B5EF4-FFF2-40B4-BE49-F238E27FC236}">
                <a16:creationId xmlns:a16="http://schemas.microsoft.com/office/drawing/2014/main" id="{856FE228-6CF1-46A6-9495-832E645A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17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078B98"/>
                </a:solidFill>
                <a:latin typeface="Hiragino Sans GB"/>
                <a:ea typeface="Hiragino Sans GB"/>
                <a:cs typeface="Hiragino Sans GB"/>
              </a:rPr>
              <a:t>局部窗口：384 ms / chunk ＞ 5步 × 50 ms＝250 ms</a:t>
            </a:r>
          </a:p>
        </p:txBody>
      </p:sp>
      <p:sp>
        <p:nvSpPr>
          <p:cNvPr id="6" name="本地VLA可优化算子与调度，仍需同时测deadline、chunk gap和设备共置">
            <a:extLst xmlns:a="http://schemas.openxmlformats.org/drawingml/2006/main">
              <a:ext uri="{FF2B5EF4-FFF2-40B4-BE49-F238E27FC236}">
                <a16:creationId xmlns:a16="http://schemas.microsoft.com/office/drawing/2014/main" id="{896F4A5D-F43F-4C44-B58D-DC9AB9AA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本地VLA可优化算子与调度，仍需同时测deadline、chunk gap和设备共置。</a:t>
            </a:r>
          </a:p>
        </p:txBody>
      </p:sp>
      <p:sp>
        <p:nvSpPr>
          <p:cNvPr id="7" name="云端Astra/Jev的可控项主要是输入、连接与调用策略，供应商内部计算保持未知。">
            <a:extLst xmlns:a="http://schemas.openxmlformats.org/drawingml/2006/main">
              <a:ext uri="{FF2B5EF4-FFF2-40B4-BE49-F238E27FC236}">
                <a16:creationId xmlns:a16="http://schemas.microsoft.com/office/drawing/2014/main" id="{A8E27AC6-D183-4F63-AAF0-125D2072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63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云端Astra/Jev的可控项主要是输入、连接与调用策略，供应商内部计算保持未知。</a:t>
            </a:r>
          </a:p>
        </p:txBody>
      </p:sp>
    </p:spTree>
    <p:extLst>
      <p:ext uri="{BB962C8B-B14F-4D97-AF65-F5344CB8AC3E}">
        <p14:creationId xmlns:p14="http://schemas.microsoft.com/office/powerpoint/2010/main" val="85737213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结论与质量门槛">
            <a:extLst xmlns:a="http://schemas.openxmlformats.org/drawingml/2006/main">
              <a:ext uri="{FF2B5EF4-FFF2-40B4-BE49-F238E27FC236}">
                <a16:creationId xmlns:a16="http://schemas.microsoft.com/office/drawing/2014/main" id="{3CE093B7-5ED9-4117-8516-DCD1706E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203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结论与质量门槛</a:t>
            </a:r>
          </a:p>
        </p:txBody>
      </p:sp>
      <p:sp>
        <p:nvSpPr>
          <p:cNvPr id="2" name="质量基本不降，候选路线未定。没有足够样本时只报告区间与趋势，不承诺非劣性。〔E3设计">
            <a:extLst xmlns:a="http://schemas.openxmlformats.org/drawingml/2006/main">
              <a:ext uri="{FF2B5EF4-FFF2-40B4-BE49-F238E27FC236}">
                <a16:creationId xmlns:a16="http://schemas.microsoft.com/office/drawing/2014/main" id="{D80D6063-1098-44E9-8D70-9D0C189F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13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质量基本不降，候选路线未定。没有足够样本时只报告区间与趋势，不承诺非劣性。〔E3设计〕</a:t>
            </a:r>
          </a:p>
        </p:txBody>
      </p:sp>
      <p:sp>
        <p:nvSpPr>
          <p:cNvPr id="3" name="19">
            <a:extLst xmlns:a="http://schemas.openxmlformats.org/drawingml/2006/main">
              <a:ext uri="{FF2B5EF4-FFF2-40B4-BE49-F238E27FC236}">
                <a16:creationId xmlns:a16="http://schemas.microsoft.com/office/drawing/2014/main" id="{4859DE89-37D3-4EA7-95AC-24D5B11E5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2579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A6E7D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1BE22-BDD9-4CE7-BAED-8DC6A714E517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352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7900"/>
                <a:gridCol w="4495800"/>
                <a:gridCol w="4229100"/>
              </a:tblGrid>
              <a:tr h="67056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阶段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可交付结果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晋级条件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T w="7620">
                      <a:solidFill>
                        <a:srgbClr val="D4E1E7"/>
                      </a:solidFill>
                      <a:prstDash val="solid"/>
                    </a:lnT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123451"/>
                    </a:solidFill>
                  </a:tcPr>
                </a:tc>
              </a:tr>
              <a:tr h="67056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证据补全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MT同口径、SSE边界</a:t>
                      </a:r>
                    </a:p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逻辑请求与attempt标识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数字可追溯，质量和时钟定义明确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7056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固定状态对照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档位、缓存、规则／Jev单次质量与延迟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动作合法，选择质量满足约定门槛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配对闭环比较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成功、完成质量、轮次、恢复与全部成本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质量基本不降且整集关键路径缩短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EFF6F8"/>
                    </a:solidFill>
                  </a:tcPr>
                </a:tc>
              </a:tr>
              <a:tr h="670560"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部署与实时验证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D4E1E7"/>
                      </a:solidFill>
                      <a:prstDash val="solid"/>
                    </a:lnL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NPU热点、共置、AoI与chunk gap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pPr algn="l"/>
                      <a:r>
                        <a:rPr sz="1763" b="0">
                          <a:solidFill>
                            <a:srgbClr val="18354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局部deadline满足，质量收益能保留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D4E1E7"/>
                      </a:solidFill>
                      <a:prstDash val="solid"/>
                    </a:lnR>
                    <a:lnB w="7620">
                      <a:solidFill>
                        <a:srgbClr val="D4E1E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已有成果：建立成功率、总账与请求窗口的分层证据，定位长程质量和等待长尾。">
            <a:extLst xmlns:a="http://schemas.openxmlformats.org/drawingml/2006/main">
              <a:ext uri="{FF2B5EF4-FFF2-40B4-BE49-F238E27FC236}">
                <a16:creationId xmlns:a16="http://schemas.microsoft.com/office/drawing/2014/main" id="{CB6E5479-3CCA-4D24-95AD-08CD2DD7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23451"/>
                </a:solidFill>
                <a:latin typeface="Hiragino Sans GB"/>
                <a:ea typeface="Hiragino Sans GB"/>
                <a:cs typeface="Hiragino Sans GB"/>
              </a:rPr>
              <a:t>已有成果：建立成功率、总账与请求窗口的分层证据，定位长程质量和等待长尾。</a:t>
            </a:r>
          </a:p>
        </p:txBody>
      </p:sp>
      <p:sp>
        <p:nvSpPr>
          <p:cNvPr id="6" name="下一步：用共同质量门槛比较候选路线，再决定投入方向和部署方式。">
            <a:extLst xmlns:a="http://schemas.openxmlformats.org/drawingml/2006/main">
              <a:ext uri="{FF2B5EF4-FFF2-40B4-BE49-F238E27FC236}">
                <a16:creationId xmlns:a16="http://schemas.microsoft.com/office/drawing/2014/main" id="{3A8FD7F6-4503-492A-8971-D1FB4627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80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18354A"/>
                </a:solidFill>
                <a:latin typeface="Hiragino Sans GB"/>
                <a:ea typeface="Hiragino Sans GB"/>
                <a:cs typeface="Hiragino Sans GB"/>
              </a:rPr>
              <a:t>下一步：用共同质量门槛比较候选路线，再决定投入方向和部署方式。</a:t>
            </a:r>
          </a:p>
        </p:txBody>
      </p:sp>
    </p:spTree>
    <p:extLst>
      <p:ext uri="{BB962C8B-B14F-4D97-AF65-F5344CB8AC3E}">
        <p14:creationId xmlns:p14="http://schemas.microsoft.com/office/powerpoint/2010/main" val="876700430"/>
      </p:ext>
    </p:extLst>
  </p:cSld>
</p:sld>
</file>

<file path=ppt/theme/theme1.xml><?xml version="1.0" encoding="utf-8"?>
<a:theme xmlns:a="http://schemas.openxmlformats.org/drawingml/2006/main" name="ChatGPT">
  <a:themeElements>
    <a:clrScheme name="Evidence Review">
      <a:dk1>
        <a:srgbClr val="000000"/>
      </a:dk1>
      <a:lt1>
        <a:srgbClr val="FFFFFF"/>
      </a:lt1>
      <a:dk2>
        <a:srgbClr val="123451"/>
      </a:dk2>
      <a:lt2>
        <a:srgbClr val="EFF6F8"/>
      </a:lt2>
      <a:accent1>
        <a:srgbClr val="123451"/>
      </a:accent1>
      <a:accent2>
        <a:srgbClr val="078B98"/>
      </a:accent2>
      <a:accent3>
        <a:srgbClr val="4D86AD"/>
      </a:accent3>
      <a:accent4>
        <a:srgbClr val="9AB6C9"/>
      </a:accent4>
      <a:accent5>
        <a:srgbClr val="B6C8D4"/>
      </a:accent5>
      <a:accent6>
        <a:srgbClr val="718CA1"/>
      </a:accent6>
      <a:hlink>
        <a:srgbClr val="078B98"/>
      </a:hlink>
      <a:folHlink>
        <a:srgbClr val="4D86AD"/>
      </a:folHlink>
    </a:clrScheme>
    <a:fontScheme name="">
      <a:majorFont>
        <a:latin typeface="Hiragino Sans GB"/>
        <a:ea typeface=""/>
        <a:cs typeface=""/>
      </a:majorFont>
      <a:minorFont>
        <a:latin typeface="Hiragino Sans GB"/>
        <a:ea typeface=""/>
        <a:cs typeface=""/>
      </a:minorFont>
    </a:fontScheme>
    <a:fmtScheme name="Evidence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2026-10-14T09:46:51.6610000Z</dcterms:created>
  <dcterms:modified xsi:type="dcterms:W3CDTF">2026-10-14T09:46:51.6610000Z</dcterms:modified>
</coreProperties>
</file>