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Astra</c:f>
              <c:strCache>
                <c:ptCount val="1"/>
                <c:pt idx="0">
                  <c:v>Astra</c:v>
                </c:pt>
              </c:strCache>
            </c:strRef>
          </c:tx>
          <c:spPr>
            <a:solidFill>
              <a:srgbClr val="123451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Spatial Task</c:v>
                </c:pt>
                <c:pt idx="1">
                  <c:v>Spatial Swap</c:v>
                </c:pt>
                <c:pt idx="2">
                  <c:v>Long Swap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787.4</c:v>
                </c:pt>
                <c:pt idx="1">
                  <c:v>586.9</c:v>
                </c:pt>
                <c:pt idx="2">
                  <c:v>973.7</c:v>
                </c:pt>
              </c:numCache>
            </c:numRef>
          </c:val>
        </c:ser>
        <c:ser>
          <c:idx val="1"/>
          <c:order val="1"/>
          <c:tx>
            <c:strRef>
              <c:f>Sol</c:f>
              <c:strCache>
                <c:ptCount val="1"/>
                <c:pt idx="0">
                  <c:v>Sol</c:v>
                </c:pt>
              </c:strCache>
            </c:strRef>
          </c:tx>
          <c:spPr>
            <a:solidFill>
              <a:srgbClr val="078B9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Data'!$C$2:$C$4</c:f>
              <c:strCache>
                <c:ptCount val="3"/>
                <c:pt idx="0">
                  <c:v>Spatial Task</c:v>
                </c:pt>
                <c:pt idx="1">
                  <c:v>Spatial Swap</c:v>
                </c:pt>
                <c:pt idx="2">
                  <c:v>Long Swap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1248.6</c:v>
                </c:pt>
                <c:pt idx="1">
                  <c:v>943.7</c:v>
                </c:pt>
                <c:pt idx="2">
                  <c:v>1630.1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800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600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700" b="0" i="0" u="none" strike="noStrike" kern="1200" baseline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f88271e-6f19-4a56-9fb9-04f2729a9f8d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episode占比</c:f>
              <c:strCache>
                <c:ptCount val="1"/>
                <c:pt idx="0">
                  <c:v>episode占比</c:v>
                </c:pt>
              </c:strCache>
            </c:strRef>
          </c:tx>
          <c:spPr>
            <a:solidFill>
              <a:srgbClr val="12345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4D86AD"/>
              </a:solidFill>
            </c:spPr>
          </c:dPt>
          <c:dPt>
            <c:idx val="1"/>
            <c:invertIfNegative val="0"/>
            <c:bubble3D val="0"/>
            <c:spPr>
              <a:solidFill>
                <a:srgbClr val="9AB6C9"/>
              </a:solidFill>
            </c:spPr>
          </c:dPt>
          <c:dPt>
            <c:idx val="2"/>
            <c:invertIfNegative val="0"/>
            <c:bubble3D val="0"/>
            <c:spPr>
              <a:solidFill>
                <a:srgbClr val="718CA1"/>
              </a:solidFill>
            </c:spPr>
          </c:dPt>
          <c:dPt>
            <c:idx val="3"/>
            <c:invertIfNegative val="0"/>
            <c:bubble3D val="0"/>
            <c:spPr>
              <a:solidFill>
                <a:srgbClr val="078B98"/>
              </a:solidFill>
            </c:spPr>
          </c:dPt>
          <c:dPt>
            <c:idx val="4"/>
            <c:invertIfNegative val="0"/>
            <c:bubble3D val="0"/>
            <c:spPr>
              <a:solidFill>
                <a:srgbClr val="B6C8D4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Data'!$A$2:$A$6</c:f>
              <c:strCache>
                <c:ptCount val="5"/>
                <c:pt idx="0">
                  <c:v>非π动作</c:v>
                </c:pt>
                <c:pt idx="1">
                  <c:v>π原语</c:v>
                </c:pt>
                <c:pt idx="2">
                  <c:v>工具附加</c:v>
                </c:pt>
                <c:pt idx="3">
                  <c:v>SDK非工具</c:v>
                </c:pt>
                <c:pt idx="4">
                  <c:v>SDK外壳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0.367</c:v>
                </c:pt>
                <c:pt idx="1">
                  <c:v>0.076</c:v>
                </c:pt>
                <c:pt idx="2">
                  <c:v>0.101</c:v>
                </c:pt>
                <c:pt idx="3">
                  <c:v>0.433</c:v>
                </c:pt>
                <c:pt idx="4">
                  <c:v>0.023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320cf063-4776-4c78-8e54-aac8d72f500a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TTFT</c:f>
              <c:strCache>
                <c:ptCount val="1"/>
                <c:pt idx="0">
                  <c:v>TTFT</c:v>
                </c:pt>
              </c:strCache>
            </c:strRef>
          </c:tx>
          <c:spPr>
            <a:solidFill>
              <a:srgbClr val="4D86AD"/>
            </a:solidFill>
          </c:spPr>
          <c:invertIfNegative val="0"/>
          <c:dLbls>
            <c:delete val="1"/>
          </c:dLbls>
          <c:cat>
            <c:numRef>
              <c:f>'Chart Data'!$A$2:$A$16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Data'!$B$2:$B$16</c:f>
              <c:numCache>
                <c:formatCode>0"s"</c:formatCode>
                <c:ptCount val="15"/>
                <c:pt idx="0">
                  <c:v>0.68</c:v>
                </c:pt>
                <c:pt idx="1">
                  <c:v>0.84</c:v>
                </c:pt>
                <c:pt idx="2">
                  <c:v>0.72</c:v>
                </c:pt>
                <c:pt idx="3">
                  <c:v>1.05</c:v>
                </c:pt>
                <c:pt idx="4">
                  <c:v>0.82</c:v>
                </c:pt>
                <c:pt idx="5">
                  <c:v>0.93</c:v>
                </c:pt>
                <c:pt idx="6">
                  <c:v>0.94</c:v>
                </c:pt>
                <c:pt idx="7">
                  <c:v>1.37</c:v>
                </c:pt>
                <c:pt idx="8">
                  <c:v>2.95</c:v>
                </c:pt>
                <c:pt idx="9">
                  <c:v>1.07</c:v>
                </c:pt>
                <c:pt idx="10">
                  <c:v>3.73</c:v>
                </c:pt>
                <c:pt idx="11">
                  <c:v>3.73</c:v>
                </c:pt>
                <c:pt idx="12">
                  <c:v>2.33</c:v>
                </c:pt>
                <c:pt idx="13">
                  <c:v>3.89</c:v>
                </c:pt>
                <c:pt idx="14">
                  <c:v>2.21</c:v>
                </c:pt>
              </c:numCache>
            </c:numRef>
          </c:val>
        </c:ser>
        <c:ser>
          <c:idx val="1"/>
          <c:order val="1"/>
          <c:tx>
            <c:strRef>
              <c:f>可见thinking</c:f>
              <c:strCache>
                <c:ptCount val="1"/>
                <c:pt idx="0">
                  <c:v>可见thinking</c:v>
                </c:pt>
              </c:strCache>
            </c:strRef>
          </c:tx>
          <c:spPr>
            <a:solidFill>
              <a:srgbClr val="078B98"/>
            </a:solidFill>
          </c:spPr>
          <c:invertIfNegative val="0"/>
          <c:dLbls>
            <c:delete val="1"/>
          </c:dLbls>
          <c:cat>
            <c:numRef>
              <c:f>'Chart Data'!$C$2:$C$16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Data'!$D$2:$D$16</c:f>
              <c:numCache>
                <c:formatCode>0"s"</c:formatCode>
                <c:ptCount val="15"/>
                <c:pt idx="0">
                  <c:v>0.6</c:v>
                </c:pt>
                <c:pt idx="1">
                  <c:v>1.24</c:v>
                </c:pt>
                <c:pt idx="2">
                  <c:v>2.12</c:v>
                </c:pt>
                <c:pt idx="3">
                  <c:v>1.28</c:v>
                </c:pt>
                <c:pt idx="4">
                  <c:v>1.46</c:v>
                </c:pt>
                <c:pt idx="5">
                  <c:v>0.55</c:v>
                </c:pt>
                <c:pt idx="6">
                  <c:v>0</c:v>
                </c:pt>
                <c:pt idx="7">
                  <c:v>0.27</c:v>
                </c:pt>
                <c:pt idx="8">
                  <c:v>6.56</c:v>
                </c:pt>
                <c:pt idx="9">
                  <c:v>4.93</c:v>
                </c:pt>
                <c:pt idx="10">
                  <c:v>19.96</c:v>
                </c:pt>
                <c:pt idx="11">
                  <c:v>2</c:v>
                </c:pt>
                <c:pt idx="12">
                  <c:v>2.38</c:v>
                </c:pt>
                <c:pt idx="13">
                  <c:v>3.69</c:v>
                </c:pt>
                <c:pt idx="14">
                  <c:v>0.11</c:v>
                </c:pt>
              </c:numCache>
            </c:numRef>
          </c:val>
        </c:ser>
        <c:ser>
          <c:idx val="2"/>
          <c:order val="2"/>
          <c:tx>
            <c:strRef>
              <c:f>正文／工具decode</c:f>
              <c:strCache>
                <c:ptCount val="1"/>
                <c:pt idx="0">
                  <c:v>正文／工具decode</c:v>
                </c:pt>
              </c:strCache>
            </c:strRef>
          </c:tx>
          <c:spPr>
            <a:solidFill>
              <a:srgbClr val="123451"/>
            </a:solidFill>
          </c:spPr>
          <c:invertIfNegative val="0"/>
          <c:dLbls>
            <c:delete val="1"/>
          </c:dLbls>
          <c:cat>
            <c:numRef>
              <c:f>'Chart Data'!$E$2:$E$16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Data'!$F$2:$F$16</c:f>
              <c:numCache>
                <c:formatCode>0"s"</c:formatCode>
                <c:ptCount val="15"/>
                <c:pt idx="0">
                  <c:v>0.5</c:v>
                </c:pt>
                <c:pt idx="1">
                  <c:v>0.51</c:v>
                </c:pt>
                <c:pt idx="2">
                  <c:v>0.65</c:v>
                </c:pt>
                <c:pt idx="3">
                  <c:v>1.22</c:v>
                </c:pt>
                <c:pt idx="4">
                  <c:v>0.49</c:v>
                </c:pt>
                <c:pt idx="5">
                  <c:v>0.27</c:v>
                </c:pt>
                <c:pt idx="6">
                  <c:v>0.44</c:v>
                </c:pt>
                <c:pt idx="7">
                  <c:v>0.22</c:v>
                </c:pt>
                <c:pt idx="8">
                  <c:v>1.44</c:v>
                </c:pt>
                <c:pt idx="9">
                  <c:v>0.75</c:v>
                </c:pt>
                <c:pt idx="10">
                  <c:v>0.86</c:v>
                </c:pt>
                <c:pt idx="11">
                  <c:v>0.91</c:v>
                </c:pt>
                <c:pt idx="12">
                  <c:v>0.56</c:v>
                </c:pt>
                <c:pt idx="13">
                  <c:v>8.94</c:v>
                </c:pt>
                <c:pt idx="14">
                  <c:v>1.44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&quot;s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700" b="0" i="0" u="none" strike="noStrike" kern="1200" baseline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1ad3dfb-d4ee-40b5-9aa8-11326aa63c03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累计窗口/s</c:f>
              <c:strCache>
                <c:ptCount val="1"/>
                <c:pt idx="0">
                  <c:v>累计窗口/s</c:v>
                </c:pt>
              </c:strCache>
            </c:strRef>
          </c:tx>
          <c:spPr>
            <a:solidFill>
              <a:srgbClr val="078B98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6C8D4"/>
              </a:solidFill>
            </c:spPr>
          </c:dPt>
          <c:dPt>
            <c:idx val="1"/>
            <c:invertIfNegative val="0"/>
            <c:bubble3D val="0"/>
            <c:spPr>
              <a:solidFill>
                <a:srgbClr val="4D86AD"/>
              </a:solidFill>
            </c:spPr>
          </c:dPt>
          <c:dPt>
            <c:idx val="2"/>
            <c:invertIfNegative val="0"/>
            <c:bubble3D val="0"/>
            <c:spPr>
              <a:solidFill>
                <a:srgbClr val="718CA1"/>
              </a:solidFill>
            </c:spPr>
          </c:dPt>
          <c:dPt>
            <c:idx val="3"/>
            <c:invertIfNegative val="0"/>
            <c:bubble3D val="0"/>
            <c:spPr>
              <a:solidFill>
                <a:srgbClr val="078B98"/>
              </a:solidFill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准备</c:v>
                </c:pt>
                <c:pt idx="1">
                  <c:v>至响应头</c:v>
                </c:pt>
                <c:pt idx="2">
                  <c:v>头至首输出</c:v>
                </c:pt>
                <c:pt idx="3">
                  <c:v>首输出后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5.11</c:v>
                </c:pt>
                <c:pt idx="1">
                  <c:v>9.789</c:v>
                </c:pt>
                <c:pt idx="2">
                  <c:v>6.837</c:v>
                </c:pt>
                <c:pt idx="3">
                  <c:v>88.796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f2b90f79-6991-41c6-8269-d05a42575ce3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完整请求降幅（条件）</c:f>
              <c:strCache>
                <c:ptCount val="1"/>
                <c:pt idx="0">
                  <c:v>完整请求降幅（条件）</c:v>
                </c:pt>
              </c:strCache>
            </c:strRef>
          </c:tx>
          <c:spPr>
            <a:solidFill>
              <a:srgbClr val="078B9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think占25%</c:v>
                </c:pt>
                <c:pt idx="1">
                  <c:v>think占50%</c:v>
                </c:pt>
                <c:pt idx="2">
                  <c:v>think占75%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0.174</c:v>
                </c:pt>
                <c:pt idx="1">
                  <c:v>0.348</c:v>
                </c:pt>
                <c:pt idx="2">
                  <c:v>0.522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4e2231c-c111-4546-9778-9afadd12e7b3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embodied-ai/weeks/2026_0928-1004_RPent双脑对照与回馈/2026-10-01-RPent-Codex双模型120集结果.md，v1.0。</a:t>
            </a:r>
          </a:p>
          <a:p>
            <a:r>
              <a:t>embodied-ai/weeks/2026_1005-1011_RPent推理性能分析/2026-10-08-RPent-120集推理耗时与优化报告.html，v2.0，总账与问题01/02。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2026-10-14 用户转述 MT 最新实验反馈：low think 阶段指标4.6s降至1.4s。E4，尚缺模型、配置、样本、均值/中位数、时钟边界与成功结果。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embodied-ai/weeks/2026_1005-1011_RPent推理性能分析/2026-10-08-RPent-120集推理耗时与优化报告.html，v2.0，总账与问题01/02。</a:t>
            </a:r>
          </a:p>
          <a:p>
            <a:r>
              <a:t>embodied-ai/weeks/2026_1005-1011_RPent推理性能分析/deep-report/RPent-两场景深度计时报告.html，8集明细、本地子阶段与计时边界。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指标设计：同一请求需统一request_id、观测时间、发送、首SSE、首非空输出、首正文/工具与结束时间，区分可见reasoning和hidden reasoning。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GPT-as-Policy-repro/data/decision_v2_20260922/index.html，v1.9，2026-09-29，§5–§8及九回合汇总。审查摘录：experiment_evidence.md §1。</a:t>
            </a:r>
          </a:p>
          <a:p>
            <a:r>
              <a:t>embodied-ai/weeks/2026_0914-0920_GPT6Astra评测复现/2026-09-16-bowl-eval-v1四模型总结报告.html，v1.2，§3.6。同seed补测：embodied-ai/weeks/2026_0921-0927_同机仿真与云边验证/2026-09-23-GPT6-Sol-bowl五次与Astra同seed对照.md，v1.1。</a:t>
            </a:r>
          </a:p>
          <a:p>
            <a:r>
              <a:t>embodied-ai/weeks/2026_0928-1004_RPent双脑对照与回馈/2026-10-01-RPent-Codex双模型120集结果.md，v1.0。</a:t>
            </a:r>
          </a:p>
          <a:p>
            <a:r>
              <a:t>embodied-ai/weeks/2026_1005-1011_RPent推理性能分析/deep-report/RPent-两场景深度计时报告.html，8集明细、本地子阶段与计时边界。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GPT-as-Policy-repro/data/decision_v2_20260922/index.html，v1.9，2026-09-29，§5–§8及九回合汇总。审查摘录：experiment_evidence.md §1。</a:t>
            </a:r>
          </a:p>
          <a:p>
            <a:r>
              <a:t>init0。平均整轮与episode边界不同，最终视频编码未计入。Hybrid全放行不能归因为GPT纠错。</a:t>
            </a:r>
          </a:p>
          <a:p>
            <a:r>
              <a:t>Direct请求10.8190s，TTFT7.3396s，首至末可见decode3.1554s，可见TPOT估算25.549ms/token。Hybrid14.3735/4.4549/9.6181s，29.062ms/token。无纯prefill、thinking时长或请求p50/p95。Direct总输出160.81tokens/turn，其中reasoning36.42，Hybrid总输出331.84且reasoning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embodied-ai/weeks/2026_0914-0920_GPT6Astra评测复现/2026-09-16-bowl-eval-v1四模型总结报告.html，v1.2，§3.6。同seed补测：embodied-ai/weeks/2026_0921-0927_同机仿真与云边验证/2026-09-23-GPT6-Sol-bowl五次与Astra同seed对照.md，v1.1。</a:t>
            </a:r>
          </a:p>
          <a:p>
            <a:r>
              <a:t>同seed补测没有可用LLM分段，不用episode/轮数冒充请求等待。Astra/Sol成功轨迹仍有stage3–4边界。</a:t>
            </a:r>
          </a:p>
          <a:p>
            <a:r>
              <a:t>原四批：Astra27.2s占94.6%，GLM约117s推算、DS135s占99.2%、Qwen约110s推算。原§3.4仅wall列明确前5配对，其他三家等待统计子集未独立注明。不能填入9/23新组或构成请求速度排名。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embodied-ai/weeks/2026_0928-1004_RPent双脑对照与回馈/2026-10-01-RPent-Codex双模型120集结果.md，v1.0。</a:t>
            </a:r>
          </a:p>
          <a:p>
            <a:r>
              <a:t>embodied-ai/weeks/2026_1005-1011_RPent推理性能分析/2026-10-08-RPent-120集推理耗时与优化报告.html，v2.0，总账与问题01/02。</a:t>
            </a:r>
          </a:p>
          <a:p>
            <a:r>
              <a:t>均值/中位s：Spatial Task Astra787.4/676.8，Sol1248.6/811.6。Spatial Swap Astra586.9/560.0，Sol943.7/828.9。Long Swap Astra973.7/919.5，Sol1630.1/1332.8。Sol Long t8/s1为5348.4s包含连接中断，排除此集剩19集均值1434.4s仅作敏感性分析，不替代主结果。含轨迹、轮次、网络等待，不是纯算力对照。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embodied-ai/weeks/2026_1005-1011_RPent推理性能分析/2026-10-08-RPent-120集推理耗时与优化报告.html，v2.0，总账与问题01/02。</a:t>
            </a:r>
          </a:p>
          <a:p>
            <a:r>
              <a:t>精确桶值：非π动作45327.6，π原语9367.1，工具附加12429.8，SDK非MCP53394.0，SDK外2889.9秒。百分比按报告保留一位。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embodied-ai/weeks/2026_1005-1011_RPent推理性能分析/deep-report/RPent-两场景深度计时报告.html，8集明细、本地子阶段与计时边界。</a:t>
            </a:r>
          </a:p>
          <a:p>
            <a:r>
              <a:t>总episode10965.30s。另2个SAM OOM attempt已发生成本3205.20s，应列复现成本。π handler非纯forward，prefix含编码、mask/position、KV。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embodied-ai/weeks/2026_1005-1011_RPent推理性能分析/deep-report/RPent-两场景深度计时报告.html，8集明细、本地子阶段与计时边界。</a:t>
            </a:r>
          </a:p>
          <a:p>
            <a:r>
              <a:t>448逻辑轮次，473传输attempt。Sol t0/s1恢复562.95s，含render447.54s。Sol t9/s1恢复156.22s，render119.61s。扣两段render合计152.01s，占T*2.31%。Astra t9/s0有14次移动耗满预算672.90s，但目标残差不单独证明碰撞。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  <a:p>
            <a:r>
              <a:t>v5单局15轮182.5s，完整请求累计约93.6s。TTFT作者定义为到首SSE chunk。thinking=首chunk到首正文chunk，decode=首正文chunk到结束。TPOT旧表约4ms为派生。后续同局ds_v5按(total−TTFT)/(output−1)得p503.621ms/token，口径不同，不直接比较。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  <a:p>
            <a:r>
              <a:t>第11轮：TTFT3.73s，thinking19.96s，decode0.86s，总24.5s，reasoning4491 tokens，其他280。第14轮：3.89/3.69/8.94s，总16.5s，reasoning890，其他2687 tokens。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v5原表15次payload均值3136.1/185.7KB，r15为10118/280KB。输入13094增至84686tokens，逐请求cache命中比例均值88.5%、p5097%，是舍入比例的不加权均值。Files API冷/热3次控制探针47,742prompt tokens、3图、277KB，冷1.45s/热约1.0s。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共同成功t0逻辑轮次63对57，medium seed1有26逻辑请求/27attempt，一次失败12.412s无TTFT。352.550s thinking只属于medium共同成功两集，按token估算。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单集205.3s。LLM110.534s=准备5.110+请求至响应头9.789+响应头至首输出6.837+首输出至结束88.796s，舍入有0.002s差。TTFT累计21.739s，p501.270s。14个可见thinking窗口68.663s，TPOT p503.931ms/token派生。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2026-10-14 用户转述 MT 最新实验反馈：low think 阶段指标4.6s降至1.4s。E4，尚缺模型、配置、样本、均值/中位数、时钟边界与成功结果。</a:t>
            </a:r>
          </a:p>
          <a:p>
            <a:r>
              <a:t>阶段指标差3.2s，降69.565%，比值3.2857。图为条件演算：think占完整请求比例f，其他成本不变，则完整请求降幅0.696f。仅当4.6/1.4为每请求同口径均值且固定N并处关键路径，才可乘N估算整集。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https://github.com/FBddcz/embodied-jev/blob/f08de2e4e20d6cd69fea9c57ac1062c3ef510f1e/src/embodied_jev/libero_supervisor.py#L101-L289</a:t>
            </a:r>
          </a:p>
          <a:p>
            <a:r>
              <a:t>https://github.com/FBddcz/embodied-jev/blob/f08de2e4e20d6cd69fea9c57ac1062c3ef510f1e/src/embodied_jev/policies.py#L277-L422</a:t>
            </a:r>
          </a:p>
          <a:p>
            <a:r>
              <a:t>https://docs.typesafe.ai/concepts/system-one</a:t>
            </a:r>
          </a:p>
          <a:p>
            <a:r>
              <a:t>https://docs.typesafe.ai/models</a:t>
            </a:r>
          </a:p>
          <a:p>
            <a:r>
              <a:t>访问2026-10-14。</a:t>
            </a:r>
          </a:p>
          <a:p>
            <a:r>
              <a:t>embodied-ai/weeks/2026_1012-1018_RPent多模型性能分析/2026-10-13-VLM-VLA双脑架构与推理优化调研.md</a:t>
            </a:r>
          </a:p>
          <a:p>
            <a:r>
              <a:t>脱敏综合审查备忘录 jev_strategy.md §5–8，方案尚未执行。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2026-10-14 用户转述 MT 最新实验反馈：low think 阶段指标4.6s降至1.4s。E4，尚缺模型、配置、样本、均值/中位数、时钟边界与成功结果。</a:t>
            </a:r>
          </a:p>
          <a:p>
            <a:r>
              <a:t>固定状态microbenchmark比较单次选择质量，闭环实验比较轨迹与完整成本。无预设可接受5个百分点下降。样本量由精度和检验目标决定。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https://github.com/FBddcz/embodied-jev/blob/f08de2e4e20d6cd69fea9c57ac1062c3ef510f1e/src/embodied_jev/libero_supervisor.py#L101-L289</a:t>
            </a:r>
          </a:p>
          <a:p>
            <a:r>
              <a:t>https://github.com/FBddcz/embodied-jev/blob/f08de2e4e20d6cd69fea9c57ac1062c3ef510f1e/src/embodied_jev/policies.py#L277-L422</a:t>
            </a:r>
          </a:p>
          <a:p>
            <a:r>
              <a:t>https://docs.typesafe.ai/concepts/system-one</a:t>
            </a:r>
          </a:p>
          <a:p>
            <a:r>
              <a:t>https://docs.typesafe.ai/models</a:t>
            </a:r>
          </a:p>
          <a:p>
            <a:r>
              <a:t>访问2026-10-14。</a:t>
            </a:r>
          </a:p>
          <a:p>
            <a:r>
              <a:t>https://github.com/FBddcz/embodied-jev/blob/f08de2e4e20d6cd69fea9c57ac1062c3ef510f1e/docs/results/libero-vision/RESULTS.md#L1-L43</a:t>
            </a:r>
          </a:p>
          <a:p>
            <a:r>
              <a:t>embodied-ai/weeks/2026_1012-1018_RPent多模型性能分析/2026-10-13-VLM-VLA双脑架构与推理优化调研.md</a:t>
            </a:r>
          </a:p>
          <a:p>
            <a:r>
              <a:t>脱敏综合审查备忘录 jev_strategy.md §5–8，方案尚未执行。</a:t>
            </a:r>
          </a:p>
          <a:p>
            <a:r>
              <a:t>Jev是外部text state+有限候选选择器，所审入口没有可部署权重。EmbodiedJev为集成工作台。LIBERO v2当前执行器是数值伺服，不是学习型VLA。Astra承担视觉、子目标、歧义和重规划；VLA接收图像、状态和指令生成动作块；确定性gate检查前提、预算、版本与动作边界。固定状态比较规则/Astra/Jev时共享候选、触发与确定性安全约束，仅替换选择器。所有候选整体收益均待受控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 Robot https://arxiv.org/abs/2502.19417v2</a:t>
            </a:r>
          </a:p>
          <a:p>
            <a:r>
              <a:t>Helix https://www.figure.ai/news/helix</a:t>
            </a:r>
          </a:p>
          <a:p>
            <a:r>
              <a:t>RTC https://arxiv.org/abs/2506.07339v2</a:t>
            </a:r>
          </a:p>
          <a:p>
            <a:r>
              <a:t>访问2026-10-14。</a:t>
            </a:r>
          </a:p>
          <a:p>
            <a:r>
              <a:t>embodied-ai/weeks/2026_1012-1018_RPent多模型性能分析/2026-10-13-具身VLM推理的芯片加速单元与验证路径.md</a:t>
            </a:r>
          </a:p>
          <a:p>
            <a:r>
              <a:t>embodied-ai/weeks/2026_1012-1018_RPent多模型性能分析/2026-10-13-910B3本地VLM首批32次推理基线执行方案.md，计划非性能结果。</a:t>
            </a:r>
          </a:p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  <a:p>
            <a:r>
              <a:t>固定观测π探针10次383–384ms/chunk，5steps。50ms控制周期为条件示例。此探针不等于在线handler。API内部不可从本机NPU推断。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embodied-ai/weeks/2026_0928-1004_RPent双脑对照与回馈/2026-10-01-RPent-Codex双模型120集结果.md，v1.0。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2026-10-14 用户转述 MT 最新实验反馈：low think 阶段指标4.6s降至1.4s。E4，尚缺模型、配置、样本、均值/中位数、时钟边界与成功结果。</a:t>
            </a:r>
          </a:p>
          <a:p>
            <a:r>
              <a:t>embodied-ai/weeks/2026_1012-1018_RPent多模型性能分析/2026-10-13-VLM-VLA双脑架构与推理优化调研.md</a:t>
            </a:r>
          </a:p>
          <a:p>
            <a:r>
              <a:t>脱敏综合审查备忘录 jev_strategy.md §5–8，方案尚未执行。</a:t>
            </a:r>
          </a:p>
          <a:p>
            <a:r>
              <a:t>事先固定质量谓词与可接受差异，由任务需求确认，不能擅定5个百分点。配对初态、完整成本含失败重试，样本量由要判别的质量差与不确定性确定。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具身智能推理性能评估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具身智能推理性能评估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技术负责人汇报　2026年10月14日　v2.0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技术负责人汇报　2026年10月14日　v2.0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1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实验成果与耗时诊断"/>
          <p:cNvSpPr>
            <a:spLocks noGrp="1"/>
          </p:cNvSpPr>
          <p:nvPr/>
        </p:nvSpPr>
        <p:spPr>
          <a:xfrm>
            <a:off x="609600" y="1438275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3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实验成果与耗时诊断</a:t>
            </a:r>
            <a:endParaRPr sz="3300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质量基本不降，是比较所有优化路线的前提"/>
          <p:cNvSpPr>
            <a:spLocks noGrp="1"/>
          </p:cNvSpPr>
          <p:nvPr/>
        </p:nvSpPr>
        <p:spPr>
          <a:xfrm>
            <a:off x="609600" y="235267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250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质量基本不降，是比较所有优化路线的前提</a:t>
            </a:r>
            <a:endParaRPr sz="2250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3143250"/>
          <a:ext cx="10972800" cy="2190752"/>
        </p:xfrm>
        <a:graphic>
          <a:graphicData uri="http://schemas.openxmlformats.org/drawingml/2006/table">
            <a:tbl>
              <a:tblPr/>
              <a:tblGrid>
                <a:gridCol w="4591050"/>
                <a:gridCol w="6381750"/>
              </a:tblGrid>
              <a:tr h="54768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已有证据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本次汇报重点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RPent 120集，成功99/120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长程任务与高层等待仍有优化空间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独立深测8集、DeepSeek多组专项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分别定位本地阶段、请求窗口与长尾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候选优化尚未选定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同质量下比较单次等待、调用轮数与本地实时性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7" name="报告数字为E3重述，源码接口为E1，MT最新反馈为E4待补证。"/>
          <p:cNvSpPr>
            <a:spLocks noGrp="1"/>
          </p:cNvSpPr>
          <p:nvPr/>
        </p:nvSpPr>
        <p:spPr>
          <a:xfrm>
            <a:off x="609600" y="5581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0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0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0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报告数字为E3重述，源码接口为E1，MT最新反馈为E4待补证。</a:t>
            </a:r>
            <a:endParaRPr sz="170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指标与计时边界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指标与计时边界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N按逻辑请求计数，平均完整等待包含全部retry／重连。异步按关键路径统计。〔E3〕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N按逻辑请求计数，平均完整等待包含全部retry／重连。异步按关键路径统计。〔E3〕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2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同步近似：episode＝初始化＋N×平均完整请求等待＋执行与恢复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同步近似：episode＝初始化＋N×平均完整请求等待＋执行与恢复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895475"/>
          <a:ext cx="10972800" cy="3219450"/>
        </p:xfrm>
        <a:graphic>
          <a:graphicData uri="http://schemas.openxmlformats.org/drawingml/2006/table">
            <a:tbl>
              <a:tblPr/>
              <a:tblGrid>
                <a:gridCol w="2419350"/>
                <a:gridCol w="3790950"/>
                <a:gridCol w="4762500"/>
              </a:tblGrid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指标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本次含义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不可混用的边界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episode墙钟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整集任务的外层时间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失败早停、加载、配对屏障各自注明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完整请求等待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发送／准备起点至完整结果可用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首次响应不等于可执行动作已完成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TTFT与可见thinking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客户端首事件、首输出、首正文窗口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不是纯prefill或完整hidden thinking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工具与本地span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π handler、render、physics等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父子嵌套项不能再次相加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先比较成功与任务质量，再比较延迟分布、完整请求和整集关键路径。"/>
          <p:cNvSpPr>
            <a:spLocks noGrp="1"/>
          </p:cNvSpPr>
          <p:nvPr/>
        </p:nvSpPr>
        <p:spPr>
          <a:xfrm>
            <a:off x="609600" y="5238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先比较成功与任务质量，再比较延迟分布、完整请求和整集关键路径。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TPOT须写明分母。计量响应、逻辑请求与传输attempt分开计数。"/>
          <p:cNvSpPr>
            <a:spLocks noGrp="1"/>
          </p:cNvSpPr>
          <p:nvPr/>
        </p:nvSpPr>
        <p:spPr>
          <a:xfrm>
            <a:off x="609600" y="56388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TPOT须写明分母。计量响应、逻辑请求与传输attempt分开计数。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实验总览：各集合回答不同问题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实验总览：各集合回答不同问题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跨环境、轨迹、成功谓词与计时实现分别解释，不能合并成模型排行榜。〔E3〕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跨环境、轨迹、成功谓词与计时实现分别解释，不能合并成模型排行榜。〔E3〕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3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62100"/>
          <a:ext cx="10972800" cy="3571878"/>
        </p:xfrm>
        <a:graphic>
          <a:graphicData uri="http://schemas.openxmlformats.org/drawingml/2006/table">
            <a:tbl>
              <a:tblPr/>
              <a:tblGrid>
                <a:gridCol w="3000375"/>
                <a:gridCol w="3476625"/>
                <a:gridCol w="4495800"/>
              </a:tblGrid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实验集合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规模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可回答的问题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GPT-as-Policy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3任务×3路线＝9回合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接口、整轮与云端监督开销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bowl同seed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4配置×5seed＝20回合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小样本任务能力与effort敏感性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RPent历史／独立深测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120集／8集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成功结构、互斥总账与本地细分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DeepSeek档位对照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medium／none各4集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共同成功轨迹的质量与成本变化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DeepSeek三个单局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v5／Files API／后续phase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请求窗口、payload与输出长尾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5" name="多路线实验检验单轮成本与轮数，正式评测和插桩深测补充不同计时证据。"/>
          <p:cNvSpPr>
            <a:spLocks noGrp="1"/>
          </p:cNvSpPr>
          <p:nvPr/>
        </p:nvSpPr>
        <p:spPr>
          <a:xfrm>
            <a:off x="609600" y="52482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多路线实验检验单轮成本与轮数，正式评测和插桩深测补充不同计时证据。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本次审查既有报告，没有新增远程机器人或NPU性能实跑。"/>
          <p:cNvSpPr>
            <a:spLocks noGrp="1"/>
          </p:cNvSpPr>
          <p:nvPr/>
        </p:nvSpPr>
        <p:spPr>
          <a:xfrm>
            <a:off x="609600" y="56483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本次审查既有报告，没有新增远程机器人或NPU性能实跑。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GPT-as-Policy：罐子三路线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GPT-as-Policy：罐子三路线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每路线仅1条成功轨迹。Hybrid全51轮放行Student，π随机状态未配对。re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每路线仅1条成功轨迹。Hybrid全51轮放行Student，π随机状态未配对。request包含TTFT/decode。〔E3〕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4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419225"/>
          <a:ext cx="10972800" cy="2000252"/>
        </p:xfrm>
        <a:graphic>
          <a:graphicData uri="http://schemas.openxmlformats.org/drawingml/2006/table">
            <a:tbl>
              <a:tblPr/>
              <a:tblGrid>
                <a:gridCol w="3143250"/>
                <a:gridCol w="1905000"/>
                <a:gridCol w="2962275"/>
                <a:gridCol w="2962275"/>
              </a:tblGrid>
              <a:tr h="50006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路线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决策轮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平均整轮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episode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Direct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97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14.41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1428.97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Student（π0.5）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52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4.20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248.71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Hybrid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18.82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991.09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09600" y="3514725"/>
          <a:ext cx="10972800" cy="1562100"/>
        </p:xfrm>
        <a:graphic>
          <a:graphicData uri="http://schemas.openxmlformats.org/drawingml/2006/table">
            <a:tbl>
              <a:tblPr/>
              <a:tblGrid>
                <a:gridCol w="2381250"/>
                <a:gridCol w="2143125"/>
                <a:gridCol w="2047875"/>
                <a:gridCol w="2352675"/>
                <a:gridCol w="2047875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请求均值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request/s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TTFT/s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可见decode/s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TPOT估算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ms/token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Direct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10.819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7.340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3.155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25.55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Hybrid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14.374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4.455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9.618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29.06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本条Hybrid轮数更少，但每轮更慢。其可见输出较多，监督增量质量仍需验证。"/>
          <p:cNvSpPr>
            <a:spLocks noGrp="1"/>
          </p:cNvSpPr>
          <p:nvPr/>
        </p:nvSpPr>
        <p:spPr>
          <a:xfrm>
            <a:off x="609600" y="5200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本条Hybrid轮数更少，但每轮更慢。其可见输出较多，监督增量质量仍需验证。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Student π+sync／render为0.545／2.774 s，Hybrid"/>
          <p:cNvSpPr>
            <a:spLocks noGrp="1"/>
          </p:cNvSpPr>
          <p:nvPr/>
        </p:nvSpPr>
        <p:spPr>
          <a:xfrm>
            <a:off x="609600" y="56007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Student π+sync／render为0.545／2.774 s，Hybrid为0.530／2.938 s。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bowl：同seed的质量与整集耗时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bowl：同seed的质量与整集耗时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主表n＝5，入碗未等同稳定放置。下表9/16等待含读图/工具往返/调度，*推算，三家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主表n＝5，入碗未等同稳定放置。下表9/16等待含读图/工具往返/调度，*推算，三家子集未明。〔E3〕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5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457325"/>
          <a:ext cx="10972800" cy="2743200"/>
        </p:xfrm>
        <a:graphic>
          <a:graphicData uri="http://schemas.openxmlformats.org/drawingml/2006/table">
            <a:tbl>
              <a:tblPr/>
              <a:tblGrid>
                <a:gridCol w="3381375"/>
                <a:gridCol w="2143125"/>
                <a:gridCol w="2571750"/>
                <a:gridCol w="287655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模型／effort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自动入碗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平均决策轮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平均墙钟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 medium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5/5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16.0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336.11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Sol medium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2/5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18.2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547.09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Sol ultra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3/5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17.6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600.63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Luna max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0/5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19.6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1969.76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09600" y="4410075"/>
          <a:ext cx="10972800" cy="952500"/>
        </p:xfrm>
        <a:graphic>
          <a:graphicData uri="http://schemas.openxmlformats.org/drawingml/2006/table">
            <a:tbl>
              <a:tblPr/>
              <a:tblGrid>
                <a:gridCol w="2876550"/>
                <a:gridCol w="2019300"/>
                <a:gridCol w="2019300"/>
                <a:gridCol w="2038350"/>
                <a:gridCol w="20193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9/16代理等待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GLM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DeepSeek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Qwen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非纯LLM / s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27.2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≈117*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135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≈110*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6" name="同seed没有LLM分段。更高effort未带来逐seed一致改善，质量仍需闭环确认"/>
          <p:cNvSpPr>
            <a:spLocks noGrp="1"/>
          </p:cNvSpPr>
          <p:nvPr/>
        </p:nvSpPr>
        <p:spPr>
          <a:xfrm>
            <a:off x="609600" y="56102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同seed没有LLM分段。更高effort未带来逐seed一致改善，质量仍需闭环确认。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Pent 120集：整集耗时按套件比较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RPent 120集：整集耗时按套件比较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每模型每套件n＝20。A/S成功：Task 19/17，Swap 20/20，Lon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每模型每套件n＝20。A/S成功：Task 19/17，Swap 20/20，Long 11/12。含失败与连接等待。〔E3〕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6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06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episode均值 / s，质量与完成结果保持为比较约束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episode均值 / s，质量与完成结果保持为比较约束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609600" y="1838325"/>
          <a:ext cx="7905750" cy="2647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609600" y="4648200"/>
          <a:ext cx="7905750" cy="1276350"/>
        </p:xfrm>
        <a:graphic>
          <a:graphicData uri="http://schemas.openxmlformats.org/drawingml/2006/table">
            <a:tbl>
              <a:tblPr/>
              <a:tblGrid>
                <a:gridCol w="1905000"/>
                <a:gridCol w="2000250"/>
                <a:gridCol w="2000250"/>
                <a:gridCol w="2000250"/>
              </a:tblGrid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p50 / 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Spatial Task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Spatial Swap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Long Swap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676.8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560.0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919.5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Sol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811.6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828.9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1332.8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质量为约束"/>
          <p:cNvSpPr>
            <a:spLocks noGrp="1"/>
          </p:cNvSpPr>
          <p:nvPr/>
        </p:nvSpPr>
        <p:spPr>
          <a:xfrm>
            <a:off x="8839200" y="17145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质量为约束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Astra成功50/60&#10;Sol成功49/60&#10;逐套件结果见页脚。"/>
          <p:cNvSpPr>
            <a:spLocks noGrp="1"/>
          </p:cNvSpPr>
          <p:nvPr/>
        </p:nvSpPr>
        <p:spPr>
          <a:xfrm>
            <a:off x="8839200" y="20764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Astra成功50/60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Sol成功49/60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逐套件结果见页脚。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连接长尾需保留"/>
          <p:cNvSpPr>
            <a:spLocks noGrp="1"/>
          </p:cNvSpPr>
          <p:nvPr/>
        </p:nvSpPr>
        <p:spPr>
          <a:xfrm>
            <a:off x="8839200" y="30670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连接长尾需保留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Sol Long一轨5348.4 s&#10;含连接中断。&#10;均值受到长尾影响。"/>
          <p:cNvSpPr>
            <a:spLocks noGrp="1"/>
          </p:cNvSpPr>
          <p:nvPr/>
        </p:nvSpPr>
        <p:spPr>
          <a:xfrm>
            <a:off x="8839200" y="342900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Sol Long一轨5348.4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含连接中断。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均值受到长尾影响。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成本不等于算力"/>
          <p:cNvSpPr>
            <a:spLocks noGrp="1"/>
          </p:cNvSpPr>
          <p:nvPr/>
        </p:nvSpPr>
        <p:spPr>
          <a:xfrm>
            <a:off x="8839200" y="44196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成本不等于算力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轨迹、轮次与连接&#10;共同影响整集耗时。&#10;不作纯算力归因。"/>
          <p:cNvSpPr>
            <a:spLocks noGrp="1"/>
          </p:cNvSpPr>
          <p:nvPr/>
        </p:nvSpPr>
        <p:spPr>
          <a:xfrm>
            <a:off x="8839200" y="47815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轨迹、轮次与连接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共同影响整集耗时。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不作纯算力归因。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Pent 120集：高层等待与动作并重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RPent 120集：高层等待与动作并重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分母123408.4 s。五桶互斥，VLA加载5.78 h另计。SDK非工具不等于t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分母123408.4 s。五桶互斥，VLA加载5.78 h另计。SDK非工具不等于thinking。〔E3〕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7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07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Chart"/>
          <p:cNvGraphicFramePr/>
          <p:nvPr/>
        </p:nvGraphicFramePr>
        <p:xfrm>
          <a:off x="609600" y="1562100"/>
          <a:ext cx="7905750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动作两桶44.3%"/>
          <p:cNvSpPr>
            <a:spLocks noGrp="1"/>
          </p:cNvSpPr>
          <p:nvPr/>
        </p:nvSpPr>
        <p:spPr>
          <a:xfrm>
            <a:off x="8839200" y="16097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动作两桶44.3%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含策略、控制、仿真、&#10;渲染与通信。"/>
          <p:cNvSpPr>
            <a:spLocks noGrp="1"/>
          </p:cNvSpPr>
          <p:nvPr/>
        </p:nvSpPr>
        <p:spPr>
          <a:xfrm>
            <a:off x="8839200" y="19716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含策略、控制、仿真、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渲染与通信。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SDK非工具43.3%"/>
          <p:cNvSpPr>
            <a:spLocks noGrp="1"/>
          </p:cNvSpPr>
          <p:nvPr/>
        </p:nvSpPr>
        <p:spPr>
          <a:xfrm>
            <a:off x="8839200" y="28289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SDK非工具43.3%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含请求、网络、重试&#10;与编排，需继续拆分。"/>
          <p:cNvSpPr>
            <a:spLocks noGrp="1"/>
          </p:cNvSpPr>
          <p:nvPr/>
        </p:nvSpPr>
        <p:spPr>
          <a:xfrm>
            <a:off x="8839200" y="31908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含请求、网络、重试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与编排，需继续拆分。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总账先定位范围"/>
          <p:cNvSpPr>
            <a:spLocks noGrp="1"/>
          </p:cNvSpPr>
          <p:nvPr/>
        </p:nvSpPr>
        <p:spPr>
          <a:xfrm>
            <a:off x="8839200" y="40481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总账先定位范围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五桶不足以计算&#10;纯π或纯thinking&#10;的加速比。"/>
          <p:cNvSpPr>
            <a:spLocks noGrp="1"/>
          </p:cNvSpPr>
          <p:nvPr/>
        </p:nvSpPr>
        <p:spPr>
          <a:xfrm>
            <a:off x="8839200" y="44100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五桶不足以计算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纯π或纯thinking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的加速比。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优化需要同时量化单次等待与调用数量，局部阶段缩短未必同比缩短整集。"/>
          <p:cNvSpPr>
            <a:spLocks noGrp="1"/>
          </p:cNvSpPr>
          <p:nvPr/>
        </p:nvSpPr>
        <p:spPr>
          <a:xfrm>
            <a:off x="609600" y="56578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优化需要同时量化单次等待与调用数量，局部阶段缩短未必同比缩短整集。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独立8集：渲染与π handler细分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独立8集：渲染与π handler细分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独立8集成功3/8（t0为3/4，t9为0/4）。子阶段嵌套，不能加回episode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独立8集成功3/8（t0为3/4，t9为0/4）。子阶段嵌套，不能加回episode。〔E3〕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8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08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本地细分的分母10965.30 s，与历史120集分开解释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本地细分的分母10965.30 s，与历史120集分开解释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924050"/>
          <a:ext cx="10972800" cy="3000375"/>
        </p:xfrm>
        <a:graphic>
          <a:graphicData uri="http://schemas.openxmlformats.org/drawingml/2006/table">
            <a:tbl>
              <a:tblPr/>
              <a:tblGrid>
                <a:gridCol w="3114675"/>
                <a:gridCol w="2114550"/>
                <a:gridCol w="2133600"/>
                <a:gridCol w="3609975"/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已测阶段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累计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占episode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测量含义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原语窗内render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4391.18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40.05%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仿真观测成本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physics step1+2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121.48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1.11%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不覆盖所有控制工作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π handler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198.65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1.81%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371次，包含处理开销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其中prefix／denoise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96.19／86.14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0.88%／0.79%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属于π handler的子阶段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扣除已测render后T*＝6574.12 s，仍不是真机耗时预测。"/>
          <p:cNvSpPr>
            <a:spLocks noGrp="1"/>
          </p:cNvSpPr>
          <p:nvPr/>
        </p:nvSpPr>
        <p:spPr>
          <a:xfrm>
            <a:off x="609600" y="5200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扣除已测render后T*＝6574.12 s，仍不是真机耗时预测。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π handler减半仅省T*的1.51%，整集收益有限，但局部deadline仍需"/>
          <p:cNvSpPr>
            <a:spLocks noGrp="1"/>
          </p:cNvSpPr>
          <p:nvPr/>
        </p:nvSpPr>
        <p:spPr>
          <a:xfrm>
            <a:off x="609600" y="56007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π handler减半仅省T*的1.51%，整集收益有限，但局部deadline仍需单独验收。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独立8集：轮次、重试与恢复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独立8集：轮次、重试与恢复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逻辑轮次与attempt不同。恢复耗时中可含大量render，不能全部当无损节省。〔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逻辑轮次与attempt不同。恢复耗时中可含大量render，不能全部当无损节省。〔E3〕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9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09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495425"/>
          <a:ext cx="7905750" cy="3857625"/>
        </p:xfrm>
        <a:graphic>
          <a:graphicData uri="http://schemas.openxmlformats.org/drawingml/2006/table">
            <a:tbl>
              <a:tblPr/>
              <a:tblGrid>
                <a:gridCol w="1628775"/>
                <a:gridCol w="1095375"/>
                <a:gridCol w="1495425"/>
                <a:gridCol w="1200150"/>
                <a:gridCol w="1285875"/>
                <a:gridCol w="1200150"/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样本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结果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episode/s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逻辑轮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attempt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π块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A/0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1090.5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S/0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1153.1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53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A/1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1049.1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42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S/1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2176.5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83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116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t9 A/0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1711.6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t9 S/0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1409.8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t9 A/1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1076.7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t9 S/1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1298.0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请求量需独立计数"/>
          <p:cNvSpPr>
            <a:spLocks noGrp="1"/>
          </p:cNvSpPr>
          <p:nvPr/>
        </p:nvSpPr>
        <p:spPr>
          <a:xfrm>
            <a:off x="8839200" y="147637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请求量需独立计数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448逻辑轮&#10;473次传输尝试&#10;额外25次需分析原因。"/>
          <p:cNvSpPr>
            <a:spLocks noGrp="1"/>
          </p:cNvSpPr>
          <p:nvPr/>
        </p:nvSpPr>
        <p:spPr>
          <a:xfrm>
            <a:off x="8839200" y="183832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448逻辑轮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473次传输尝试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额外25次需分析原因。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恢复存在长尾"/>
          <p:cNvSpPr>
            <a:spLocks noGrp="1"/>
          </p:cNvSpPr>
          <p:nvPr/>
        </p:nvSpPr>
        <p:spPr>
          <a:xfrm>
            <a:off x="8839200" y="27622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恢复存在长尾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Sol t0/s1为77轮&#10;116个π块。&#10;次数不等于无进展。"/>
          <p:cNvSpPr>
            <a:spLocks noGrp="1"/>
          </p:cNvSpPr>
          <p:nvPr/>
        </p:nvSpPr>
        <p:spPr>
          <a:xfrm>
            <a:off x="8839200" y="312420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Sol t0/s1为77轮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116个π块。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次数不等于无进展。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可省部分需验证"/>
          <p:cNvSpPr>
            <a:spLocks noGrp="1"/>
          </p:cNvSpPr>
          <p:nvPr/>
        </p:nvSpPr>
        <p:spPr>
          <a:xfrm>
            <a:off x="8839200" y="40481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可省部分需验证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两段恢复扣render后&#10;152.01 s，占T*2.31%。"/>
          <p:cNvSpPr>
            <a:spLocks noGrp="1"/>
          </p:cNvSpPr>
          <p:nvPr/>
        </p:nvSpPr>
        <p:spPr>
          <a:xfrm>
            <a:off x="8839200" y="44100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两段恢复扣render后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152.01 s，占T*2.31%。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候选切入点：阶段进展判断、有界恢复与事件触发，质量和完整关键路径一起验收。"/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候选切入点：阶段进展判断、有界恢复与事件触发，质量和完整关键路径一起验收。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DeepSeek v5：请求指标的均值与p50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 v5：请求指标的均值与p50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报告逐轮表重算，均值为约数。首SSE是否过滤空事件未确认，均为客户端窗口。〔E3〕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报告逐轮表重算，均值为约数。首SSE是否过滤空事件未确认，均为客户端窗口。〔E3〕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0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10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单局15轮182.5 s，LLM累计约93.6 s（约51.3%）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单局15轮182.5 s，LLM累计约93.6 s（约51.3%）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914525"/>
          <a:ext cx="10972800" cy="3048000"/>
        </p:xfrm>
        <a:graphic>
          <a:graphicData uri="http://schemas.openxmlformats.org/drawingml/2006/table">
            <a:tbl>
              <a:tblPr/>
              <a:tblGrid>
                <a:gridCol w="2857500"/>
                <a:gridCol w="1790700"/>
                <a:gridCol w="1790700"/>
                <a:gridCol w="45339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客户端指标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均值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p50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定义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TTFT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1.817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1.07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请求起点至首SSE chunk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可见thinking窗口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3.143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1.46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首chunk至首正文chunk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正文／工具decode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1.280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0.65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首正文chunk至结束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完整LLM请求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6.24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3.50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完整请求窗口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均值高于中位数，长尾决定累计等待，不能只看“典型一轮”。"/>
          <p:cNvSpPr>
            <a:spLocks noGrp="1"/>
          </p:cNvSpPr>
          <p:nvPr/>
        </p:nvSpPr>
        <p:spPr>
          <a:xfrm>
            <a:off x="609600" y="52197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均值高于中位数，长尾决定累计等待，不能只看“典型一轮”。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旧v5 TPOT约4 ms，后续同局按output−1分母得p50为3.621 ms"/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旧v5 TPOT约4 ms，后续同局按output−1分母得p50为3.621 ms，定义不同。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DeepSeek v5：15轮长尾来自不同窗口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 v5：15轮长尾来自不同窗口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15轮含初始化读资料、写记录与finish。表内三窗口经舍入，分项合计可能略有差异。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15轮含初始化读资料、写记录与finish。表内三窗口经舍入，分项合计可能略有差异。〔E3〕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1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Chart"/>
          <p:cNvGraphicFramePr/>
          <p:nvPr/>
        </p:nvGraphicFramePr>
        <p:xfrm>
          <a:off x="609600" y="1714500"/>
          <a:ext cx="7905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第11轮：thinking"/>
          <p:cNvSpPr>
            <a:spLocks noGrp="1"/>
          </p:cNvSpPr>
          <p:nvPr/>
        </p:nvSpPr>
        <p:spPr>
          <a:xfrm>
            <a:off x="8839200" y="16859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第11轮：thinking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19.96 s／总24.5 s&#10;reasoning 4491 tokens"/>
          <p:cNvSpPr>
            <a:spLocks noGrp="1"/>
          </p:cNvSpPr>
          <p:nvPr/>
        </p:nvSpPr>
        <p:spPr>
          <a:xfrm>
            <a:off x="8839200" y="20478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19.96 s／总24.5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reasoning 4491 tokens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第14轮：decode"/>
          <p:cNvSpPr>
            <a:spLocks noGrp="1"/>
          </p:cNvSpPr>
          <p:nvPr/>
        </p:nvSpPr>
        <p:spPr>
          <a:xfrm>
            <a:off x="8839200" y="28956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第14轮：decode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8.94 s／总16.5 s&#10;其他输出2687 tokens"/>
          <p:cNvSpPr>
            <a:spLocks noGrp="1"/>
          </p:cNvSpPr>
          <p:nvPr/>
        </p:nvSpPr>
        <p:spPr>
          <a:xfrm>
            <a:off x="8839200" y="32575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8.94 s／总16.5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其他输出2687 tokens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优化对象不同"/>
          <p:cNvSpPr>
            <a:spLocks noGrp="1"/>
          </p:cNvSpPr>
          <p:nvPr/>
        </p:nvSpPr>
        <p:spPr>
          <a:xfrm>
            <a:off x="8839200" y="410527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优化对象不同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思考预算、工具载荷和完整结果时间需分别验证。"/>
          <p:cNvSpPr>
            <a:spLocks noGrp="1"/>
          </p:cNvSpPr>
          <p:nvPr/>
        </p:nvSpPr>
        <p:spPr>
          <a:xfrm>
            <a:off x="8839200" y="446722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思考预算、工具载荷和完整结果时间需分别验证。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182.5−93.6≈88.9 s先称“工具及其他剩余时间”，不能直接归为纯工具或纯"/>
          <p:cNvSpPr>
            <a:spLocks noGrp="1"/>
          </p:cNvSpPr>
          <p:nvPr/>
        </p:nvSpPr>
        <p:spPr>
          <a:xfrm>
            <a:off x="609600" y="56483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182.5−93.6≈88.9 s先称“工具及其他剩余时间”，不能直接归为纯工具或纯渲染。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DeepSeek：payload、cache与context边界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DeepSeek：payload、cache与context边界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v5与Files API旧局是独立集合。KB沿用原报告单位，未确认1000/1024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v5与Files API旧局是独立集合。KB沿用原报告单位，未确认1000/1024口径。〔E3〕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2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12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14475"/>
          <a:ext cx="10972800" cy="3390900"/>
        </p:xfrm>
        <a:graphic>
          <a:graphicData uri="http://schemas.openxmlformats.org/drawingml/2006/table">
            <a:tbl>
              <a:tblPr/>
              <a:tblGrid>
                <a:gridCol w="2352675"/>
                <a:gridCol w="4333875"/>
                <a:gridCol w="4286250"/>
              </a:tblGrid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观察对象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报告内证据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可解释范围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v5请求payload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15次均值3136.1降为185.7 KB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末轮10118降为280 KB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请求体缩小，图片上传阶段仍需计入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上下文与缓存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输入13,094增至84,686 tokens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缓存比例均值88.5%，p50 97%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跨请求输入重复历史，不能当新增输入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图像与TTFT探针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禁裁剪、末轮13图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另3次探针冷1.45／热约1.0 s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同时改变多项条件，仅支持该输入基线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服务端阶段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“DS服务端”均值0.46／p50 0.44 s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客户端代理区间，prefill与排队仍未拆分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缓存收益要同时记录命中条件、输入稳定性、上传成本与完整请求时间。"/>
          <p:cNvSpPr>
            <a:spLocks noGrp="1"/>
          </p:cNvSpPr>
          <p:nvPr/>
        </p:nvSpPr>
        <p:spPr>
          <a:xfrm>
            <a:off x="609600" y="51911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缓存收益要同时记录命中条件、输入稳定性、上传成本与完整请求时间。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减少上下文或图像前，先确认对象识别、历史状态与任务质量保持。"/>
          <p:cNvSpPr>
            <a:spLocks noGrp="1"/>
          </p:cNvSpPr>
          <p:nvPr/>
        </p:nvSpPr>
        <p:spPr>
          <a:xfrm>
            <a:off x="609600" y="55911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减少上下文或图像前，先确认对象识别、历史状态与任务质量保持。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DeepSeek medium／none：共同成功两seed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 medium／none：共同成功两seed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每档2/4成功，t9均未完成。小样本、system hash不完全相同，不证明成功率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每档2/4成功，t9均未完成。小样本、system hash不完全相同，不证明成功率等价。〔E3〕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3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13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共同成功episode合计2326.7降至1848.2 s，下降20.6%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共同成功episode合计2326.7降至1848.2 s，下降20.6%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952625"/>
          <a:ext cx="10972800" cy="2543176"/>
        </p:xfrm>
        <a:graphic>
          <a:graphicData uri="http://schemas.openxmlformats.org/drawingml/2006/table">
            <a:tbl>
              <a:tblPr/>
              <a:tblGrid>
                <a:gridCol w="2447925"/>
                <a:gridCol w="3143250"/>
                <a:gridCol w="3143250"/>
                <a:gridCol w="2238375"/>
              </a:tblGrid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配对初态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medium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none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耗时下降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/ seed0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1497.8 s / 37轮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1043.1 s / 31轮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30.4%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/ seed1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828.9 s / 26轮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805.1 s / 26轮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2.9%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两seed合计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2326.7 s / 63轮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1848.2 s / 57轮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20.6%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6" name="轮次同时63降至57，无法把20.6%全部归为同轨迹thinking缩短。"/>
          <p:cNvSpPr>
            <a:spLocks noGrp="1"/>
          </p:cNvSpPr>
          <p:nvPr/>
        </p:nvSpPr>
        <p:spPr>
          <a:xfrm>
            <a:off x="609600" y="4819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轮次同时63降至57，无法把20.6%全部归为同轨迹thinking缩短。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共同成功四集TTFT代理占LLM累计70.8%，包含网络与等待。"/>
          <p:cNvSpPr>
            <a:spLocks noGrp="1"/>
          </p:cNvSpPr>
          <p:nvPr/>
        </p:nvSpPr>
        <p:spPr>
          <a:xfrm>
            <a:off x="609600" y="52292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共同成功四集TTFT代理占LLM累计70.8%，包含网络与等待。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medium两成功集thinking估计352.550 s按token分摊，不能替代"/>
          <p:cNvSpPr>
            <a:spLocks noGrp="1"/>
          </p:cNvSpPr>
          <p:nvPr/>
        </p:nvSpPr>
        <p:spPr>
          <a:xfrm>
            <a:off x="609600" y="56388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medium两成功集thinking估计352.550 s按token分摊，不能替代服务端阶段实测。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DeepSeek后续审计：首输出后占80.3%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DeepSeek后续审计：首输出后占80.3%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后续主例ds_t2_par，1集15次有效请求。客户端时间戳实测窗口，不同于v5旧局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后续主例ds_t2_par，1集15次有效请求。客户端时间戳实测窗口，不同于v5旧局。〔E3〕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4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14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episode 205.3 s，LLM 110.534 s，首输出后88.796 s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episode 205.3 s，LLM 110.534 s，首输出后88.796 s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609600" y="1933575"/>
          <a:ext cx="7905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TFT占19.7%"/>
          <p:cNvSpPr>
            <a:spLocks noGrp="1"/>
          </p:cNvSpPr>
          <p:nvPr/>
        </p:nvSpPr>
        <p:spPr>
          <a:xfrm>
            <a:off x="8839200" y="18669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TTFT占19.7%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累计21.739 s&#10;p50 1.270 s"/>
          <p:cNvSpPr>
            <a:spLocks noGrp="1"/>
          </p:cNvSpPr>
          <p:nvPr/>
        </p:nvSpPr>
        <p:spPr>
          <a:xfrm>
            <a:off x="8839200" y="22288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累计21.739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p50 1.270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输出窗口更大"/>
          <p:cNvSpPr>
            <a:spLocks noGrp="1"/>
          </p:cNvSpPr>
          <p:nvPr/>
        </p:nvSpPr>
        <p:spPr>
          <a:xfrm>
            <a:off x="8839200" y="30575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输出窗口更大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14个可见thinking窗口&#10;累计68.663 s。"/>
          <p:cNvSpPr>
            <a:spLocks noGrp="1"/>
          </p:cNvSpPr>
          <p:nvPr/>
        </p:nvSpPr>
        <p:spPr>
          <a:xfrm>
            <a:off x="8839200" y="34194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14个可见thinking窗口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累计68.663 s。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优化预算随集合变"/>
          <p:cNvSpPr>
            <a:spLocks noGrp="1"/>
          </p:cNvSpPr>
          <p:nvPr/>
        </p:nvSpPr>
        <p:spPr>
          <a:xfrm>
            <a:off x="8839200" y="42481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优化预算随集合变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同样缩短20%：&#10;输出窗口约17.76 s&#10;TTFT约4.35 s。"/>
          <p:cNvSpPr>
            <a:spLocks noGrp="1"/>
          </p:cNvSpPr>
          <p:nvPr/>
        </p:nvSpPr>
        <p:spPr>
          <a:xfrm>
            <a:off x="8839200" y="461010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同样缩短20%：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输出窗口约17.76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TTFT约4.35 s。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上述是请求工作量预算，只有落在关键路径上的部分才转为episode节省。"/>
          <p:cNvSpPr>
            <a:spLocks noGrp="1"/>
          </p:cNvSpPr>
          <p:nvPr/>
        </p:nvSpPr>
        <p:spPr>
          <a:xfrm>
            <a:off x="609600" y="56578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上述是请求工作量预算，只有落在关键路径上的部分才转为episode节省。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MT low think：阶段反馈与条件收益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low think：阶段反馈与条件收益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E4用户转述MT最新实验。质量、样本量、均值／中位数和时钟边界待补证。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E4用户转述MT最新实验。质量、样本量、均值／中位数和时钟边界待补证。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5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15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4.6 s  降至  1.4 s"/>
          <p:cNvSpPr>
            <a:spLocks noGrp="1"/>
          </p:cNvSpPr>
          <p:nvPr/>
        </p:nvSpPr>
        <p:spPr>
          <a:xfrm>
            <a:off x="609600" y="14097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2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4.6 s  降至  1.4 s</a:t>
            </a:r>
            <a:endParaRPr sz="322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阶段指标差3.2 s，下降69.6%，阶段速度比约3.29×"/>
          <p:cNvSpPr>
            <a:spLocks noGrp="1"/>
          </p:cNvSpPr>
          <p:nvPr/>
        </p:nvSpPr>
        <p:spPr>
          <a:xfrm>
            <a:off x="609600" y="2114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阶段指标差3.2 s，下降69.6%，阶段速度比约3.29×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6" name="Chart"/>
          <p:cNvGraphicFramePr/>
          <p:nvPr/>
        </p:nvGraphicFramePr>
        <p:xfrm>
          <a:off x="609600" y="2952750"/>
          <a:ext cx="7905750" cy="256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条件演算"/>
          <p:cNvSpPr>
            <a:spLocks noGrp="1"/>
          </p:cNvSpPr>
          <p:nvPr/>
        </p:nvSpPr>
        <p:spPr>
          <a:xfrm>
            <a:off x="8839200" y="30861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条件演算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其他成本不变，完整请求降幅约69.6%×f。"/>
          <p:cNvSpPr>
            <a:spLocks noGrp="1"/>
          </p:cNvSpPr>
          <p:nvPr/>
        </p:nvSpPr>
        <p:spPr>
          <a:xfrm>
            <a:off x="8839200" y="34480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其他成本不变，完整请求降幅约69.6%×f。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整集还受N影响"/>
          <p:cNvSpPr>
            <a:spLocks noGrp="1"/>
          </p:cNvSpPr>
          <p:nvPr/>
        </p:nvSpPr>
        <p:spPr>
          <a:xfrm>
            <a:off x="8839200" y="43434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整集还受N影响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同口径均值、固定请求数和关键路径均需成立。"/>
          <p:cNvSpPr>
            <a:spLocks noGrp="1"/>
          </p:cNvSpPr>
          <p:nvPr/>
        </p:nvSpPr>
        <p:spPr>
          <a:xfrm>
            <a:off x="8839200" y="47053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同口径均值、固定请求数和关键路径均需成立。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后续将low作为候选档位，先验证任务质量基本不降，再比较完整请求与整集成本。"/>
          <p:cNvSpPr>
            <a:spLocks noGrp="1"/>
          </p:cNvSpPr>
          <p:nvPr/>
        </p:nvSpPr>
        <p:spPr>
          <a:xfrm>
            <a:off x="609600" y="56769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后续将low作为候选档位，先验证任务质量基本不降，再比较完整请求与整集成本。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候选优化矩阵：证据、风险与验收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候选优化矩阵：证据、风险与验收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候选路线尚未选定。共享输入、版本与质量判据，不把失败早停当作提速。〔接口E1／方案E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候选路线尚未选定。共享输入、版本与质量判据，不把失败早停当作提速。〔接口E1／方案E3〕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6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16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24000"/>
          <a:ext cx="10972800" cy="3762378"/>
        </p:xfrm>
        <a:graphic>
          <a:graphicData uri="http://schemas.openxmlformats.org/drawingml/2006/table">
            <a:tbl>
              <a:tblPr/>
              <a:tblGrid>
                <a:gridCol w="2295525"/>
                <a:gridCol w="2895600"/>
                <a:gridCol w="2333625"/>
                <a:gridCol w="3448050"/>
              </a:tblGrid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候选方向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当前支持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主要风险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质量与成本验收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low／none思考档位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medium/none有小样本对照，MT为E4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动作质量、异常输出变化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配对成功、合法动作、请求与整集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payload／上下文／缓存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文件引用、流式已有证据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裁剪丢信息、命中条件漂移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任务质量、输入量、命中与完整等待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调用粒度与事件触发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轮次、π块与恢复存在长尾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延迟发现偏差、局部恢复失效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成功、无进展轮、恢复代价、AoI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Jev有限选择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接口源码已核实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RPent收益未验证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状态／候选生成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回退与额外调用成本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固定状态与候选比较，计完整链路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本地π／NPU调度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局部handler与探针可定位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共置干扰、过期动作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deadline、chunk gap、整集关键路径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5" name="候选仍未选定。按共同质量门槛比较完整链路收益，并保留所有attempt成本。"/>
          <p:cNvSpPr>
            <a:spLocks noGrp="1"/>
          </p:cNvSpPr>
          <p:nvPr/>
        </p:nvSpPr>
        <p:spPr>
          <a:xfrm>
            <a:off x="609600" y="55149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候选仍未选定。按共同质量门槛比较完整链路收益，并保留所有attempt成本。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Astra／Jev／VLA：四种架构候选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Astra／Jev／VLA：四种架构候选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RPent已有π技能。Jev为文本有限选择器，EmbodiedJev数值伺服与RPe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RPent已有π技能。Jev为文本有限选择器，EmbodiedJev数值伺服与RPent的VLA属不同实验链。〔E1/E3〕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7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17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24000"/>
          <a:ext cx="10972800" cy="3476625"/>
        </p:xfrm>
        <a:graphic>
          <a:graphicData uri="http://schemas.openxmlformats.org/drawingml/2006/table">
            <a:tbl>
              <a:tblPr/>
              <a:tblGrid>
                <a:gridCol w="2714625"/>
                <a:gridCol w="3238500"/>
                <a:gridCol w="2286000"/>
                <a:gridCol w="2733675"/>
              </a:tblGrid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架构候选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职责分配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潜在收益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新增成本／约束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现有Astra＋技能/VLA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Astra按现有闭环调用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几何工具／π技能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保留现有基线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重复往返与恢复长尾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低频Astra＋VLA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Astra定阶段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VLA执行有限动作块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减少高层调用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进展监测与过期动作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Jev选择＋VLA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外部提供状态／候选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Jev选择，VLA执行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有限选择器处理事件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状态／候选生成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回退与额外调用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Astra＋Jev＋VLA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Astra感知和规划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Jev选择，VLA执行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分离规划与选择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候选错误与串行延迟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若Astra每轮仍先生成候选再串行调用Jev，可能新增等待，整体收益尚未验证。"/>
          <p:cNvSpPr>
            <a:spLocks noGrp="1"/>
          </p:cNvSpPr>
          <p:nvPr/>
        </p:nvSpPr>
        <p:spPr>
          <a:xfrm>
            <a:off x="609600" y="52101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若Astra每轮仍先生成候选再串行调用Jev，可能新增等待，整体收益尚未验证。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规则／Astra／Jev固定状态与候选消融，保持安全约束、触发条件和回退预算相同。"/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规则／Astra／Jev固定状态与候选消融，保持安全约束、触发条件和回退预算相同。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技术趋势与局部实时性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技术趋势与局部实时性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官方机制借鉴，访问2026-10-14。固定帧π探针非在线handler均值，上游频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官方机制借鉴，访问2026-10-14。固定帧π探针非在线handler均值，上游频率不可直接套用。〔E3〕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8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18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24000"/>
          <a:ext cx="10972800" cy="2543176"/>
        </p:xfrm>
        <a:graphic>
          <a:graphicData uri="http://schemas.openxmlformats.org/drawingml/2006/table">
            <a:tbl>
              <a:tblPr/>
              <a:tblGrid>
                <a:gridCol w="2076450"/>
                <a:gridCol w="4438650"/>
                <a:gridCol w="4457700"/>
              </a:tblGrid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工作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可借鉴机制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本项目验证点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Hi Robot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高层语言子任务与低层执行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子目标是否减少无效往返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Helix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S2/S1异频与异步协同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观测年龄、阶段版本与触发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RTC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执行旧chunk时生成新chunk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chunk连续性与过期动作处理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5" name="局部窗口：384 ms / chunk ＞ 5步 × 50 ms＝250 ms"/>
          <p:cNvSpPr>
            <a:spLocks noGrp="1"/>
          </p:cNvSpPr>
          <p:nvPr/>
        </p:nvSpPr>
        <p:spPr>
          <a:xfrm>
            <a:off x="609600" y="433387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17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局部窗口：384 ms / chunk ＞ 5步 × 50 ms＝250 ms</a:t>
            </a:r>
            <a:endParaRPr sz="217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本地VLA可优化算子与调度，仍需同时测deadline、chunk gap和设备共置"/>
          <p:cNvSpPr>
            <a:spLocks noGrp="1"/>
          </p:cNvSpPr>
          <p:nvPr/>
        </p:nvSpPr>
        <p:spPr>
          <a:xfrm>
            <a:off x="609600" y="51149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本地VLA可优化算子与调度，仍需同时测deadline、chunk gap和设备共置。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云端Astra/Jev的可控项主要是输入、连接与调用策略，供应商内部计算保持未知。"/>
          <p:cNvSpPr>
            <a:spLocks noGrp="1"/>
          </p:cNvSpPr>
          <p:nvPr/>
        </p:nvSpPr>
        <p:spPr>
          <a:xfrm>
            <a:off x="609600" y="55340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云端Astra/Jev的可控项主要是输入、连接与调用策略，供应商内部计算保持未知。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结论与质量门槛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结论与质量门槛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质量基本不降，候选路线未定。没有足够样本时只报告区间与趋势，不承诺非劣性。〔E3设计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质量基本不降，候选路线未定。没有足够样本时只报告区间与趋势，不承诺非劣性。〔E3设计〕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9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19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24000"/>
          <a:ext cx="10972800" cy="3352800"/>
        </p:xfrm>
        <a:graphic>
          <a:graphicData uri="http://schemas.openxmlformats.org/drawingml/2006/table">
            <a:tbl>
              <a:tblPr/>
              <a:tblGrid>
                <a:gridCol w="2247900"/>
                <a:gridCol w="4495800"/>
                <a:gridCol w="422910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阶段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可交付结果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晋级条件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证据补全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MT同口径、SSE边界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逻辑请求与attempt标识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数字可追溯，质量和时钟定义明确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固定状态对照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档位、缓存、规则／Jev单次质量与延迟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动作合法，选择质量满足约定门槛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配对闭环比较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成功、完成质量、轮次、恢复与全部成本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质量基本不降且整集关键路径缩短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部署与实时验证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NPU热点、共置、AoI与chunk gap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局部deadline满足，质量收益能保留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已有成果：建立成功率、总账与请求窗口的分层证据，定位长程质量和等待长尾。"/>
          <p:cNvSpPr>
            <a:spLocks noGrp="1"/>
          </p:cNvSpPr>
          <p:nvPr/>
        </p:nvSpPr>
        <p:spPr>
          <a:xfrm>
            <a:off x="609600" y="52101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8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已有成果：建立成功率、总账与请求窗口的分层证据，定位长程质量和等待长尾。</a:t>
            </a:r>
            <a:endParaRPr sz="1800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下一步：用共同质量门槛比较候选路线，再决定投入方向和部署方式。"/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800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下一步：用共同质量门槛比较候选路线，再决定投入方向和部署方式。</a:t>
            </a:r>
            <a:endParaRPr sz="1800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Evidence Review">
      <a:dk1>
        <a:srgbClr val="000000"/>
      </a:dk1>
      <a:lt1>
        <a:srgbClr val="FFFFFF"/>
      </a:lt1>
      <a:dk2>
        <a:srgbClr val="123451"/>
      </a:dk2>
      <a:lt2>
        <a:srgbClr val="EFF6F8"/>
      </a:lt2>
      <a:accent1>
        <a:srgbClr val="123451"/>
      </a:accent1>
      <a:accent2>
        <a:srgbClr val="078B98"/>
      </a:accent2>
      <a:accent3>
        <a:srgbClr val="4D86AD"/>
      </a:accent3>
      <a:accent4>
        <a:srgbClr val="9AB6C9"/>
      </a:accent4>
      <a:accent5>
        <a:srgbClr val="B6C8D4"/>
      </a:accent5>
      <a:accent6>
        <a:srgbClr val="718CA1"/>
      </a:accent6>
      <a:hlink>
        <a:srgbClr val="078B98"/>
      </a:hlink>
      <a:folHlink>
        <a:srgbClr val="4D86A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Evidence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Evidence Review">
      <a:dk1>
        <a:srgbClr val="000000"/>
      </a:dk1>
      <a:lt1>
        <a:srgbClr val="FFFFFF"/>
      </a:lt1>
      <a:dk2>
        <a:srgbClr val="123451"/>
      </a:dk2>
      <a:lt2>
        <a:srgbClr val="EFF6F8"/>
      </a:lt2>
      <a:accent1>
        <a:srgbClr val="123451"/>
      </a:accent1>
      <a:accent2>
        <a:srgbClr val="078B98"/>
      </a:accent2>
      <a:accent3>
        <a:srgbClr val="4D86AD"/>
      </a:accent3>
      <a:accent4>
        <a:srgbClr val="9AB6C9"/>
      </a:accent4>
      <a:accent5>
        <a:srgbClr val="B6C8D4"/>
      </a:accent5>
      <a:accent6>
        <a:srgbClr val="718CA1"/>
      </a:accent6>
      <a:hlink>
        <a:srgbClr val="078B98"/>
      </a:hlink>
      <a:folHlink>
        <a:srgbClr val="4D86A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Evidence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5876</Words>
  <Application>WPS 演示</Application>
  <PresentationFormat>Converted Presentation</PresentationFormat>
  <Paragraphs>915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Hiragino Sans GB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MS PGothic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WPS_1178494698</cp:lastModifiedBy>
  <cp:revision>1</cp:revision>
  <dcterms:created xsi:type="dcterms:W3CDTF">2026-10-15T00:59:27Z</dcterms:created>
  <dcterms:modified xsi:type="dcterms:W3CDTF">2026-10-15T00:59:27Z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017FA9D2D28F5E416F25D06A59AB277E_42</vt:lpwstr>
  </property>
  <property fmtid="{D5CDD505-2E9C-101B-9397-08002B2CF9AE}" pid="3" name="KSOProductBuildVer">
    <vt:lpwstr>2052-12.1.26046.26046</vt:lpwstr>
  </property>
</Properties>
</file>