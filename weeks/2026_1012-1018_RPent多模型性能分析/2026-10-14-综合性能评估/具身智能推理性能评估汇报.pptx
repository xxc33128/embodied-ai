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ab9a4c0598498e" /><Relationship Type="http://schemas.openxmlformats.org/officeDocument/2006/relationships/extended-properties" Target="/docProps/app.xml" Id="R5b759296582944af" /><Relationship Type="http://schemas.openxmlformats.org/officeDocument/2006/relationships/officeDocument" Target="/ppt/presentation.xml" Id="Rdb356392a1744f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7b30db2e76448a"/>
  </p:sldMasterIdLst>
  <p:notesMasterIdLst>
    <p:notesMasterId xmlns:r="http://schemas.openxmlformats.org/officeDocument/2006/relationships" r:id="R4262339dd7fd4cf4"/>
  </p:notesMasterIdLst>
  <p:sldIdLst>
    <p:sldId xmlns:r="http://schemas.openxmlformats.org/officeDocument/2006/relationships" id="256" r:id="Rdf6facd746424a95"/>
    <p:sldId xmlns:r="http://schemas.openxmlformats.org/officeDocument/2006/relationships" id="257" r:id="Rab97043b191246f0"/>
    <p:sldId xmlns:r="http://schemas.openxmlformats.org/officeDocument/2006/relationships" id="258" r:id="R994f2f03c987455c"/>
    <p:sldId xmlns:r="http://schemas.openxmlformats.org/officeDocument/2006/relationships" id="259" r:id="R47d57e07d3d64149"/>
    <p:sldId xmlns:r="http://schemas.openxmlformats.org/officeDocument/2006/relationships" id="260" r:id="R0e4326e9a9c241d0"/>
    <p:sldId xmlns:r="http://schemas.openxmlformats.org/officeDocument/2006/relationships" id="261" r:id="R4536d2cf38c1431d"/>
    <p:sldId xmlns:r="http://schemas.openxmlformats.org/officeDocument/2006/relationships" id="262" r:id="Rb4afb480583e4d64"/>
    <p:sldId xmlns:r="http://schemas.openxmlformats.org/officeDocument/2006/relationships" id="263" r:id="R8c874d11fc85409b"/>
    <p:sldId xmlns:r="http://schemas.openxmlformats.org/officeDocument/2006/relationships" id="264" r:id="R22a1eea7181a493c"/>
    <p:sldId xmlns:r="http://schemas.openxmlformats.org/officeDocument/2006/relationships" id="265" r:id="R069eff7197ca4299"/>
    <p:sldId xmlns:r="http://schemas.openxmlformats.org/officeDocument/2006/relationships" id="266" r:id="R5a71f18d80414ff1"/>
    <p:sldId xmlns:r="http://schemas.openxmlformats.org/officeDocument/2006/relationships" id="267" r:id="R08360da0371345f3"/>
    <p:sldId xmlns:r="http://schemas.openxmlformats.org/officeDocument/2006/relationships" id="268" r:id="Reba602192d3d4ff1"/>
    <p:sldId xmlns:r="http://schemas.openxmlformats.org/officeDocument/2006/relationships" id="269" r:id="R2a484f36ffd640ec"/>
    <p:sldId xmlns:r="http://schemas.openxmlformats.org/officeDocument/2006/relationships" id="270" r:id="R66766c1e86994554"/>
    <p:sldId xmlns:r="http://schemas.openxmlformats.org/officeDocument/2006/relationships" id="271" r:id="Rc93838bafd4b4629"/>
    <p:sldId xmlns:r="http://schemas.openxmlformats.org/officeDocument/2006/relationships" id="272" r:id="R15244622b1ae4e32"/>
    <p:sldId xmlns:r="http://schemas.openxmlformats.org/officeDocument/2006/relationships" id="273" r:id="R231a4cc204724b94"/>
    <p:sldId xmlns:r="http://schemas.openxmlformats.org/officeDocument/2006/relationships" id="274" r:id="Rc1ea4d290d904952"/>
    <p:sldId xmlns:r="http://schemas.openxmlformats.org/officeDocument/2006/relationships" id="275" r:id="R181402b629d14b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42d72ffff643a6" /><Relationship Type="http://schemas.openxmlformats.org/officeDocument/2006/relationships/slideMaster" Target="/ppt/slideMasters/slideMaster1.xml" Id="Rd07b30db2e76448a" /><Relationship Type="http://schemas.openxmlformats.org/officeDocument/2006/relationships/notesMaster" Target="/ppt/notesMasters/notesMaster1.xml" Id="R4262339dd7fd4cf4" /><Relationship Type="http://schemas.openxmlformats.org/officeDocument/2006/relationships/presProps" Target="/ppt/presProps.xml" Id="R8848ad9269bf48eb" /><Relationship Type="http://schemas.openxmlformats.org/officeDocument/2006/relationships/tableStyles" Target="/ppt/tableStyles.xml" Id="R2d539ada4ce541a5" /><Relationship Type="http://schemas.openxmlformats.org/officeDocument/2006/relationships/slide" Target="/ppt/slides/slide1.xml" Id="Rdf6facd746424a95" /><Relationship Type="http://schemas.openxmlformats.org/officeDocument/2006/relationships/slide" Target="/ppt/slides/slide2.xml" Id="Rab97043b191246f0" /><Relationship Type="http://schemas.openxmlformats.org/officeDocument/2006/relationships/slide" Target="/ppt/slides/slide3.xml" Id="R994f2f03c987455c" /><Relationship Type="http://schemas.openxmlformats.org/officeDocument/2006/relationships/slide" Target="/ppt/slides/slide4.xml" Id="R47d57e07d3d64149" /><Relationship Type="http://schemas.openxmlformats.org/officeDocument/2006/relationships/slide" Target="/ppt/slides/slide5.xml" Id="R0e4326e9a9c241d0" /><Relationship Type="http://schemas.openxmlformats.org/officeDocument/2006/relationships/slide" Target="/ppt/slides/slide6.xml" Id="R4536d2cf38c1431d" /><Relationship Type="http://schemas.openxmlformats.org/officeDocument/2006/relationships/slide" Target="/ppt/slides/slide7.xml" Id="Rb4afb480583e4d64" /><Relationship Type="http://schemas.openxmlformats.org/officeDocument/2006/relationships/slide" Target="/ppt/slides/slide8.xml" Id="R8c874d11fc85409b" /><Relationship Type="http://schemas.openxmlformats.org/officeDocument/2006/relationships/slide" Target="/ppt/slides/slide9.xml" Id="R22a1eea7181a493c" /><Relationship Type="http://schemas.openxmlformats.org/officeDocument/2006/relationships/slide" Target="/ppt/slides/slide10.xml" Id="R069eff7197ca4299" /><Relationship Type="http://schemas.openxmlformats.org/officeDocument/2006/relationships/slide" Target="/ppt/slides/slide11.xml" Id="R5a71f18d80414ff1" /><Relationship Type="http://schemas.openxmlformats.org/officeDocument/2006/relationships/slide" Target="/ppt/slides/slide12.xml" Id="R08360da0371345f3" /><Relationship Type="http://schemas.openxmlformats.org/officeDocument/2006/relationships/slide" Target="/ppt/slides/slide13.xml" Id="Reba602192d3d4ff1" /><Relationship Type="http://schemas.openxmlformats.org/officeDocument/2006/relationships/slide" Target="/ppt/slides/slide14.xml" Id="R2a484f36ffd640ec" /><Relationship Type="http://schemas.openxmlformats.org/officeDocument/2006/relationships/slide" Target="/ppt/slides/slide15.xml" Id="R66766c1e86994554" /><Relationship Type="http://schemas.openxmlformats.org/officeDocument/2006/relationships/slide" Target="/ppt/slides/slide16.xml" Id="Rc93838bafd4b4629" /><Relationship Type="http://schemas.openxmlformats.org/officeDocument/2006/relationships/slide" Target="/ppt/slides/slide17.xml" Id="R15244622b1ae4e32" /><Relationship Type="http://schemas.openxmlformats.org/officeDocument/2006/relationships/slide" Target="/ppt/slides/slide18.xml" Id="R231a4cc204724b94" /><Relationship Type="http://schemas.openxmlformats.org/officeDocument/2006/relationships/slide" Target="/ppt/slides/slide19.xml" Id="Rc1ea4d290d904952" /><Relationship Type="http://schemas.openxmlformats.org/officeDocument/2006/relationships/slide" Target="/ppt/slides/slide20.xml" Id="R181402b629d14b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665cc5edac4d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Evidence Review">
      <a:dk1>
        <a:srgbClr val="000000"/>
      </a:dk1>
      <a:lt1>
        <a:srgbClr val="FFFFFF"/>
      </a:lt1>
      <a:dk2>
        <a:srgbClr val="123451"/>
      </a:dk2>
      <a:lt2>
        <a:srgbClr val="EFF6F8"/>
      </a:lt2>
      <a:accent1>
        <a:srgbClr val="123451"/>
      </a:accent1>
      <a:accent2>
        <a:srgbClr val="078B98"/>
      </a:accent2>
      <a:accent3>
        <a:srgbClr val="4D86AD"/>
      </a:accent3>
      <a:accent4>
        <a:srgbClr val="9AB6C9"/>
      </a:accent4>
      <a:accent5>
        <a:srgbClr val="B6C8D4"/>
      </a:accent5>
      <a:accent6>
        <a:srgbClr val="718CA1"/>
      </a:accent6>
      <a:hlink>
        <a:srgbClr val="078B98"/>
      </a:hlink>
      <a:folHlink>
        <a:srgbClr val="4D86A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Evidence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b9d946c0434fa3" /><Relationship Type="http://schemas.openxmlformats.org/officeDocument/2006/relationships/notesMaster" Target="/ppt/notesMasters/notesMaster1.xml" Id="R8a23889dae3045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d66cccbb2049bf" /><Relationship Type="http://schemas.openxmlformats.org/officeDocument/2006/relationships/notesMaster" Target="/ppt/notesMasters/notesMaster1.xml" Id="Rc894aa8a1e2a42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379ec28a0d4f69" /><Relationship Type="http://schemas.openxmlformats.org/officeDocument/2006/relationships/notesMaster" Target="/ppt/notesMasters/notesMaster1.xml" Id="R405cd5a1111945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b5b62099314698" /><Relationship Type="http://schemas.openxmlformats.org/officeDocument/2006/relationships/notesMaster" Target="/ppt/notesMasters/notesMaster1.xml" Id="R901252db3c8b4a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b64b2cba5f4fc5" /><Relationship Type="http://schemas.openxmlformats.org/officeDocument/2006/relationships/notesMaster" Target="/ppt/notesMasters/notesMaster1.xml" Id="R55fbd18665f74a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2871fa1cd84ec8" /><Relationship Type="http://schemas.openxmlformats.org/officeDocument/2006/relationships/notesMaster" Target="/ppt/notesMasters/notesMaster1.xml" Id="Rc455d747cbd44b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5e23a76d224215" /><Relationship Type="http://schemas.openxmlformats.org/officeDocument/2006/relationships/notesMaster" Target="/ppt/notesMasters/notesMaster1.xml" Id="R0189b46a404348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75df938c184da5" /><Relationship Type="http://schemas.openxmlformats.org/officeDocument/2006/relationships/notesMaster" Target="/ppt/notesMasters/notesMaster1.xml" Id="R851c2ab9059347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c44bb0362f4416" /><Relationship Type="http://schemas.openxmlformats.org/officeDocument/2006/relationships/notesMaster" Target="/ppt/notesMasters/notesMaster1.xml" Id="R54e83f7e462c40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f902f8494c4eb8" /><Relationship Type="http://schemas.openxmlformats.org/officeDocument/2006/relationships/notesMaster" Target="/ppt/notesMasters/notesMaster1.xml" Id="R2e80a67b2c6e43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97927ee75949b2" /><Relationship Type="http://schemas.openxmlformats.org/officeDocument/2006/relationships/notesMaster" Target="/ppt/notesMasters/notesMaster1.xml" Id="Rb001f07be2fe47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0314e775d74ed2" /><Relationship Type="http://schemas.openxmlformats.org/officeDocument/2006/relationships/notesMaster" Target="/ppt/notesMasters/notesMaster1.xml" Id="R5e8acc9811cb40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7317441d354eab" /><Relationship Type="http://schemas.openxmlformats.org/officeDocument/2006/relationships/notesMaster" Target="/ppt/notesMasters/notesMaster1.xml" Id="R4563d21a893d42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559bb8b97694b95" /><Relationship Type="http://schemas.openxmlformats.org/officeDocument/2006/relationships/notesMaster" Target="/ppt/notesMasters/notesMaster1.xml" Id="R00c4aa41910f47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e53d3ba12f4560" /><Relationship Type="http://schemas.openxmlformats.org/officeDocument/2006/relationships/notesMaster" Target="/ppt/notesMasters/notesMaster1.xml" Id="R9153e7b6b54547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47b22f0936c482b" /><Relationship Type="http://schemas.openxmlformats.org/officeDocument/2006/relationships/notesMaster" Target="/ppt/notesMasters/notesMaster1.xml" Id="R6c0c3e11c12a45a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ce1ccb35a845f2" /><Relationship Type="http://schemas.openxmlformats.org/officeDocument/2006/relationships/notesMaster" Target="/ppt/notesMasters/notesMaster1.xml" Id="Rb2e20f9cb70d4c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11b8a0d17394c17" /><Relationship Type="http://schemas.openxmlformats.org/officeDocument/2006/relationships/notesMaster" Target="/ppt/notesMasters/notesMaster1.xml" Id="R0e2ddf21053445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4d7c1d7ba674b39" /><Relationship Type="http://schemas.openxmlformats.org/officeDocument/2006/relationships/notesMaster" Target="/ppt/notesMasters/notesMaster1.xml" Id="R5cdb0ae86ae4452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9002d3dd1864bbc" /><Relationship Type="http://schemas.openxmlformats.org/officeDocument/2006/relationships/notesMaster" Target="/ppt/notesMasters/notesMaster1.xml" Id="R914cfc8ef7f547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GPT-as-Policy-repro/data/decision_v2_20260922/index.html，v1.9，2026-09-29，§5–§8及九回合汇总。审查摘录：experiment_evidence.md §1。</a:t>
            </a:r>
          </a:p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GPT-as-Policy-repro/data/decision_v2_20260922/index.html，v1.9，2026-09-29，§5–§8及九回合汇总。审查摘录：experiment_evidence.md §1。</a:t>
            </a:r>
          </a:p>
          <a:p xmlns:a="http://schemas.openxmlformats.org/drawingml/2006/main">
            <a:r>
              <a:t>embodied-ai/weeks/2026_0914-0920_GPT6Astra评测复现/2026-09-16-bowl-eval-v1四模型总结报告.html，v1.2，§3.6。同seed补测：embodied-ai/weeks/2026_0921-0927_同机仿真与云边验证/2026-09-23-GPT6-Sol-bowl五次与Astra同seed对照.md，v1.1。</a:t>
            </a:r>
          </a:p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GPT-as-Policy-repro/data/decision_v2_20260922/index.html，v1.9，2026-09-29，§5–§8及九回合汇总。审查摘录：experiment_evidence.md §1。</a:t>
            </a:r>
          </a:p>
          <a:p xmlns:a="http://schemas.openxmlformats.org/drawingml/2006/main">
            <a:r>
              <a:t>两罐任务init0。π随机状态未配对。整轮均值与episode边界不同，不包括最终视频编码。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embodied-ai/weeks/2026_0914-0920_GPT6Astra评测复现/2026-09-16-bowl-eval-v1四模型总结报告.html，v1.2，§3.6。同seed补测：embodied-ai/weeks/2026_0921-0927_同机仿真与云边验证/2026-09-23-GPT6-Sol-bowl五次与Astra同seed对照.md，v1.1。</a:t>
            </a:r>
          </a:p>
          <a:p xmlns:a="http://schemas.openxmlformats.org/drawingml/2006/main">
            <a:r>
              <a:t>Astra/Sol成功轨迹均标stage3–4边界；Sol ultra与medium并非逐seed单向改善。Luna旧上下文污染回合排除后以clean回合替代。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Astra50/60，Sol49/60，合计99/120。两模型均medium。Spatial Task 19/20 vs17/20，Spatial Swap20/20 vs20/20，Long Swap11/20 vs12/20。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精确桶值：非π动作45327.6，π原语9367.1，工具附加12429.8，SDK非MCP53394.0，SDK外2889.9秒。SDK残差不能称thinking，π原语包含仿真、渲染与往返。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注意独立8集不是历史120集中的t0四集全成功。8集episode10965.30s，另2个SAM OOM attempt成本3205.20s应列复现成本。π handler非纯forward，prefix含编码、mask/position、KV。T*扣除已测render，但仍含控制、physics、RPC及未归属图像工作，不等于真机耗时预测。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共同成功t0：medium37+26=63逻辑轮次，none31+26=57。episode合计2326.7/1848.2s，省478.5s/20.6%。系统hash不完全相同，少量请求重试。按token分摊的352.550s thinking只属于medium共同成功两集，非独立服务端实测。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  <a:p xmlns:a="http://schemas.openxmlformats.org/drawingml/2006/main">
            <a:r>
              <a:t>算术：阶段指标差3.2s，降幅69.565%，比值3.2857。条件分析：若think占完整请求比例f且其他成本不变，完整请求降幅=0.696f。只有4.6/1.4为每请求同口径均值、N固定且处于关键路径时，才可乘N估算episode节省。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v5：15轮182.5s、TTFT p50=1.07s；Files API：11轮153.1s，部分阶段来自token估算，纯prefill和排队未独立测量；新主例：15有效请求205.3s，LLM110.534s，首输出后88.796s占80.3%。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GPT-as-Policy-repro/data/decision_v2_20260922/index.html，v1.9，2026-09-29，§5–§8及九回合汇总。审查摘录：experiment_evidence.md §1。</a:t>
            </a:r>
          </a:p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N定义为逻辑请求数，平均完整等待按逻辑请求聚合，包含该请求内的全部传输尝试、失败等待、retry与重连，另报attempt数及retry数。不能用逻辑请求N乘单attempt均值。异步区间按关键路径／并集计算，不能把重叠等待与执行相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https://github.com/FBddcz/embodied-jev/blob/f08de2e4e20d6cd69fea9c57ac1062c3ef510f1e/src/embodied_jev/libero_supervisor.py#L101-L289</a:t>
            </a:r>
          </a:p>
          <a:p xmlns:a="http://schemas.openxmlformats.org/drawingml/2006/main">
            <a:r>
              <a:t>https://github.com/FBddcz/embodied-jev/blob/f08de2e4e20d6cd69fea9c57ac1062c3ef510f1e/src/embodied_jev/policies.py#L277-L422</a:t>
            </a:r>
          </a:p>
          <a:p xmlns:a="http://schemas.openxmlformats.org/drawingml/2006/main">
            <a:r>
              <a:t>https://docs.typesafe.ai/concepts/system-one</a:t>
            </a:r>
          </a:p>
          <a:p xmlns:a="http://schemas.openxmlformats.org/drawingml/2006/main">
            <a:r>
              <a:t>https://docs.typesafe.ai/models</a:t>
            </a:r>
          </a:p>
          <a:p xmlns:a="http://schemas.openxmlformats.org/drawingml/2006/main">
            <a:r>
              <a:t>访问2026-10-14。</a:t>
            </a:r>
          </a:p>
          <a:p xmlns:a="http://schemas.openxmlformats.org/drawingml/2006/main">
            <a:r>
              <a:t>https://github.com/FBddcz/embodied-jev/blob/f08de2e4e20d6cd69fea9c57ac1062c3ef510f1e/docs/results/libero-vision/RESULTS.md#L1-L43</a:t>
            </a:r>
          </a:p>
          <a:p xmlns:a="http://schemas.openxmlformats.org/drawingml/2006/main">
            <a:r>
              <a:t>当前所核查TypeSafe入口未提供可部署Jev权重，text-only。同state多问题并行是官方服务声明。LIBERO v2暂无完整配对结果，不继承v1成绩。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https://github.com/FBddcz/embodied-jev/blob/f08de2e4e20d6cd69fea9c57ac1062c3ef510f1e/src/embodied_jev/libero_supervisor.py#L101-L289</a:t>
            </a:r>
          </a:p>
          <a:p xmlns:a="http://schemas.openxmlformats.org/drawingml/2006/main">
            <a:r>
              <a:t>https://github.com/FBddcz/embodied-jev/blob/f08de2e4e20d6cd69fea9c57ac1062c3ef510f1e/src/embodied_jev/policies.py#L277-L422</a:t>
            </a:r>
          </a:p>
          <a:p xmlns:a="http://schemas.openxmlformats.org/drawingml/2006/main">
            <a:r>
              <a:t>https://docs.typesafe.ai/concepts/system-one</a:t>
            </a:r>
          </a:p>
          <a:p xmlns:a="http://schemas.openxmlformats.org/drawingml/2006/main">
            <a:r>
              <a:t>https://docs.typesafe.ai/models</a:t>
            </a:r>
          </a:p>
          <a:p xmlns:a="http://schemas.openxmlformats.org/drawingml/2006/main">
            <a:r>
              <a:t>访问2026-10-14。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Astra视觉候选、Jev语义选择、VLA动作生成与确定性gate分工。Jev只能依据结构化证据，不能补救缺失候选或错误感知。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https://github.com/FBddcz/embodied-jev/blob/f08de2e4e20d6cd69fea9c57ac1062c3ef510f1e/src/embodied_jev/libero_supervisor.py#L101-L289</a:t>
            </a:r>
          </a:p>
          <a:p xmlns:a="http://schemas.openxmlformats.org/drawingml/2006/main">
            <a:r>
              <a:t>https://github.com/FBddcz/embodied-jev/blob/f08de2e4e20d6cd69fea9c57ac1062c3ef510f1e/src/embodied_jev/policies.py#L277-L422</a:t>
            </a:r>
          </a:p>
          <a:p xmlns:a="http://schemas.openxmlformats.org/drawingml/2006/main">
            <a:r>
              <a:t>https://docs.typesafe.ai/concepts/system-one</a:t>
            </a:r>
          </a:p>
          <a:p xmlns:a="http://schemas.openxmlformats.org/drawingml/2006/main">
            <a:r>
              <a:t>https://docs.typesafe.ai/models</a:t>
            </a:r>
          </a:p>
          <a:p xmlns:a="http://schemas.openxmlformats.org/drawingml/2006/main">
            <a:r>
              <a:t>访问2026-10-14。</a:t>
            </a:r>
          </a:p>
          <a:p xmlns:a="http://schemas.openxmlformats.org/drawingml/2006/main">
            <a:r>
              <a:t>阶段契约保存episode、stage_version、对象、目标、前提、预期效果、预算、超时、恢复和观测时间。过期回复不可覆盖新阶段。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 Robot，ICML2025/arXiv v2：https://arxiv.org/abs/2502.19417v2</a:t>
            </a:r>
          </a:p>
          <a:p xmlns:a="http://schemas.openxmlformats.org/drawingml/2006/main">
            <a:r>
              <a:t>Helix：https://www.figure.ai/news/helix ，2025-02-20</a:t>
            </a:r>
          </a:p>
          <a:p xmlns:a="http://schemas.openxmlformats.org/drawingml/2006/main">
            <a:r>
              <a:t>RTC，NeurIPS2025/v2：https://arxiv.org/abs/2506.07339v2</a:t>
            </a:r>
          </a:p>
          <a:p xmlns:a="http://schemas.openxmlformats.org/drawingml/2006/main">
            <a:r>
              <a:t>π0.7：https://www.pi.website/blog/pi07 ，2026-04-16</a:t>
            </a:r>
          </a:p>
          <a:p xmlns:a="http://schemas.openxmlformats.org/drawingml/2006/main">
            <a:r>
              <a:t>访问2026-10-14。不得移植频率和性能成绩。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embodied-ai/weeks/2026_1012-1018_RPent多模型性能分析/2026-10-13-具身VLM推理的芯片加速单元与验证路径.md</a:t>
            </a:r>
          </a:p>
          <a:p xmlns:a="http://schemas.openxmlformats.org/drawingml/2006/main">
            <a:r>
              <a:t>embodied-ai/weeks/2026_1012-1018_RPent多模型性能分析/2026-10-13-910B3本地VLM首批32次推理基线执行方案.md，计划非性能结果。</a:t>
            </a:r>
          </a:p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  <a:p xmlns:a="http://schemas.openxmlformats.org/drawingml/2006/main">
            <a:r>
              <a:t>固定帧π探针10次，383–384ms/chunk，每chunk5步。若控制周期50ms，则执行窗口250ms。此条件下推理延迟超过窗口；不作跨硬件性能比较。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示例筛选预算：A/B/C/D每组2场景×5配对初态=40集，并非已规定的正式实验数量。C/D共享触发时机、状态、候选和确定性安全约束，仅替换规则/Jev选择器。low think对照与架构消融分开。固定状态可以比较相同输入，闭环轨迹分岔后不能假装后续观测相同。示例40集不能支持正式成功率非劣性承诺。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embodied-ai/weeks/2026_1012-1018_RPent多模型性能分析/2026-10-13-具身VLM推理的芯片加速单元与验证路径.md</a:t>
            </a:r>
          </a:p>
          <a:p xmlns:a="http://schemas.openxmlformats.org/drawingml/2006/main">
            <a:r>
              <a:t>embodied-ai/weeks/2026_1012-1018_RPent多模型性能分析/2026-10-13-910B3本地VLM首批32次推理基线执行方案.md，计划非性能结果。</a:t>
            </a:r>
          </a:p>
          <a:p xmlns:a="http://schemas.openxmlformats.org/drawingml/2006/main">
            <a:r>
              <a:t>共享trace至少记录观测产生、发送、首delta、完整动作结果、提交、chunk结束、wall/sim时间和语义版本。MT新反馈先补配置与样本。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b17abc5d048d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97715922c42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b11ecad0ed41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305d3b47640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c0b22da3b40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9fa767640744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8E10CA-C499-44E4-AD8B-6B43929BCE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0EE6BF-6729-464A-9D94-1B3C424230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2D86B8E-1C3F-42F6-A90A-02E3FFBE9C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D7A9ED-BE5B-4680-9E41-BBABC73E30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825347-0633-4E8B-B873-B015D5EA10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3D5E11C-8D2B-4893-AED3-D9E84DE12E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5A357C-3316-4DCA-88D2-D76BECDF01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27848EB-99B2-4B15-90B1-E7C1906F97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243021-483A-4935-8EFC-E727E59F4B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FE49F3-7801-43D8-AF55-7458912F16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8f0e56d4e4415f" /><Relationship Type="http://schemas.openxmlformats.org/officeDocument/2006/relationships/slideLayout" Target="/ppt/slideLayouts/slideLayout1.xml" Id="R6b01dbf5be4e4ded" /><Relationship Type="http://schemas.openxmlformats.org/officeDocument/2006/relationships/slideLayout" Target="/ppt/slideLayouts/slideLayout2.xml" Id="R28af3f9964614b62" /><Relationship Type="http://schemas.openxmlformats.org/officeDocument/2006/relationships/slideLayout" Target="/ppt/slideLayouts/slideLayout3.xml" Id="Rf625208539be4a56" /><Relationship Type="http://schemas.openxmlformats.org/officeDocument/2006/relationships/slideLayout" Target="/ppt/slideLayouts/slideLayout4.xml" Id="R6986d454f7344ecb" /><Relationship Type="http://schemas.openxmlformats.org/officeDocument/2006/relationships/slideLayout" Target="/ppt/slideLayouts/slideLayout5.xml" Id="Re0eeeffeef204263" /><Relationship Type="http://schemas.openxmlformats.org/officeDocument/2006/relationships/slideLayout" Target="/ppt/slideLayouts/slideLayout6.xml" Id="Ref61111778284e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01dbf5be4e4ded"/>
    <p:sldLayoutId xmlns:r="http://schemas.openxmlformats.org/officeDocument/2006/relationships" id="2147483650" r:id="R28af3f9964614b62"/>
    <p:sldLayoutId xmlns:r="http://schemas.openxmlformats.org/officeDocument/2006/relationships" id="2147483651" r:id="Rf625208539be4a56"/>
    <p:sldLayoutId xmlns:r="http://schemas.openxmlformats.org/officeDocument/2006/relationships" id="2147483652" r:id="R6986d454f7344ecb"/>
    <p:sldLayoutId xmlns:r="http://schemas.openxmlformats.org/officeDocument/2006/relationships" id="2147483653" r:id="Re0eeeffeef204263"/>
    <p:sldLayoutId xmlns:r="http://schemas.openxmlformats.org/officeDocument/2006/relationships" id="2147483654" r:id="Ref61111778284e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Evidence Review">
      <a:dk1>
        <a:srgbClr val="000000"/>
      </a:dk1>
      <a:lt1>
        <a:srgbClr val="FFFFFF"/>
      </a:lt1>
      <a:dk2>
        <a:srgbClr val="123451"/>
      </a:dk2>
      <a:lt2>
        <a:srgbClr val="EFF6F8"/>
      </a:lt2>
      <a:accent1>
        <a:srgbClr val="123451"/>
      </a:accent1>
      <a:accent2>
        <a:srgbClr val="078B98"/>
      </a:accent2>
      <a:accent3>
        <a:srgbClr val="4D86AD"/>
      </a:accent3>
      <a:accent4>
        <a:srgbClr val="9AB6C9"/>
      </a:accent4>
      <a:accent5>
        <a:srgbClr val="B6C8D4"/>
      </a:accent5>
      <a:accent6>
        <a:srgbClr val="718CA1"/>
      </a:accent6>
      <a:hlink>
        <a:srgbClr val="078B98"/>
      </a:hlink>
      <a:folHlink>
        <a:srgbClr val="4D86A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Evidence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b060dd593d41a5" /><Relationship Type="http://schemas.openxmlformats.org/officeDocument/2006/relationships/notesSlide" Target="/ppt/notesSlides/notesSlide1.xml" Id="Rafd2903bacfd46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90078e62345f0" /><Relationship Type="http://schemas.openxmlformats.org/officeDocument/2006/relationships/notesSlide" Target="/ppt/notesSlides/notesSlide2.xml" Id="Rb90d39ac41d34d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d11ae10edb4682" /><Relationship Type="http://schemas.openxmlformats.org/officeDocument/2006/relationships/notesSlide" Target="/ppt/notesSlides/notesSlide3.xml" Id="Rc6d92e82d1d14f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066b45523b4116" /><Relationship Type="http://schemas.openxmlformats.org/officeDocument/2006/relationships/notesSlide" Target="/ppt/notesSlides/notesSlide4.xml" Id="R4c9b7e14a4fd4c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f8e43927564a6e" /><Relationship Type="http://schemas.openxmlformats.org/officeDocument/2006/relationships/notesSlide" Target="/ppt/notesSlides/notesSlide5.xml" Id="R4f83a6ac3a8942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730d7753dd4f24" /><Relationship Type="http://schemas.openxmlformats.org/officeDocument/2006/relationships/chart" Target="/ppt/slides/charts/chart1.xml" Id="R01405dbb43504975" /><Relationship Type="http://schemas.openxmlformats.org/officeDocument/2006/relationships/notesSlide" Target="/ppt/notesSlides/notesSlide6.xml" Id="Rc5281388804040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7a35ada593409f" /><Relationship Type="http://schemas.openxmlformats.org/officeDocument/2006/relationships/chart" Target="/ppt/slides/charts/chart2.xml" Id="Rfd7c14aca8a343ba" /><Relationship Type="http://schemas.openxmlformats.org/officeDocument/2006/relationships/notesSlide" Target="/ppt/notesSlides/notesSlide7.xml" Id="Rd5b6efa728654c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0e1befb48343bf" /><Relationship Type="http://schemas.openxmlformats.org/officeDocument/2006/relationships/notesSlide" Target="/ppt/notesSlides/notesSlide8.xml" Id="Rdae2df5d8ce74d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c4c9a6429947dc" /><Relationship Type="http://schemas.openxmlformats.org/officeDocument/2006/relationships/notesSlide" Target="/ppt/notesSlides/notesSlide9.xml" Id="R4a0aae36a22941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4c400543b245cf" /><Relationship Type="http://schemas.openxmlformats.org/officeDocument/2006/relationships/notesSlide" Target="/ppt/notesSlides/notesSlide10.xml" Id="R885f2c3defa344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0cc291a6404471" /><Relationship Type="http://schemas.openxmlformats.org/officeDocument/2006/relationships/notesSlide" Target="/ppt/notesSlides/notesSlide11.xml" Id="R92b9cf0aacf741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2afded3d5448b1" /><Relationship Type="http://schemas.openxmlformats.org/officeDocument/2006/relationships/notesSlide" Target="/ppt/notesSlides/notesSlide12.xml" Id="R80bf4a33929148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68a6ca8aac4526" /><Relationship Type="http://schemas.openxmlformats.org/officeDocument/2006/relationships/notesSlide" Target="/ppt/notesSlides/notesSlide13.xml" Id="R1f766d3b2e354d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b898f7201448e" /><Relationship Type="http://schemas.openxmlformats.org/officeDocument/2006/relationships/notesSlide" Target="/ppt/notesSlides/notesSlide14.xml" Id="R777cf67a12d749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8de85326124a8e" /><Relationship Type="http://schemas.openxmlformats.org/officeDocument/2006/relationships/notesSlide" Target="/ppt/notesSlides/notesSlide15.xml" Id="Rec7c3d647f024c1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48117e3e374ac4" /><Relationship Type="http://schemas.openxmlformats.org/officeDocument/2006/relationships/notesSlide" Target="/ppt/notesSlides/notesSlide16.xml" Id="Ra9bfc994929343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99f423635a4557" /><Relationship Type="http://schemas.openxmlformats.org/officeDocument/2006/relationships/notesSlide" Target="/ppt/notesSlides/notesSlide17.xml" Id="Rd6c3d3af3d81421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21d5d1e2894acc" /><Relationship Type="http://schemas.openxmlformats.org/officeDocument/2006/relationships/notesSlide" Target="/ppt/notesSlides/notesSlide18.xml" Id="R6a1a01b094f642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54ccf1267145e8" /><Relationship Type="http://schemas.openxmlformats.org/officeDocument/2006/relationships/notesSlide" Target="/ppt/notesSlides/notesSlide19.xml" Id="R9470646018934cb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42361600c4652" /><Relationship Type="http://schemas.openxmlformats.org/officeDocument/2006/relationships/notesSlide" Target="/ppt/notesSlides/notesSlide20.xml" Id="Rc0e339af7778479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Astra</c:v>
          </c:tx>
          <c:spPr>
            <a:solidFill xmlns:a="http://schemas.openxmlformats.org/drawingml/2006/main">
              <a:srgbClr val="123451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Spatial Task</c:v>
                </c:pt>
                <c:pt idx="1">
                  <c:v>Spatial Swap</c:v>
                </c:pt>
                <c:pt idx="2">
                  <c:v>Long Swap</c:v>
                </c:pt>
              </c:strCache>
            </c:strRef>
          </c:cat>
          <c:val>
            <c:numRef>
              <c:f>'Chart Data'!$B$2:$B$4</c:f>
              <c:numCache>
                <c:formatCode>0%</c:formatCode>
                <c:ptCount val="3"/>
                <c:pt idx="0">
                  <c:v>0.95</c:v>
                </c:pt>
                <c:pt idx="1">
                  <c:v>1</c:v>
                </c:pt>
                <c:pt idx="2">
                  <c:v>0.55</c:v>
                </c:pt>
              </c:numCache>
            </c:numRef>
          </c:val>
        </c:ser>
        <c:ser>
          <c:idx val="1"/>
          <c:order val="1"/>
          <c:tx>
            <c:v>Sol</c:v>
          </c:tx>
          <c:spPr>
            <a:solidFill xmlns:a="http://schemas.openxmlformats.org/drawingml/2006/main">
              <a:srgbClr val="078B9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Spatial Task</c:v>
                </c:pt>
                <c:pt idx="1">
                  <c:v>Spatial Swap</c:v>
                </c:pt>
                <c:pt idx="2">
                  <c:v>Long Swap</c:v>
                </c:pt>
              </c:strCache>
            </c:strRef>
          </c:cat>
          <c:val>
            <c:numRef>
              <c:f>'Chart Data'!$D$2:$D$4</c:f>
              <c:numCache>
                <c:formatCode>0%</c:formatCode>
                <c:ptCount val="3"/>
                <c:pt idx="0">
                  <c:v>0.85</c:v>
                </c:pt>
                <c:pt idx="1">
                  <c:v>1</c:v>
                </c:pt>
                <c:pt idx="2">
                  <c:v>0.6</c:v>
                </c:pt>
              </c:numCache>
            </c:numRef>
          </c:val>
        </c:ser>
        <c:dLbls>
          <c:numFmt formatCode="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 b="1">
                  <a:solidFill>
                    <a:srgbClr val="FFFFFF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8354A"/>
              </a:solidFill>
              <a:latin typeface="Hiragino Sans GB"/>
              <a:ea typeface="Hiragino Sans GB"/>
              <a:cs typeface="Hiragino Sans GB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episode时间占比</c:v>
          </c:tx>
          <c:spPr>
            <a:solidFill xmlns:a="http://schemas.openxmlformats.org/drawingml/2006/main">
              <a:srgbClr val="123451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4D86AD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AB6C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18C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078B98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6C8D4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非π动作</c:v>
                </c:pt>
                <c:pt idx="1">
                  <c:v>π原语</c:v>
                </c:pt>
                <c:pt idx="2">
                  <c:v>工具附加</c:v>
                </c:pt>
                <c:pt idx="3">
                  <c:v>SDK非工具</c:v>
                </c:pt>
                <c:pt idx="4">
                  <c:v>SDK外壳</c:v>
                </c:pt>
              </c:strCache>
            </c:strRef>
          </c:cat>
          <c:val>
            <c:numRef>
              <c:f>'Chart Data'!$B$2:$B$6</c:f>
              <c:numCache>
                <c:formatCode>0.0%</c:formatCode>
                <c:ptCount val="5"/>
                <c:pt idx="0">
                  <c:v>0.367</c:v>
                </c:pt>
                <c:pt idx="1">
                  <c:v>0.076</c:v>
                </c:pt>
                <c:pt idx="2">
                  <c:v>0.101</c:v>
                </c:pt>
                <c:pt idx="3">
                  <c:v>0.433</c:v>
                </c:pt>
                <c:pt idx="4">
                  <c:v>0.023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23451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具身智能推理性能评估">
            <a:extLst xmlns:a="http://schemas.openxmlformats.org/drawingml/2006/main">
              <a:ext uri="{FF2B5EF4-FFF2-40B4-BE49-F238E27FC236}">
                <a16:creationId xmlns:a16="http://schemas.microsoft.com/office/drawing/2014/main" id="{2F7D2499-677F-4CF0-BDB0-4FAB8E7B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具身智能推理性能评估</a:t>
            </a:r>
          </a:p>
        </p:txBody>
      </p:sp>
      <p:sp>
        <p:nvSpPr>
          <p:cNvPr id="2" name="E1 源码证据　E3 报告转述／分析　E4 最新反馈待补证">
            <a:extLst xmlns:a="http://schemas.openxmlformats.org/drawingml/2006/main">
              <a:ext uri="{FF2B5EF4-FFF2-40B4-BE49-F238E27FC236}">
                <a16:creationId xmlns:a16="http://schemas.microsoft.com/office/drawing/2014/main" id="{911D19B2-A5E1-4AC4-AEE6-616E2E06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E1 源码证据　E3 报告转述／分析　E4 最新反馈待补证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977E399C-05C4-4891-BF9F-3AFB3853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4" name="实验结果、决策开销与下一步路线">
            <a:extLst xmlns:a="http://schemas.openxmlformats.org/drawingml/2006/main">
              <a:ext uri="{FF2B5EF4-FFF2-40B4-BE49-F238E27FC236}">
                <a16:creationId xmlns:a16="http://schemas.microsoft.com/office/drawing/2014/main" id="{10C76122-071B-4E03-AFDE-B520BFC0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45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45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实验结果、决策开销与下一步路线</a:t>
            </a:r>
          </a:p>
        </p:txBody>
      </p:sp>
      <p:sp>
        <p:nvSpPr>
          <p:cNvPr id="5" name="GPT-as-Policy　bowl　RPent　DeepSeek">
            <a:extLst xmlns:a="http://schemas.openxmlformats.org/drawingml/2006/main">
              <a:ext uri="{FF2B5EF4-FFF2-40B4-BE49-F238E27FC236}">
                <a16:creationId xmlns:a16="http://schemas.microsoft.com/office/drawing/2014/main" id="{6B9206FE-BF3A-4F80-939C-7BE75557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0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GPT-as-Policy　bowl　RPent　DeepSeek</a:t>
            </a:r>
          </a:p>
        </p:txBody>
      </p:sp>
      <p:sp>
        <p:nvSpPr>
          <p:cNvPr id="6" name="技术负责人汇报&#10;2026年10月14日">
            <a:extLst xmlns:a="http://schemas.openxmlformats.org/drawingml/2006/main">
              <a:ext uri="{FF2B5EF4-FFF2-40B4-BE49-F238E27FC236}">
                <a16:creationId xmlns:a16="http://schemas.microsoft.com/office/drawing/2014/main" id="{1CD8679D-51BC-43AD-A7FB-4DD21128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技术负责人汇报</a:t>
            </a:r>
          </a:p>
          <a:p xmlns:a="http://schemas.openxmlformats.org/drawingml/2006/main">
            <a:pPr algn="l">
              <a:defRPr sz="19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2026年10月14日</a:t>
            </a:r>
          </a:p>
        </p:txBody>
      </p:sp>
    </p:spTree>
    <p:extLst>
      <p:ext uri="{BB962C8B-B14F-4D97-AF65-F5344CB8AC3E}">
        <p14:creationId xmlns:p14="http://schemas.microsoft.com/office/powerpoint/2010/main" val="1921359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核心结论">
            <a:extLst xmlns:a="http://schemas.openxmlformats.org/drawingml/2006/main">
              <a:ext uri="{FF2B5EF4-FFF2-40B4-BE49-F238E27FC236}">
                <a16:creationId xmlns:a16="http://schemas.microsoft.com/office/drawing/2014/main" id="{1FF474D9-53E1-4D73-9A18-60C948A5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核心结论</a:t>
            </a:r>
          </a:p>
        </p:txBody>
      </p:sp>
      <p:sp>
        <p:nvSpPr>
          <p:cNvPr id="2" name="先冻结成功与计时口径，再用受控实验确认收益。">
            <a:extLst xmlns:a="http://schemas.openxmlformats.org/drawingml/2006/main">
              <a:ext uri="{FF2B5EF4-FFF2-40B4-BE49-F238E27FC236}">
                <a16:creationId xmlns:a16="http://schemas.microsoft.com/office/drawing/2014/main" id="{0A56757B-C705-46D0-A5FB-68214B5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先冻结成功与计时口径，再用受控实验确认收益。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79F198CD-C92F-42F9-9EB4-DABA5B1C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4" name="现有瓶颈">
            <a:extLst xmlns:a="http://schemas.openxmlformats.org/drawingml/2006/main">
              <a:ext uri="{FF2B5EF4-FFF2-40B4-BE49-F238E27FC236}">
                <a16:creationId xmlns:a16="http://schemas.microsoft.com/office/drawing/2014/main" id="{742A78C6-C18E-413D-AD3E-F70AED5B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现有瓶颈</a:t>
            </a:r>
          </a:p>
        </p:txBody>
      </p:sp>
      <p:sp>
        <p:nvSpPr>
          <p:cNvPr id="5" name="高层等待和动作执行同时占大头，&#10;π handler 并非独立8集的整集主瓶颈。">
            <a:extLst xmlns:a="http://schemas.openxmlformats.org/drawingml/2006/main">
              <a:ext uri="{FF2B5EF4-FFF2-40B4-BE49-F238E27FC236}">
                <a16:creationId xmlns:a16="http://schemas.microsoft.com/office/drawing/2014/main" id="{64B5DFE9-75CB-4DF5-92B4-8A50E2EF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76400"/>
            <a:ext cx="8248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高层等待和动作执行同时占大头，</a:t>
            </a:r>
          </a:p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π handler 并非独立8集的整集主瓶颈。</a:t>
            </a:r>
          </a:p>
        </p:txBody>
      </p:sp>
      <p:sp>
        <p:nvSpPr>
          <p:cNvPr id="6" name="近期方向">
            <a:extLst xmlns:a="http://schemas.openxmlformats.org/drawingml/2006/main">
              <a:ext uri="{FF2B5EF4-FFF2-40B4-BE49-F238E27FC236}">
                <a16:creationId xmlns:a16="http://schemas.microsoft.com/office/drawing/2014/main" id="{0D1A37A7-2FD7-41CE-8DD5-B79351F7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近期方向</a:t>
            </a:r>
          </a:p>
        </p:txBody>
      </p:sp>
      <p:sp>
        <p:nvSpPr>
          <p:cNvPr id="7" name="low think 与减少无进展回合分别消融，&#10;完整请求耗时和任务成功率一起验收。">
            <a:extLst xmlns:a="http://schemas.openxmlformats.org/drawingml/2006/main">
              <a:ext uri="{FF2B5EF4-FFF2-40B4-BE49-F238E27FC236}">
                <a16:creationId xmlns:a16="http://schemas.microsoft.com/office/drawing/2014/main" id="{72B2FB2B-1F62-4157-9E58-F2224D12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76550"/>
            <a:ext cx="8248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low think 与减少无进展回合分别消融，</a:t>
            </a:r>
          </a:p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完整请求耗时和任务成功率一起验收。</a:t>
            </a:r>
          </a:p>
        </p:txBody>
      </p:sp>
      <p:sp>
        <p:nvSpPr>
          <p:cNvPr id="8" name="架构选择">
            <a:extLst xmlns:a="http://schemas.openxmlformats.org/drawingml/2006/main">
              <a:ext uri="{FF2B5EF4-FFF2-40B4-BE49-F238E27FC236}">
                <a16:creationId xmlns:a16="http://schemas.microsoft.com/office/drawing/2014/main" id="{1C82D9E8-F5A5-4F82-8ED5-04E4C691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架构选择</a:t>
            </a:r>
          </a:p>
        </p:txBody>
      </p:sp>
      <p:sp>
        <p:nvSpPr>
          <p:cNvPr id="9" name="保留 Astra 规划与 VLA 执行，&#10;Jev 先与确定性 gate 比较增量价值">
            <a:extLst xmlns:a="http://schemas.openxmlformats.org/drawingml/2006/main">
              <a:ext uri="{FF2B5EF4-FFF2-40B4-BE49-F238E27FC236}">
                <a16:creationId xmlns:a16="http://schemas.microsoft.com/office/drawing/2014/main" id="{47062268-FFA4-4F2C-A01C-D2B92614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76700"/>
            <a:ext cx="8248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保留 Astra 规划与 VLA 执行，</a:t>
            </a:r>
          </a:p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Jev 先与确定性 gate 比较增量价值。</a:t>
            </a:r>
          </a:p>
        </p:txBody>
      </p:sp>
    </p:spTree>
    <p:extLst>
      <p:ext uri="{BB962C8B-B14F-4D97-AF65-F5344CB8AC3E}">
        <p14:creationId xmlns:p14="http://schemas.microsoft.com/office/powerpoint/2010/main" val="2215276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实验范围与分母">
            <a:extLst xmlns:a="http://schemas.openxmlformats.org/drawingml/2006/main">
              <a:ext uri="{FF2B5EF4-FFF2-40B4-BE49-F238E27FC236}">
                <a16:creationId xmlns:a16="http://schemas.microsoft.com/office/drawing/2014/main" id="{E81A5C0E-DB24-4B7B-BC45-E24CA35D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实验范围与分母</a:t>
            </a:r>
          </a:p>
        </p:txBody>
      </p:sp>
      <p:sp>
        <p:nvSpPr>
          <p:cNvPr id="2" name="不同环境、成功谓词和接入条件分别统计，不能拼接成统一排行榜。〔E3〕">
            <a:extLst xmlns:a="http://schemas.openxmlformats.org/drawingml/2006/main">
              <a:ext uri="{FF2B5EF4-FFF2-40B4-BE49-F238E27FC236}">
                <a16:creationId xmlns:a16="http://schemas.microsoft.com/office/drawing/2014/main" id="{6DF9D4C1-2291-4A22-A107-0F58668A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不同环境、成功谓词和接入条件分别统计，不能拼接成统一排行榜。〔E3〕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829A7D62-D815-40E5-993A-6D6502B6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3EF64-AB85-44C9-BBAE-B69C5FCDF939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019550"/>
                <a:gridCol w="3905250"/>
              </a:tblGrid>
              <a:tr h="6572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集合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样本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本次用途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572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GPT-as-Policy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3任务 × 3路线＝9回合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接口与整轮开销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572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bowl 同 seed 补测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4配置 × 5 seed＝20回合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小样本能力与等待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RPent 历史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2模型 × 3套件 × 20＝120集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成功率与互斥五桶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572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RPent 独立深测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2场景 × 2模型 × 2 seed＝8集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本地嵌套阶段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DeepSeek 专项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medium/none 8集，另3个单局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档位与计时边界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74059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PT-as-Policy：罐子三路线">
            <a:extLst xmlns:a="http://schemas.openxmlformats.org/drawingml/2006/main">
              <a:ext uri="{FF2B5EF4-FFF2-40B4-BE49-F238E27FC236}">
                <a16:creationId xmlns:a16="http://schemas.microsoft.com/office/drawing/2014/main" id="{E238ABA3-FAE9-4F1D-88E2-18CB683C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GPT-as-Policy：罐子三路线</a:t>
            </a:r>
          </a:p>
        </p:txBody>
      </p:sp>
      <p:sp>
        <p:nvSpPr>
          <p:cNvPr id="2" name="每路线仅1条成功轨迹。Hybrid的51轮全放行Student，不能归因为GPT纠错">
            <a:extLst xmlns:a="http://schemas.openxmlformats.org/drawingml/2006/main">
              <a:ext uri="{FF2B5EF4-FFF2-40B4-BE49-F238E27FC236}">
                <a16:creationId xmlns:a16="http://schemas.microsoft.com/office/drawing/2014/main" id="{60666AF2-FFF5-42BB-9AB1-A385628A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每路线仅1条成功轨迹。Hybrid的51轮全放行Student，不能归因为GPT纠错。〔E3〕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BAB484D7-F00D-4A34-B10C-8A4827ED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4" name="本条Hybrid轨迹轮数更少，但每轮等待更长">
            <a:extLst xmlns:a="http://schemas.openxmlformats.org/drawingml/2006/main">
              <a:ext uri="{FF2B5EF4-FFF2-40B4-BE49-F238E27FC236}">
                <a16:creationId xmlns:a16="http://schemas.microsoft.com/office/drawing/2014/main" id="{332B299C-0983-40EB-89B9-F3312051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本条Hybrid轨迹轮数更少，但每轮等待更长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74D39-DBB0-422F-8683-1F04A57E73D4}"/>
              </a:ext>
            </a:extLst>
          </p:cNvPr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2000250"/>
                <a:gridCol w="2914650"/>
                <a:gridCol w="2914650"/>
              </a:tblGrid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路线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决策轮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平均整轮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episode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Direct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14.41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1428.97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Student (π0.5)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4.20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248.71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Hybrid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18.82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202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991.09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6" name="Hybrid：GPT 请求均值14.37 s，π推理含同步均值0.53 s。">
            <a:extLst xmlns:a="http://schemas.openxmlformats.org/drawingml/2006/main">
              <a:ext uri="{FF2B5EF4-FFF2-40B4-BE49-F238E27FC236}">
                <a16:creationId xmlns:a16="http://schemas.microsoft.com/office/drawing/2014/main" id="{0C9E5249-9F68-48B3-BDB8-027BC9D8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Hybrid：GPT 请求均值14.37 s，π推理含同步均值0.53 s。</a:t>
            </a:r>
          </a:p>
        </p:txBody>
      </p:sp>
    </p:spTree>
    <p:extLst>
      <p:ext uri="{BB962C8B-B14F-4D97-AF65-F5344CB8AC3E}">
        <p14:creationId xmlns:p14="http://schemas.microsoft.com/office/powerpoint/2010/main" val="5059468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owl：同 seed 的四组补测">
            <a:extLst xmlns:a="http://schemas.openxmlformats.org/drawingml/2006/main">
              <a:ext uri="{FF2B5EF4-FFF2-40B4-BE49-F238E27FC236}">
                <a16:creationId xmlns:a16="http://schemas.microsoft.com/office/drawing/2014/main" id="{6100867D-B80B-4832-A50F-719AEB6F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bowl：同 seed 的四组补测</a:t>
            </a:r>
          </a:p>
        </p:txBody>
      </p:sp>
      <p:sp>
        <p:nvSpPr>
          <p:cNvPr id="2" name="每组n＝5，串行，seed2005–2009。自动入碗不等于稳定放置已确认。〔E3〕">
            <a:extLst xmlns:a="http://schemas.openxmlformats.org/drawingml/2006/main">
              <a:ext uri="{FF2B5EF4-FFF2-40B4-BE49-F238E27FC236}">
                <a16:creationId xmlns:a16="http://schemas.microsoft.com/office/drawing/2014/main" id="{8C9B9A70-04BF-4014-9C0E-8517A151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每组n＝5，串行，seed2005–2009。自动入碗不等于稳定放置已确认。〔E3〕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70D30ECE-1599-4DAC-875B-E7D980A2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03215-3AC2-4AFD-86D6-C91A64A9A58D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133600"/>
                <a:gridCol w="2514600"/>
                <a:gridCol w="2895600"/>
              </a:tblGrid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模型 / effort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自动入碗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平均决策轮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平均墙钟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 medium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16.0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336.11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Sol medium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18.2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547.09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Sol ultra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17.6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600.63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Luna max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19.6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95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1969.76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更高 effort 没有带来逐 seed 的一致改善，闭环质量仍需验证。">
            <a:extLst xmlns:a="http://schemas.openxmlformats.org/drawingml/2006/main">
              <a:ext uri="{FF2B5EF4-FFF2-40B4-BE49-F238E27FC236}">
                <a16:creationId xmlns:a16="http://schemas.microsoft.com/office/drawing/2014/main" id="{8DF55A8B-9A0E-482B-AB3B-C5286C15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更高 effort 没有带来逐 seed 的一致改善，闭环质量仍需验证。</a:t>
            </a:r>
          </a:p>
        </p:txBody>
      </p:sp>
    </p:spTree>
    <p:extLst>
      <p:ext uri="{BB962C8B-B14F-4D97-AF65-F5344CB8AC3E}">
        <p14:creationId xmlns:p14="http://schemas.microsoft.com/office/powerpoint/2010/main" val="20884029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Pent 120集：长程任务仍有缺口">
            <a:extLst xmlns:a="http://schemas.openxmlformats.org/drawingml/2006/main">
              <a:ext uri="{FF2B5EF4-FFF2-40B4-BE49-F238E27FC236}">
                <a16:creationId xmlns:a16="http://schemas.microsoft.com/office/drawing/2014/main" id="{11CA38F1-9B50-45F7-866E-8A4E075D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RPent 120集：长程任务仍有缺口</a:t>
            </a:r>
          </a:p>
        </p:txBody>
      </p:sp>
      <p:sp>
        <p:nvSpPr>
          <p:cNvPr id="2" name="每柱分母20集。成功按冻结环境terminated判据；含失败与连接等待。〔E3〕">
            <a:extLst xmlns:a="http://schemas.openxmlformats.org/drawingml/2006/main">
              <a:ext uri="{FF2B5EF4-FFF2-40B4-BE49-F238E27FC236}">
                <a16:creationId xmlns:a16="http://schemas.microsoft.com/office/drawing/2014/main" id="{FFE318AC-A7CC-4B01-80F6-887C89E4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每柱分母20集。成功按冻结环境terminated判据；含失败与连接等待。〔E3〕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C84948DA-A274-4A93-9A74-8DF4A7D9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4" name="Astra 50/60（83.3%）　Sol 49/60（81.7%）">
            <a:extLst xmlns:a="http://schemas.openxmlformats.org/drawingml/2006/main">
              <a:ext uri="{FF2B5EF4-FFF2-40B4-BE49-F238E27FC236}">
                <a16:creationId xmlns:a16="http://schemas.microsoft.com/office/drawing/2014/main" id="{118B4915-51C0-4F26-83FD-718A1014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Astra 50/60（83.3%）　Sol 49/60（81.7%）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6B7419A0-47D1-44EF-93B9-062503A68B66}"/>
              </a:ext>
            </a:extLst>
          </p:cNvPr>
          <p:cNvGraphicFramePr/>
          <p:nvPr/>
        </p:nvGraphicFramePr>
        <p:xfrm>
          <a:off xmlns:a="http://schemas.openxmlformats.org/drawingml/2006/main" x="609600" y="18478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405dbb43504975"/>
          </a:graphicData>
        </a:graphic>
      </p:graphicFrame>
    </p:spTree>
    <p:extLst>
      <p:ext uri="{BB962C8B-B14F-4D97-AF65-F5344CB8AC3E}">
        <p14:creationId xmlns:p14="http://schemas.microsoft.com/office/powerpoint/2010/main" val="1883185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Pent 120集：高层等待与动作执行并重">
            <a:extLst xmlns:a="http://schemas.openxmlformats.org/drawingml/2006/main">
              <a:ext uri="{FF2B5EF4-FFF2-40B4-BE49-F238E27FC236}">
                <a16:creationId xmlns:a16="http://schemas.microsoft.com/office/drawing/2014/main" id="{BE794991-38AA-4A4F-B0C9-943CDDEA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RPent 120集：高层等待与动作执行并重</a:t>
            </a:r>
          </a:p>
        </p:txBody>
      </p:sp>
      <p:sp>
        <p:nvSpPr>
          <p:cNvPr id="2" name="分母123408.4 s，约34.28 h累计工作量。五桶互斥；VLA加载5.78 ">
            <a:extLst xmlns:a="http://schemas.openxmlformats.org/drawingml/2006/main">
              <a:ext uri="{FF2B5EF4-FFF2-40B4-BE49-F238E27FC236}">
                <a16:creationId xmlns:a16="http://schemas.microsoft.com/office/drawing/2014/main" id="{221C40EB-68B2-42E1-A6CE-E0F95352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分母123408.4 s，约34.28 h累计工作量。五桶互斥；VLA加载5.78 h另计。〔E3〕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6EFCCDAF-25D6-4888-8728-0E0FBE11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35AA13DF-3E35-4823-885C-8DA36F2CB716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7c14aca8a343ba"/>
          </a:graphicData>
        </a:graphic>
      </p:graphicFrame>
      <p:sp>
        <p:nvSpPr>
          <p:cNvPr id="5" name="动作两桶合计44.3%；SDK非工具43.3%，内部仍是混合时段。">
            <a:extLst xmlns:a="http://schemas.openxmlformats.org/drawingml/2006/main">
              <a:ext uri="{FF2B5EF4-FFF2-40B4-BE49-F238E27FC236}">
                <a16:creationId xmlns:a16="http://schemas.microsoft.com/office/drawing/2014/main" id="{2D5054DA-9EC7-4AC7-B535-115C812D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动作两桶合计44.3%；SDK非工具43.3%，内部仍是混合时段。</a:t>
            </a:r>
          </a:p>
        </p:txBody>
      </p:sp>
    </p:spTree>
    <p:extLst>
      <p:ext uri="{BB962C8B-B14F-4D97-AF65-F5344CB8AC3E}">
        <p14:creationId xmlns:p14="http://schemas.microsoft.com/office/powerpoint/2010/main" val="6013671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独立8集：渲染与π handler 的边界">
            <a:extLst xmlns:a="http://schemas.openxmlformats.org/drawingml/2006/main">
              <a:ext uri="{FF2B5EF4-FFF2-40B4-BE49-F238E27FC236}">
                <a16:creationId xmlns:a16="http://schemas.microsoft.com/office/drawing/2014/main" id="{DFB889D3-BB81-450B-9A8A-AD648BE3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独立8集：渲染与π handler 的边界</a:t>
            </a:r>
          </a:p>
        </p:txBody>
      </p:sp>
      <p:sp>
        <p:nvSpPr>
          <p:cNvPr id="2" name="t0成功3/4，t9成功0/4，总3/8。子阶段嵌套；T*不是真机时间。〔E3〕">
            <a:extLst xmlns:a="http://schemas.openxmlformats.org/drawingml/2006/main">
              <a:ext uri="{FF2B5EF4-FFF2-40B4-BE49-F238E27FC236}">
                <a16:creationId xmlns:a16="http://schemas.microsoft.com/office/drawing/2014/main" id="{DD4BCA4A-567E-4A81-A2D4-5268300F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t0成功3/4，t9成功0/4，总3/8。子阶段嵌套；T*不是真机时间。〔E3〕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9FBF1A92-C28F-45C3-9610-3E1BCE51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4" name="分母10965.30 s；π handler 198.65 s，占1.81%">
            <a:extLst xmlns:a="http://schemas.openxmlformats.org/drawingml/2006/main">
              <a:ext uri="{FF2B5EF4-FFF2-40B4-BE49-F238E27FC236}">
                <a16:creationId xmlns:a16="http://schemas.microsoft.com/office/drawing/2014/main" id="{242F8184-0945-4AF7-8866-7B8B1BA7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分母10965.30 s；π handler 198.65 s，占1.81%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8B915-4AF8-49D7-ADCA-7D490A07A8FB}"/>
              </a:ext>
            </a:extLst>
          </p:cNvPr>
          <p:cNvGraphicFramePr/>
          <p:nvPr/>
        </p:nvGraphicFramePr>
        <p:xfrm>
          <a:off xmlns:a="http://schemas.openxmlformats.org/drawingml/2006/main" x="609600" y="1838325"/>
          <a:ext xmlns:a="http://schemas.openxmlformats.org/drawingml/2006/main" cx="10972800" cy="3067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24200"/>
                <a:gridCol w="2228850"/>
                <a:gridCol w="2076450"/>
                <a:gridCol w="3543300"/>
              </a:tblGrid>
              <a:tr h="61341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嵌套阶段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累计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占episode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解释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1341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原语窗内render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4391.18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40.05%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仿真观测成本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1341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physics step1+2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121.48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1.11%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并非所有控制成本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341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π handler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198.65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1.81%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371次，非纯forward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1341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其中prefix / denoise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96.19 / 86.14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0.88% / 0.79%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属于π，不属于Astra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扣已测render后T*＝6574.12 s；π handler减半仅省T*的1.5">
            <a:extLst xmlns:a="http://schemas.openxmlformats.org/drawingml/2006/main">
              <a:ext uri="{FF2B5EF4-FFF2-40B4-BE49-F238E27FC236}">
                <a16:creationId xmlns:a16="http://schemas.microsoft.com/office/drawing/2014/main" id="{63A85216-D8ED-403D-9EF4-38FD6424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扣已测render后T*＝6574.12 s；π handler减半仅省T*的1.51%。</a:t>
            </a:r>
          </a:p>
        </p:txBody>
      </p:sp>
    </p:spTree>
    <p:extLst>
      <p:ext uri="{BB962C8B-B14F-4D97-AF65-F5344CB8AC3E}">
        <p14:creationId xmlns:p14="http://schemas.microsoft.com/office/powerpoint/2010/main" val="19235290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eepSeek：共同成功两 seed 的档位对照">
            <a:extLst xmlns:a="http://schemas.openxmlformats.org/drawingml/2006/main">
              <a:ext uri="{FF2B5EF4-FFF2-40B4-BE49-F238E27FC236}">
                <a16:creationId xmlns:a16="http://schemas.microsoft.com/office/drawing/2014/main" id="{32650B57-D8A5-4D50-961B-D3A152EF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DeepSeek：共同成功两 seed 的档位对照</a:t>
            </a:r>
          </a:p>
        </p:txBody>
      </p:sp>
      <p:sp>
        <p:nvSpPr>
          <p:cNvPr id="2" name="medium/none各2/4成功。这里只比较共同成功t0，不证明成功率等价。〔E3">
            <a:extLst xmlns:a="http://schemas.openxmlformats.org/drawingml/2006/main">
              <a:ext uri="{FF2B5EF4-FFF2-40B4-BE49-F238E27FC236}">
                <a16:creationId xmlns:a16="http://schemas.microsoft.com/office/drawing/2014/main" id="{2B97D44C-E003-4EA5-AF24-0D26136C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medium/none各2/4成功。这里只比较共同成功t0，不证明成功率等价。〔E3〕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109BD245-76E0-4264-86DF-42A2ED4D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4" name="2326.7 s降至1848.2 s，合计耗时下降20.6%">
            <a:extLst xmlns:a="http://schemas.openxmlformats.org/drawingml/2006/main">
              <a:ext uri="{FF2B5EF4-FFF2-40B4-BE49-F238E27FC236}">
                <a16:creationId xmlns:a16="http://schemas.microsoft.com/office/drawing/2014/main" id="{01BD5404-E102-414A-8716-6E3D6D94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2326.7 s降至1848.2 s，合计耗时下降20.6%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2AD94-20C4-4501-B07C-1EBACBC2F0DA}"/>
              </a:ext>
            </a:extLst>
          </p:cNvPr>
          <p:cNvGraphicFramePr/>
          <p:nvPr/>
        </p:nvGraphicFramePr>
        <p:xfrm>
          <a:off xmlns:a="http://schemas.openxmlformats.org/drawingml/2006/main" x="609600" y="1971675"/>
          <a:ext xmlns:a="http://schemas.openxmlformats.org/drawingml/2006/main" cx="10972800" cy="26955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3124200"/>
                <a:gridCol w="3124200"/>
                <a:gridCol w="2247900"/>
              </a:tblGrid>
              <a:tr h="6738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配对初态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medium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none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耗时下降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738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/ seed0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1497.8 s / 37轮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1043.1 s / 31轮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30.4%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738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/ seed1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828.9 s / 26轮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805.1 s / 26轮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2.9%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38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两seed合计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2326.7 s / 63轮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1848.2 s / 57轮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38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20.6%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6" name="轮次同时从63降至57，无法将全部收益归为同轨迹的thinking缩短。">
            <a:extLst xmlns:a="http://schemas.openxmlformats.org/drawingml/2006/main">
              <a:ext uri="{FF2B5EF4-FFF2-40B4-BE49-F238E27FC236}">
                <a16:creationId xmlns:a16="http://schemas.microsoft.com/office/drawing/2014/main" id="{50776167-9BB5-46E3-9647-47CAE3A1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轮次同时从63降至57，无法将全部收益归为同轨迹的thinking缩短。</a:t>
            </a:r>
          </a:p>
        </p:txBody>
      </p:sp>
    </p:spTree>
    <p:extLst>
      <p:ext uri="{BB962C8B-B14F-4D97-AF65-F5344CB8AC3E}">
        <p14:creationId xmlns:p14="http://schemas.microsoft.com/office/powerpoint/2010/main" val="5184464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T low think：新的阶段性反馈">
            <a:extLst xmlns:a="http://schemas.openxmlformats.org/drawingml/2006/main">
              <a:ext uri="{FF2B5EF4-FFF2-40B4-BE49-F238E27FC236}">
                <a16:creationId xmlns:a16="http://schemas.microsoft.com/office/drawing/2014/main" id="{37AFD9C8-D3E3-4BFE-BCA9-FE1F4BF0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MT low think：新的阶段性反馈</a:t>
            </a:r>
          </a:p>
        </p:txBody>
      </p:sp>
      <p:sp>
        <p:nvSpPr>
          <p:cNvPr id="2" name="E4用户转述MT最新实验。模型、样本量、均值/中位数、时钟与成功质量待补证。">
            <a:extLst xmlns:a="http://schemas.openxmlformats.org/drawingml/2006/main">
              <a:ext uri="{FF2B5EF4-FFF2-40B4-BE49-F238E27FC236}">
                <a16:creationId xmlns:a16="http://schemas.microsoft.com/office/drawing/2014/main" id="{9E0FF0BA-C8AC-4481-9AF0-64296C74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E4用户转述MT最新实验。模型、样本量、均值/中位数、时钟与成功质量待补证。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1F8CB4A8-190E-466D-BA47-45F10FA6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4" name="4.6 s">
            <a:extLst xmlns:a="http://schemas.openxmlformats.org/drawingml/2006/main">
              <a:ext uri="{FF2B5EF4-FFF2-40B4-BE49-F238E27FC236}">
                <a16:creationId xmlns:a16="http://schemas.microsoft.com/office/drawing/2014/main" id="{E79EE4EB-DA6E-4EB1-B4C2-DD62C086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51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1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4.6 s</a:t>
            </a:r>
          </a:p>
        </p:txBody>
      </p:sp>
      <p:sp>
        <p:nvSpPr>
          <p:cNvPr id="5" name="1.4 s">
            <a:extLst xmlns:a="http://schemas.openxmlformats.org/drawingml/2006/main">
              <a:ext uri="{FF2B5EF4-FFF2-40B4-BE49-F238E27FC236}">
                <a16:creationId xmlns:a16="http://schemas.microsoft.com/office/drawing/2014/main" id="{96517A6F-BDA8-43EA-8BE8-7C331048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002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5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1.4 s</a:t>
            </a:r>
          </a:p>
        </p:txBody>
      </p:sp>
      <p:sp>
        <p:nvSpPr>
          <p:cNvPr id="6" name="原 think 指标">
            <a:extLst xmlns:a="http://schemas.openxmlformats.org/drawingml/2006/main">
              <a:ext uri="{FF2B5EF4-FFF2-40B4-BE49-F238E27FC236}">
                <a16:creationId xmlns:a16="http://schemas.microsoft.com/office/drawing/2014/main" id="{5508AEED-ED09-43A1-A463-2BF37FCE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原 think 指标</a:t>
            </a:r>
          </a:p>
        </p:txBody>
      </p:sp>
      <p:sp>
        <p:nvSpPr>
          <p:cNvPr id="7" name="low think 指标">
            <a:extLst xmlns:a="http://schemas.openxmlformats.org/drawingml/2006/main">
              <a:ext uri="{FF2B5EF4-FFF2-40B4-BE49-F238E27FC236}">
                <a16:creationId xmlns:a16="http://schemas.microsoft.com/office/drawing/2014/main" id="{C98CE17A-F4DF-4941-8C87-F6CC806D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384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low think 指标</a:t>
            </a:r>
          </a:p>
        </p:txBody>
      </p:sp>
      <p:sp>
        <p:nvSpPr>
          <p:cNvPr id="8" name="下降69.6%　阶段速度比约3.29×">
            <a:extLst xmlns:a="http://schemas.openxmlformats.org/drawingml/2006/main">
              <a:ext uri="{FF2B5EF4-FFF2-40B4-BE49-F238E27FC236}">
                <a16:creationId xmlns:a16="http://schemas.microsoft.com/office/drawing/2014/main" id="{F3C8E2E5-4BB6-410B-9220-A5E5E3A6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7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下降69.6%　阶段速度比约3.29×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D89A1-DEC0-4E63-84AA-79506D3E0E7E}"/>
              </a:ext>
            </a:extLst>
          </p:cNvPr>
          <p:cNvGraphicFramePr/>
          <p:nvPr/>
        </p:nvGraphicFramePr>
        <p:xfrm>
          <a:off xmlns:a="http://schemas.openxmlformats.org/drawingml/2006/main" x="609600" y="4391025"/>
          <a:ext xmlns:a="http://schemas.openxmlformats.org/drawingml/2006/main" cx="10972800" cy="1390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972300"/>
              </a:tblGrid>
              <a:tr h="4635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条件演算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可推导范围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4635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think占完整请求比例为 f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完整请求降幅约为69.6% × f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635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要推到episode收益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还需同口径均值、固定轮数与关键路径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50598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DeepSeek：三个单局集合分别解释">
            <a:extLst xmlns:a="http://schemas.openxmlformats.org/drawingml/2006/main">
              <a:ext uri="{FF2B5EF4-FFF2-40B4-BE49-F238E27FC236}">
                <a16:creationId xmlns:a16="http://schemas.microsoft.com/office/drawing/2014/main" id="{9858C14E-7371-471D-B00F-3A714FC8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DeepSeek：三个单局集合分别解释</a:t>
            </a:r>
          </a:p>
        </p:txBody>
      </p:sp>
      <p:sp>
        <p:nvSpPr>
          <p:cNvPr id="2" name="不同轨迹、轮数与计时实现。182.5 s与153.1 s之差不能归为一个优化开关。〔">
            <a:extLst xmlns:a="http://schemas.openxmlformats.org/drawingml/2006/main">
              <a:ext uri="{FF2B5EF4-FFF2-40B4-BE49-F238E27FC236}">
                <a16:creationId xmlns:a16="http://schemas.microsoft.com/office/drawing/2014/main" id="{A9D88FB6-CD71-4C5E-9F02-BB2C5C4E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不同轨迹、轮数与计时实现。182.5 s与153.1 s之差不能归为一个优化开关。〔E3〕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52FEA93E-D897-4187-97DC-B80A022B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2FE62-D9AB-4E53-9C97-637EC15ADD36}"/>
              </a:ext>
            </a:extLst>
          </p:cNvPr>
          <p:cNvGraphicFramePr/>
          <p:nvPr/>
        </p:nvGraphicFramePr>
        <p:xfrm>
          <a:off xmlns:a="http://schemas.openxmlformats.org/drawingml/2006/main" x="609600" y="160972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857500"/>
                <a:gridCol w="5257800"/>
              </a:tblGrid>
              <a:tr h="8001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集合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episode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可用证据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8001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真实TTFT v5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15轮 / 182.5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TTFT p50＝1.07 s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客户端流式窗口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8001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Files API 旧局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11轮 / 153.1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部分阶段按token估算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prefill／排队未独立测量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后续审计主例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15请求 / 205.3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LLM 110.534 s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首输出后占80.3%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5" name="瓶颈随集合变化：流式共同成功子集首输出前占70.8%。">
            <a:extLst xmlns:a="http://schemas.openxmlformats.org/drawingml/2006/main">
              <a:ext uri="{FF2B5EF4-FFF2-40B4-BE49-F238E27FC236}">
                <a16:creationId xmlns:a16="http://schemas.microsoft.com/office/drawing/2014/main" id="{FDD5AC8E-CA25-4827-A669-7297523C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瓶颈随集合变化：流式共同成功子集首输出前占70.8%。</a:t>
            </a:r>
          </a:p>
        </p:txBody>
      </p:sp>
    </p:spTree>
    <p:extLst>
      <p:ext uri="{BB962C8B-B14F-4D97-AF65-F5344CB8AC3E}">
        <p14:creationId xmlns:p14="http://schemas.microsoft.com/office/powerpoint/2010/main" val="7416295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单次耗时与决策轮数">
            <a:extLst xmlns:a="http://schemas.openxmlformats.org/drawingml/2006/main">
              <a:ext uri="{FF2B5EF4-FFF2-40B4-BE49-F238E27FC236}">
                <a16:creationId xmlns:a16="http://schemas.microsoft.com/office/drawing/2014/main" id="{6FB8DFFF-5653-425C-9E55-DD620478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单次耗时与决策轮数</a:t>
            </a:r>
          </a:p>
        </p:txBody>
      </p:sp>
      <p:sp>
        <p:nvSpPr>
          <p:cNvPr id="2" name="N为逻辑请求数；平均完整等待聚合该请求全部retry／重连。〔E3分析〕">
            <a:extLst xmlns:a="http://schemas.openxmlformats.org/drawingml/2006/main">
              <a:ext uri="{FF2B5EF4-FFF2-40B4-BE49-F238E27FC236}">
                <a16:creationId xmlns:a16="http://schemas.microsoft.com/office/drawing/2014/main" id="{585A8AE3-5157-4F3B-A125-59A9AB60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N为逻辑请求数；平均完整等待聚合该请求全部retry／重连。〔E3分析〕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0D5ACFCE-40A7-436E-863E-9FC3FB9C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4" name="同步近似：T＝初始化＋N × 平均完整请求等待＋执行与恢复">
            <a:extLst xmlns:a="http://schemas.openxmlformats.org/drawingml/2006/main">
              <a:ext uri="{FF2B5EF4-FFF2-40B4-BE49-F238E27FC236}">
                <a16:creationId xmlns:a16="http://schemas.microsoft.com/office/drawing/2014/main" id="{39FA1084-9159-4814-96A1-08271F20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同步近似：T＝初始化＋N × 平均完整请求等待＋执行与恢复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D8562-08B1-4735-A45B-79711B675E2B}"/>
              </a:ext>
            </a:extLst>
          </p:cNvPr>
          <p:cNvGraphicFramePr/>
          <p:nvPr/>
        </p:nvGraphicFramePr>
        <p:xfrm>
          <a:off xmlns:a="http://schemas.openxmlformats.org/drawingml/2006/main" x="609600" y="2752725"/>
          <a:ext xmlns:a="http://schemas.openxmlformats.org/drawingml/2006/main" cx="1097280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476750"/>
                <a:gridCol w="4019550"/>
              </a:tblGrid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优化杠杆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优先候选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不能省略的验收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缩短单次等待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low think、精简无用输出、精确缓存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同输入质量、完整结果时间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减少高层回合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有界技能、进展判断、局部恢复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成功、无进展动作与恢复代价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降低本地开销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热点算子、chunk调度、观测链路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VLA deadline与设备共置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10337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JEV 的真实角色">
            <a:extLst xmlns:a="http://schemas.openxmlformats.org/drawingml/2006/main">
              <a:ext uri="{FF2B5EF4-FFF2-40B4-BE49-F238E27FC236}">
                <a16:creationId xmlns:a16="http://schemas.microsoft.com/office/drawing/2014/main" id="{7DE2F327-F69D-446F-BDE0-DCAE521D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JEV 的真实角色</a:t>
            </a:r>
          </a:p>
        </p:txBody>
      </p:sp>
      <p:sp>
        <p:nvSpPr>
          <p:cNvPr id="2" name="EmbodiedJev LIBERO v2与GPT-as-Policy LIBERO">
            <a:extLst xmlns:a="http://schemas.openxmlformats.org/drawingml/2006/main">
              <a:ext uri="{FF2B5EF4-FFF2-40B4-BE49-F238E27FC236}">
                <a16:creationId xmlns:a16="http://schemas.microsoft.com/office/drawing/2014/main" id="{CC44BE2B-B55D-4BB0-812D-A7C0AA2E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EmbodiedJev LIBERO v2与GPT-as-Policy LIBERO v2是两条实验链。〔E1接口；E3结果〕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B26F0A45-408F-4A9E-9284-4B18F14E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F4AFE-F86C-429D-B99A-930C7B9BE966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2914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095750"/>
                <a:gridCol w="4305300"/>
              </a:tblGrid>
              <a:tr h="7286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已核实职责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能力边界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7286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EmbodiedJev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开源决策／仿真工作台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集成项目，不是Jev权重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286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TypeSafe Jev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文本state＋有限候选，输出choice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不能直接看图或生成动作块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86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LIBERO v2执行器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按位置／旋转误差数值伺服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当前没有学习型VLA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5" name="上游v1只有少量开发轨迹，尚不支持Jev替代π0.5的结论。">
            <a:extLst xmlns:a="http://schemas.openxmlformats.org/drawingml/2006/main">
              <a:ext uri="{FF2B5EF4-FFF2-40B4-BE49-F238E27FC236}">
                <a16:creationId xmlns:a16="http://schemas.microsoft.com/office/drawing/2014/main" id="{E46A84C8-61AE-4009-ACD9-44C2755A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上游v1只有少量开发轨迹，尚不支持Jev替代π0.5的结论。</a:t>
            </a:r>
          </a:p>
        </p:txBody>
      </p:sp>
    </p:spTree>
    <p:extLst>
      <p:ext uri="{BB962C8B-B14F-4D97-AF65-F5344CB8AC3E}">
        <p14:creationId xmlns:p14="http://schemas.microsoft.com/office/powerpoint/2010/main" val="14997510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stra／Jev＋VLA 的职责分配">
            <a:extLst xmlns:a="http://schemas.openxmlformats.org/drawingml/2006/main">
              <a:ext uri="{FF2B5EF4-FFF2-40B4-BE49-F238E27FC236}">
                <a16:creationId xmlns:a16="http://schemas.microsoft.com/office/drawing/2014/main" id="{525DE45A-8F91-421F-85FE-445CF221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Astra／Jev＋VLA 的职责分配</a:t>
            </a:r>
          </a:p>
        </p:txBody>
      </p:sp>
      <p:sp>
        <p:nvSpPr>
          <p:cNvPr id="2" name="方案待验证。固定VLA后测Jev增量；新增串行selector可能增加等待。〔E3设">
            <a:extLst xmlns:a="http://schemas.openxmlformats.org/drawingml/2006/main">
              <a:ext uri="{FF2B5EF4-FFF2-40B4-BE49-F238E27FC236}">
                <a16:creationId xmlns:a16="http://schemas.microsoft.com/office/drawing/2014/main" id="{33FD6FB5-F140-48DC-A3CF-0F2FCDA2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方案待验证。固定VLA后测Jev增量；新增串行selector可能增加等待。〔E3设计〕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9C57E7B6-1C19-431C-B582-37EDDFB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BF6BA-9959-4D00-A52F-C5EC106213E8}"/>
              </a:ext>
            </a:extLst>
          </p:cNvPr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3505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552950"/>
                <a:gridCol w="3943350"/>
              </a:tblGrid>
              <a:tr h="7010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组件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输入与输出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主要触发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7010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视觉＋状态，产生子目标／恢复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开始、阶段切换、歧义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010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Jev（可选）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文本证据＋候选，选择或升级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需要语义判断的事件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π0.5 VLA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图像＋状态＋指令，生成动作块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有效阶段内闭环执行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010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确定性gate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约束、观测年龄与版本，准入／拒绝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每个动作提交边界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几何计算与边界检查由代码负责，Jev概率不能绕过动作约束。">
            <a:extLst xmlns:a="http://schemas.openxmlformats.org/drawingml/2006/main">
              <a:ext uri="{FF2B5EF4-FFF2-40B4-BE49-F238E27FC236}">
                <a16:creationId xmlns:a16="http://schemas.microsoft.com/office/drawing/2014/main" id="{26EE3C00-1F69-43F6-8B48-2EDE639D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几何计算与边界检查由代码负责，Jev概率不能绕过动作约束。</a:t>
            </a:r>
          </a:p>
        </p:txBody>
      </p:sp>
    </p:spTree>
    <p:extLst>
      <p:ext uri="{BB962C8B-B14F-4D97-AF65-F5344CB8AC3E}">
        <p14:creationId xmlns:p14="http://schemas.microsoft.com/office/powerpoint/2010/main" val="18880816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事件触发与恢复规则">
            <a:extLst xmlns:a="http://schemas.openxmlformats.org/drawingml/2006/main">
              <a:ext uri="{FF2B5EF4-FFF2-40B4-BE49-F238E27FC236}">
                <a16:creationId xmlns:a16="http://schemas.microsoft.com/office/drawing/2014/main" id="{C72E0AC4-A5E1-4938-B40A-BD1B4E0D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事件触发与恢复规则</a:t>
            </a:r>
          </a:p>
        </p:txBody>
      </p:sp>
      <p:sp>
        <p:nvSpPr>
          <p:cNvPr id="2" name="对象进展优先于末端位移；无可靠观测标unknown，不能猜测成功。〔E3设计〕">
            <a:extLst xmlns:a="http://schemas.openxmlformats.org/drawingml/2006/main">
              <a:ext uri="{FF2B5EF4-FFF2-40B4-BE49-F238E27FC236}">
                <a16:creationId xmlns:a16="http://schemas.microsoft.com/office/drawing/2014/main" id="{FF143F59-22C4-44EF-A167-925220AE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对象进展优先于末端位移；无可靠观测标unknown，不能猜测成功。〔E3设计〕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E069D2A1-3400-499D-927D-6D57E69B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D3178-A30E-454A-BEBB-6131B443404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62300"/>
                <a:gridCol w="4019550"/>
                <a:gridCol w="3790950"/>
              </a:tblGrid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事件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本地处理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高层触发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正常推进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继续有限动作块，验证前提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无需逐物理步调用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可恢复偏差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执行预算内局部恢复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恢复耗尽再升级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错对象／停滞／前提失效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停止当前技能并重观测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Astra重新规划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回复过期／版本错配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丢弃回复，保持合法控制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按新状态重新请求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先shadow记录，再放行动作；更新发生在合法chunk边界。">
            <a:extLst xmlns:a="http://schemas.openxmlformats.org/drawingml/2006/main">
              <a:ext uri="{FF2B5EF4-FFF2-40B4-BE49-F238E27FC236}">
                <a16:creationId xmlns:a16="http://schemas.microsoft.com/office/drawing/2014/main" id="{AD630A15-C880-4471-8B55-86BF5A06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先shadow记录，再放行动作；更新发生在合法chunk边界。</a:t>
            </a:r>
          </a:p>
        </p:txBody>
      </p:sp>
    </p:spTree>
    <p:extLst>
      <p:ext uri="{BB962C8B-B14F-4D97-AF65-F5344CB8AC3E}">
        <p14:creationId xmlns:p14="http://schemas.microsoft.com/office/powerpoint/2010/main" val="2698353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相关技术趋势与可借鉴部分">
            <a:extLst xmlns:a="http://schemas.openxmlformats.org/drawingml/2006/main">
              <a:ext uri="{FF2B5EF4-FFF2-40B4-BE49-F238E27FC236}">
                <a16:creationId xmlns:a16="http://schemas.microsoft.com/office/drawing/2014/main" id="{13409818-794B-427B-A992-DD9A50BF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相关技术趋势与可借鉴部分</a:t>
            </a:r>
          </a:p>
        </p:txBody>
      </p:sp>
      <p:sp>
        <p:nvSpPr>
          <p:cNvPr id="2" name="一手文献／官方说明，访问2026-10-14。机制启发不等于本项目已复现。〔E3〕">
            <a:extLst xmlns:a="http://schemas.openxmlformats.org/drawingml/2006/main">
              <a:ext uri="{FF2B5EF4-FFF2-40B4-BE49-F238E27FC236}">
                <a16:creationId xmlns:a16="http://schemas.microsoft.com/office/drawing/2014/main" id="{F933BF4F-6BC4-48B1-8E54-BE38B272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一手文献／官方说明，访问2026-10-14。机制启发不等于本项目已复现。〔E3〕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140B25CE-8859-48E5-9B4E-23764B2B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74880-C957-47AC-8E9D-266EFA776BBC}"/>
              </a:ext>
            </a:extLst>
          </p:cNvPr>
          <p:cNvGraphicFramePr/>
          <p:nvPr/>
        </p:nvGraphicFramePr>
        <p:xfrm>
          <a:off xmlns:a="http://schemas.openxmlformats.org/drawingml/2006/main" x="609600" y="1647825"/>
          <a:ext xmlns:a="http://schemas.openxmlformats.org/drawingml/2006/main" cx="109728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629150"/>
                <a:gridCol w="4057650"/>
              </a:tblGrid>
              <a:tr h="69723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可借鉴机制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当前工程边界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9723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Hi Robot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高层语言子任务，低层执行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事件触发仍需单独验证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9723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Helix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S2/S1异频与异步，训练考虑延迟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7–9Hz / 200Hz不可套云API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723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RTC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执行旧chunk时生成新chunk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处理VLA延迟，不消除云等待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9723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π0.7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语言／视觉子目标与执行条件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新模型升级另设实验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本轮保持π0.5，先验证接口、触发和进展反馈的增量收益。">
            <a:extLst xmlns:a="http://schemas.openxmlformats.org/drawingml/2006/main">
              <a:ext uri="{FF2B5EF4-FFF2-40B4-BE49-F238E27FC236}">
                <a16:creationId xmlns:a16="http://schemas.microsoft.com/office/drawing/2014/main" id="{C04FCAF6-46AE-4109-85EC-32039191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本轮保持π0.5，先验证接口、触发和进展反馈的增量收益。</a:t>
            </a:r>
          </a:p>
        </p:txBody>
      </p:sp>
    </p:spTree>
    <p:extLst>
      <p:ext uri="{BB962C8B-B14F-4D97-AF65-F5344CB8AC3E}">
        <p14:creationId xmlns:p14="http://schemas.microsoft.com/office/powerpoint/2010/main" val="10421950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NPU可控边界与局部实时性">
            <a:extLst xmlns:a="http://schemas.openxmlformats.org/drawingml/2006/main">
              <a:ext uri="{FF2B5EF4-FFF2-40B4-BE49-F238E27FC236}">
                <a16:creationId xmlns:a16="http://schemas.microsoft.com/office/drawing/2014/main" id="{CE3E95F6-3A0A-4C73-9AF4-AB0B3290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NPU可控边界与局部实时性</a:t>
            </a:r>
          </a:p>
        </p:txBody>
      </p:sp>
      <p:sp>
        <p:nvSpPr>
          <p:cNvPr id="2" name="API等待不能归因本机芯片。π探针与在线handler测量条件不同。〔E3〕">
            <a:extLst xmlns:a="http://schemas.openxmlformats.org/drawingml/2006/main">
              <a:ext uri="{FF2B5EF4-FFF2-40B4-BE49-F238E27FC236}">
                <a16:creationId xmlns:a16="http://schemas.microsoft.com/office/drawing/2014/main" id="{A6F72406-F3D4-435B-BC2D-92CFED3D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API等待不能归因本机芯片。π探针与在线handler测量条件不同。〔E3〕</a:t>
            </a:r>
          </a:p>
        </p:txBody>
      </p:sp>
      <p:sp>
        <p:nvSpPr>
          <p:cNvPr id="3" name="17">
            <a:extLst xmlns:a="http://schemas.openxmlformats.org/drawingml/2006/main">
              <a:ext uri="{FF2B5EF4-FFF2-40B4-BE49-F238E27FC236}">
                <a16:creationId xmlns:a16="http://schemas.microsoft.com/office/drawing/2014/main" id="{75DDE7D7-1E53-4A0A-8125-06516513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CB90C-7B59-4577-876E-40B57C1F6616}"/>
              </a:ext>
            </a:extLst>
          </p:cNvPr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38450"/>
                <a:gridCol w="4343400"/>
                <a:gridCol w="3790950"/>
              </a:tblGrid>
              <a:tr h="678656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当前可控部分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验证重点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78656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云端Astra／Jev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输入、连接、调用与触发策略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完整请求延迟，供应商内部未知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78656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本地VLM代理模型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encoder、prefill、decode、缓存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先32次固定请求＋独立profile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本地VLA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算子与chunk调度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deadline、chunk gap、共置干扰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5" name="局部窗口示例：384 ms / chunk ＞ 5步 × 50 ms＝250 ms">
            <a:extLst xmlns:a="http://schemas.openxmlformats.org/drawingml/2006/main">
              <a:ext uri="{FF2B5EF4-FFF2-40B4-BE49-F238E27FC236}">
                <a16:creationId xmlns:a16="http://schemas.microsoft.com/office/drawing/2014/main" id="{B68C8D39-C8BE-4D25-A220-7E0CFDC3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7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局部窗口示例：384 ms / chunk ＞ 5步 × 50 ms＝250 ms</a:t>
            </a:r>
          </a:p>
        </p:txBody>
      </p:sp>
    </p:spTree>
    <p:extLst>
      <p:ext uri="{BB962C8B-B14F-4D97-AF65-F5344CB8AC3E}">
        <p14:creationId xmlns:p14="http://schemas.microsoft.com/office/powerpoint/2010/main" val="1191319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消融矩阵：每次只改变一个关键因素">
            <a:extLst xmlns:a="http://schemas.openxmlformats.org/drawingml/2006/main">
              <a:ext uri="{FF2B5EF4-FFF2-40B4-BE49-F238E27FC236}">
                <a16:creationId xmlns:a16="http://schemas.microsoft.com/office/drawing/2014/main" id="{675BC650-F2AE-46AF-8F65-EACBE102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消融矩阵：每次只改变一个关键因素</a:t>
            </a:r>
          </a:p>
        </p:txBody>
      </p:sp>
      <p:sp>
        <p:nvSpPr>
          <p:cNvPr id="2" name="C/D共享状态、候选和确定性安全约束，仅换规则／Jev选择器。40集为示例筛选预算。">
            <a:extLst xmlns:a="http://schemas.openxmlformats.org/drawingml/2006/main">
              <a:ext uri="{FF2B5EF4-FFF2-40B4-BE49-F238E27FC236}">
                <a16:creationId xmlns:a16="http://schemas.microsoft.com/office/drawing/2014/main" id="{FA93756B-C2A2-47D3-8B85-8BD1EF4F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C/D共享状态、候选和确定性安全约束，仅换规则／Jev选择器。40集为示例筛选预算。〔E3〕</a:t>
            </a:r>
          </a:p>
        </p:txBody>
      </p:sp>
      <p:sp>
        <p:nvSpPr>
          <p:cNvPr id="3" name="18">
            <a:extLst xmlns:a="http://schemas.openxmlformats.org/drawingml/2006/main">
              <a:ext uri="{FF2B5EF4-FFF2-40B4-BE49-F238E27FC236}">
                <a16:creationId xmlns:a16="http://schemas.microsoft.com/office/drawing/2014/main" id="{19830F08-7A71-47FC-AAD1-724D2CA2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0B692-5E27-48FC-BE41-04A8FA98B022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5238750"/>
                <a:gridCol w="4495800"/>
              </a:tblGrid>
              <a:tr h="65532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固定或新增内容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5532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当前Astra＋π0.5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冻结基线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5532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B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A＋有界复合技能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调用粒度是否有效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B＋确定性进展／恢复gate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本地逻辑是否已足够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5532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B＋Jev语义gate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75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Jev是否带来净收益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另做档位对照：固定medium与low／none，完整质量与成本一起比较。">
            <a:extLst xmlns:a="http://schemas.openxmlformats.org/drawingml/2006/main">
              <a:ext uri="{FF2B5EF4-FFF2-40B4-BE49-F238E27FC236}">
                <a16:creationId xmlns:a16="http://schemas.microsoft.com/office/drawing/2014/main" id="{69D71BC3-CCBD-44EC-A2F2-C2DF1564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另做档位对照：固定medium与low／none，完整质量与成本一起比较。</a:t>
            </a:r>
          </a:p>
        </p:txBody>
      </p:sp>
    </p:spTree>
    <p:extLst>
      <p:ext uri="{BB962C8B-B14F-4D97-AF65-F5344CB8AC3E}">
        <p14:creationId xmlns:p14="http://schemas.microsoft.com/office/powerpoint/2010/main" val="2459556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实施顺序与验收">
            <a:extLst xmlns:a="http://schemas.openxmlformats.org/drawingml/2006/main">
              <a:ext uri="{FF2B5EF4-FFF2-40B4-BE49-F238E27FC236}">
                <a16:creationId xmlns:a16="http://schemas.microsoft.com/office/drawing/2014/main" id="{109AFCFF-D4CB-4503-97F2-2675291C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实施顺序与验收</a:t>
            </a:r>
          </a:p>
        </p:txBody>
      </p:sp>
      <p:sp>
        <p:nvSpPr>
          <p:cNvPr id="2" name="失败早停不算提速。所有attempt成本保留，独占与共置分开验证。〔E3设计〕">
            <a:extLst xmlns:a="http://schemas.openxmlformats.org/drawingml/2006/main">
              <a:ext uri="{FF2B5EF4-FFF2-40B4-BE49-F238E27FC236}">
                <a16:creationId xmlns:a16="http://schemas.microsoft.com/office/drawing/2014/main" id="{E9976FB0-FFE8-4FC3-9101-39D8E994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失败早停不算提速。所有attempt成本保留，独占与共置分开验证。〔E3设计〕</a:t>
            </a:r>
          </a:p>
        </p:txBody>
      </p:sp>
      <p:sp>
        <p:nvSpPr>
          <p:cNvPr id="3" name="19">
            <a:extLst xmlns:a="http://schemas.openxmlformats.org/drawingml/2006/main">
              <a:ext uri="{FF2B5EF4-FFF2-40B4-BE49-F238E27FC236}">
                <a16:creationId xmlns:a16="http://schemas.microsoft.com/office/drawing/2014/main" id="{C128198A-B46F-47B0-8590-E35EBEFB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E0C7C-4431-4965-8B51-B2661382F1F6}"/>
              </a:ext>
            </a:extLst>
          </p:cNvPr>
          <p:cNvGraphicFramePr/>
          <p:nvPr/>
        </p:nvGraphicFramePr>
        <p:xfrm>
          <a:off xmlns:a="http://schemas.openxmlformats.org/drawingml/2006/main" x="609600" y="16097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4695825"/>
                <a:gridCol w="5038725"/>
              </a:tblGrid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顺序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验收产物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冻结证据与计时边界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模型／版本、初态、完整结果trace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low think配对与固定状态selector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合法率、决策质量、延迟分布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增量闭环筛选（示例40集）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成功、轮次、恢复、所有attempt成本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7048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本地热点与共置验证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NPU trace、VLA deadline、AoI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晋级条件：质量满足预设门槛，并且完整任务关键路径缩短。">
            <a:extLst xmlns:a="http://schemas.openxmlformats.org/drawingml/2006/main">
              <a:ext uri="{FF2B5EF4-FFF2-40B4-BE49-F238E27FC236}">
                <a16:creationId xmlns:a16="http://schemas.microsoft.com/office/drawing/2014/main" id="{226AB8FE-9F68-4E7C-BD02-79F876B5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晋级条件：质量满足预设门槛，并且完整任务关键路径缩短。</a:t>
            </a:r>
          </a:p>
        </p:txBody>
      </p:sp>
    </p:spTree>
    <p:extLst>
      <p:ext uri="{BB962C8B-B14F-4D97-AF65-F5344CB8AC3E}">
        <p14:creationId xmlns:p14="http://schemas.microsoft.com/office/powerpoint/2010/main" val="211372747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结论与近期决策">
            <a:extLst xmlns:a="http://schemas.openxmlformats.org/drawingml/2006/main">
              <a:ext uri="{FF2B5EF4-FFF2-40B4-BE49-F238E27FC236}">
                <a16:creationId xmlns:a16="http://schemas.microsoft.com/office/drawing/2014/main" id="{F83B1FC6-D51F-44F6-93B0-0410BB5E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结论与近期决策</a:t>
            </a:r>
          </a:p>
        </p:txBody>
      </p:sp>
      <p:sp>
        <p:nvSpPr>
          <p:cNvPr id="2" name="本报告综合既有证据，未新增机器人或NPU性能实跑。">
            <a:extLst xmlns:a="http://schemas.openxmlformats.org/drawingml/2006/main">
              <a:ext uri="{FF2B5EF4-FFF2-40B4-BE49-F238E27FC236}">
                <a16:creationId xmlns:a16="http://schemas.microsoft.com/office/drawing/2014/main" id="{1F686301-AD67-4540-8610-E5844BED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本报告综合既有证据，未新增机器人或NPU性能实跑。</a:t>
            </a:r>
          </a:p>
        </p:txBody>
      </p:sp>
      <p:sp>
        <p:nvSpPr>
          <p:cNvPr id="3" name="20">
            <a:extLst xmlns:a="http://schemas.openxmlformats.org/drawingml/2006/main">
              <a:ext uri="{FF2B5EF4-FFF2-40B4-BE49-F238E27FC236}">
                <a16:creationId xmlns:a16="http://schemas.microsoft.com/office/drawing/2014/main" id="{A5A4908B-37BD-4AA5-938F-80903229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4" name="本周优先">
            <a:extLst xmlns:a="http://schemas.openxmlformats.org/drawingml/2006/main">
              <a:ext uri="{FF2B5EF4-FFF2-40B4-BE49-F238E27FC236}">
                <a16:creationId xmlns:a16="http://schemas.microsoft.com/office/drawing/2014/main" id="{55D1A821-F93F-4704-A01D-60141C57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本周优先</a:t>
            </a:r>
          </a:p>
        </p:txBody>
      </p:sp>
      <p:sp>
        <p:nvSpPr>
          <p:cNvPr id="5" name="补齐MT低思考档位证据，&#10;复测完整请求与任务成功。">
            <a:extLst xmlns:a="http://schemas.openxmlformats.org/drawingml/2006/main">
              <a:ext uri="{FF2B5EF4-FFF2-40B4-BE49-F238E27FC236}">
                <a16:creationId xmlns:a16="http://schemas.microsoft.com/office/drawing/2014/main" id="{65A5F78E-3871-486E-96ED-4A62592F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85925"/>
            <a:ext cx="8248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补齐MT低思考档位证据，</a:t>
            </a:r>
          </a:p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复测完整请求与任务成功。</a:t>
            </a:r>
          </a:p>
        </p:txBody>
      </p:sp>
      <p:sp>
        <p:nvSpPr>
          <p:cNvPr id="6" name="架构方向">
            <a:extLst xmlns:a="http://schemas.openxmlformats.org/drawingml/2006/main">
              <a:ext uri="{FF2B5EF4-FFF2-40B4-BE49-F238E27FC236}">
                <a16:creationId xmlns:a16="http://schemas.microsoft.com/office/drawing/2014/main" id="{97FABD7C-0B4F-4020-BF0A-8E1EBF14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架构方向</a:t>
            </a:r>
          </a:p>
        </p:txBody>
      </p:sp>
      <p:sp>
        <p:nvSpPr>
          <p:cNvPr id="7" name="固定Astra＋π0.5，先验证有界技能，&#10;再判断Jev是否值得新增调用。">
            <a:extLst xmlns:a="http://schemas.openxmlformats.org/drawingml/2006/main">
              <a:ext uri="{FF2B5EF4-FFF2-40B4-BE49-F238E27FC236}">
                <a16:creationId xmlns:a16="http://schemas.microsoft.com/office/drawing/2014/main" id="{E4C05085-0311-4520-B5DA-5C827F2C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86075"/>
            <a:ext cx="8248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固定Astra＋π0.5，先验证有界技能，</a:t>
            </a:r>
          </a:p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再判断Jev是否值得新增调用。</a:t>
            </a:r>
          </a:p>
        </p:txBody>
      </p:sp>
      <p:sp>
        <p:nvSpPr>
          <p:cNvPr id="8" name="硬件方向">
            <a:extLst xmlns:a="http://schemas.openxmlformats.org/drawingml/2006/main">
              <a:ext uri="{FF2B5EF4-FFF2-40B4-BE49-F238E27FC236}">
                <a16:creationId xmlns:a16="http://schemas.microsoft.com/office/drawing/2014/main" id="{404E7470-AFA0-41C7-94FF-607A3EFC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硬件方向</a:t>
            </a:r>
          </a:p>
        </p:txBody>
      </p:sp>
      <p:sp>
        <p:nvSpPr>
          <p:cNvPr id="9" name="从真实shape与关键路径定位热点，&#10;兼顾整集效率和VLA局部实时性。">
            <a:extLst xmlns:a="http://schemas.openxmlformats.org/drawingml/2006/main">
              <a:ext uri="{FF2B5EF4-FFF2-40B4-BE49-F238E27FC236}">
                <a16:creationId xmlns:a16="http://schemas.microsoft.com/office/drawing/2014/main" id="{4E5BED84-A079-4A2B-A270-EB16A073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86225"/>
            <a:ext cx="8248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从真实shape与关键路径定位热点，</a:t>
            </a:r>
          </a:p>
          <a:p xmlns:a="http://schemas.openxmlformats.org/drawingml/2006/main">
            <a:pPr algn="l">
              <a:def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兼顾整集效率和VLA局部实时性。</a:t>
            </a:r>
          </a:p>
        </p:txBody>
      </p:sp>
    </p:spTree>
    <p:extLst>
      <p:ext uri="{BB962C8B-B14F-4D97-AF65-F5344CB8AC3E}">
        <p14:creationId xmlns:p14="http://schemas.microsoft.com/office/powerpoint/2010/main" val="1677018430"/>
      </p:ext>
    </p:extLst>
  </p:cSld>
</p:sld>
</file>

<file path=ppt/theme/theme1.xml><?xml version="1.0" encoding="utf-8"?>
<a:theme xmlns:a="http://schemas.openxmlformats.org/drawingml/2006/main" name="ChatGPT">
  <a:themeElements>
    <a:clrScheme name="Evidence Review">
      <a:dk1>
        <a:srgbClr val="000000"/>
      </a:dk1>
      <a:lt1>
        <a:srgbClr val="FFFFFF"/>
      </a:lt1>
      <a:dk2>
        <a:srgbClr val="123451"/>
      </a:dk2>
      <a:lt2>
        <a:srgbClr val="EFF6F8"/>
      </a:lt2>
      <a:accent1>
        <a:srgbClr val="123451"/>
      </a:accent1>
      <a:accent2>
        <a:srgbClr val="078B98"/>
      </a:accent2>
      <a:accent3>
        <a:srgbClr val="4D86AD"/>
      </a:accent3>
      <a:accent4>
        <a:srgbClr val="9AB6C9"/>
      </a:accent4>
      <a:accent5>
        <a:srgbClr val="B6C8D4"/>
      </a:accent5>
      <a:accent6>
        <a:srgbClr val="718CA1"/>
      </a:accent6>
      <a:hlink>
        <a:srgbClr val="078B98"/>
      </a:hlink>
      <a:folHlink>
        <a:srgbClr val="4D86A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Evidence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2026-10-14T08:26:46.9740000Z</dcterms:created>
  <dcterms:modified xsi:type="dcterms:W3CDTF">2026-10-14T08:26:46.9740000Z</dcterms:modified>
</coreProperties>
</file>